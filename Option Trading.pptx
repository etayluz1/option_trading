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8" r:id="rId3"/>
    <p:sldId id="259" r:id="rId4"/>
    <p:sldId id="261" r:id="rId5"/>
    <p:sldId id="262" r:id="rId6"/>
    <p:sldId id="263" r:id="rId7"/>
    <p:sldId id="260" r:id="rId8"/>
    <p:sldId id="264" r:id="rId9"/>
    <p:sldId id="274" r:id="rId10"/>
    <p:sldId id="265" r:id="rId11"/>
    <p:sldId id="266" r:id="rId12"/>
    <p:sldId id="267" r:id="rId13"/>
    <p:sldId id="269" r:id="rId14"/>
    <p:sldId id="270" r:id="rId15"/>
    <p:sldId id="271" r:id="rId16"/>
    <p:sldId id="272" r:id="rId17"/>
    <p:sldId id="273" r:id="rId18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85" autoAdjust="0"/>
    <p:restoredTop sz="94660"/>
  </p:normalViewPr>
  <p:slideViewPr>
    <p:cSldViewPr snapToGrid="0">
      <p:cViewPr varScale="1">
        <p:scale>
          <a:sx n="110" d="100"/>
          <a:sy n="110" d="100"/>
        </p:scale>
        <p:origin x="876" y="13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" Type="http://schemas.openxmlformats.org/officeDocument/2006/relationships/slide" Target="slides/slide2.xml"/><Relationship Id="rId21" Type="http://schemas.openxmlformats.org/officeDocument/2006/relationships/theme" Target="theme/theme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tableStyles" Target="tableStyle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76AA257-7866-6B9F-5F1D-8AF8018C0E53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BB7FB1CA-68E2-924D-D323-1B39F22B5760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D6A9BEB-4423-FDFC-A767-37D21C2ABBC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02E63CE-73C2-416C-817A-F7BDE0DDA196}" type="datetimeFigureOut">
              <a:rPr lang="en-US" smtClean="0"/>
              <a:t>11/30/2025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159058C-17B6-2410-5C84-D2683A0399D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E17A418-D385-B1BC-8F22-3209D891040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033B7BF-648F-43E1-91A4-6D824283D4B6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4965138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DA9B507-3775-0E6F-F57A-F5105294141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DDFEAFD-634B-6EDC-CC07-7B1CFF87F5E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28B69CC-1DC6-E9AC-020A-F4FCCED670E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02E63CE-73C2-416C-817A-F7BDE0DDA196}" type="datetimeFigureOut">
              <a:rPr lang="en-US" smtClean="0"/>
              <a:t>11/30/2025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B4EC203-0D23-ADD6-7FCB-8EAF6D4DC65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6B74294-19EA-19A6-8476-0583EB1888F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033B7BF-648F-43E1-91A4-6D824283D4B6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65971183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66410E0-0C31-19BA-D2C5-0BB59F9D896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429CF94-188F-8905-B668-AC21CCF6CE1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EB79E19-7D05-2ADA-FC61-6FEEE3D1267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02E63CE-73C2-416C-817A-F7BDE0DDA196}" type="datetimeFigureOut">
              <a:rPr lang="en-US" smtClean="0"/>
              <a:t>11/30/2025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32679CB-12A6-2F99-3CD6-CF0FD108A6A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50B378F-0C0F-4B7F-504E-E4BFC5B4257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033B7BF-648F-43E1-91A4-6D824283D4B6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57945405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9B7C7B0-5EBC-AE21-93B9-269A75A6AB3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E84CBD9-681F-772F-48DF-46FF4A26AA0D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0B61375A-5419-B7BA-1839-5E5F4898F3D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0B29C02E-1E05-8A27-32B1-25959A0BD21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02E63CE-73C2-416C-817A-F7BDE0DDA196}" type="datetimeFigureOut">
              <a:rPr lang="en-US" smtClean="0"/>
              <a:t>11/30/2025</a:t>
            </a:fld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A0C9A96E-AD1F-8237-A3AE-3247764D528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60FC824-6C59-181A-8AB5-E0C8C125FA6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033B7BF-648F-43E1-91A4-6D824283D4B6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30329417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5CC71FF-2CB5-DD92-26CF-389231A7AF7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2D54E167-1BDF-6386-1C31-317E51D1ECB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AA19F69C-5495-492B-EFF5-D138BAD5494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7BE12ED8-C8BC-12C3-FBE1-944343054FE2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3A07DA03-7D10-62A9-9E7B-FC93E31D4BD1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78779038-BA2E-8B1F-B7DE-CFAA7DAA2CA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02E63CE-73C2-416C-817A-F7BDE0DDA196}" type="datetimeFigureOut">
              <a:rPr lang="en-US" smtClean="0"/>
              <a:t>11/30/2025</a:t>
            </a:fld>
            <a:endParaRPr lang="en-US" dirty="0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A34D58CC-350F-E71D-AE79-5836DF89924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3A477D63-3A6F-49FB-4BC7-E7C511AC173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033B7BF-648F-43E1-91A4-6D824283D4B6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55508024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4AD86C6-3169-7451-C605-BEF883E5A4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6A127D0A-E152-A69B-A49E-E9E538FF82C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02E63CE-73C2-416C-817A-F7BDE0DDA196}" type="datetimeFigureOut">
              <a:rPr lang="en-US" smtClean="0"/>
              <a:t>11/30/2025</a:t>
            </a:fld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228FF54D-7554-4528-7F03-4FA10056B03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E4EBC2B8-9C55-C2D0-3F06-E79964C95A4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033B7BF-648F-43E1-91A4-6D824283D4B6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88760519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611B8AEF-AA86-04D9-6DB8-C137A2FB09A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02E63CE-73C2-416C-817A-F7BDE0DDA196}" type="datetimeFigureOut">
              <a:rPr lang="en-US" smtClean="0"/>
              <a:t>11/30/2025</a:t>
            </a:fld>
            <a:endParaRPr lang="en-US" dirty="0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3126D707-49A7-D9A4-DE7F-941A9A4E285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FA10079-F432-FD79-6EC7-87A99569426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033B7BF-648F-43E1-91A4-6D824283D4B6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34731253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30303A6-7EE1-A77C-0078-C638E1BC7B7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02E62DF-31C9-CF54-EE4B-6270AD3EB75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07DFFF39-5684-ED30-882C-0426FB180D96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CEDC47FA-8619-3E45-F97C-CDDE64403C8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02E63CE-73C2-416C-817A-F7BDE0DDA196}" type="datetimeFigureOut">
              <a:rPr lang="en-US" smtClean="0"/>
              <a:t>11/30/2025</a:t>
            </a:fld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2D5306F7-CBFF-853A-958F-752731BC9FF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3B3BD023-3D9C-ACC1-EF56-337A88BCAE0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033B7BF-648F-43E1-91A4-6D824283D4B6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99312116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E55088C-B075-919B-AD67-6CB4AF7F071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114B9D64-89D3-50DD-3BAD-627D5DAA98B0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91ECF880-FB26-AE6E-58DA-4C00A98FFCF7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DAD28B1C-E410-91BC-2255-845136FDE1B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02E63CE-73C2-416C-817A-F7BDE0DDA196}" type="datetimeFigureOut">
              <a:rPr lang="en-US" smtClean="0"/>
              <a:t>11/30/2025</a:t>
            </a:fld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24E5261A-C281-8A8C-C0F7-02821E07858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7B36BA49-2C33-4B7C-B5E9-30414904E8C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033B7BF-648F-43E1-91A4-6D824283D4B6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914103327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F855F7A-371D-66A6-9664-A98710B3509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EEA3B76A-4DA8-6999-322C-0B60111643FC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59BB919-F4F3-58B9-3356-E30E5C6E0E1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02E63CE-73C2-416C-817A-F7BDE0DDA196}" type="datetimeFigureOut">
              <a:rPr lang="en-US" smtClean="0"/>
              <a:t>11/30/2025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F47C365-4010-E0CC-4CBC-0DFC5EE8C3C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C4E4801-F17D-0504-ACF7-701672AEDD0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033B7BF-648F-43E1-91A4-6D824283D4B6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43700136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9E84323F-A354-1F48-F46B-FD169267A34F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1F6341C2-381C-BC08-5429-C0BBB5B49D19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A16AB5E-8821-639E-17C6-760341435E5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02E63CE-73C2-416C-817A-F7BDE0DDA196}" type="datetimeFigureOut">
              <a:rPr lang="en-US" smtClean="0"/>
              <a:t>11/30/2025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2905E6D-B116-865C-BAB4-85D9E3A7120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1D98F6B-D983-229C-116F-34682552CE2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033B7BF-648F-43E1-91A4-6D824283D4B6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4013643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BCDE7093-2D26-9CBC-F791-5BECAE95F15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67CEB8E-7E6C-DFBB-55D2-EFE2D42029D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CBD1BCF-D9FB-B5F9-F35A-844E5850E6D4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802E63CE-73C2-416C-817A-F7BDE0DDA196}" type="datetimeFigureOut">
              <a:rPr lang="en-US" smtClean="0"/>
              <a:t>11/30/2025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6426835-8A8E-FE36-3B50-F52CB6034C7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5471DB2-9BDE-24DF-21EC-63341581AAC7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8033B7BF-648F-43E1-91A4-6D824283D4B6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28839148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emf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emf"/><Relationship Id="rId2" Type="http://schemas.openxmlformats.org/officeDocument/2006/relationships/hyperlink" Target="mailto:yuda.luz@gmail.com" TargetMode="Externa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6.png"/><Relationship Id="rId4" Type="http://schemas.openxmlformats.org/officeDocument/2006/relationships/image" Target="../media/image5.png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A8DF4AB-4C13-D905-C16D-40929AD2B001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/>
              <a:t>Option Trading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7C5188DE-83D2-C9CA-48AE-5764ACB3EFB4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>
            <a:normAutofit lnSpcReduction="10000"/>
          </a:bodyPr>
          <a:lstStyle/>
          <a:p>
            <a:r>
              <a:rPr lang="en-US" dirty="0"/>
              <a:t>Simulate Naked Put</a:t>
            </a:r>
          </a:p>
          <a:p>
            <a:r>
              <a:rPr lang="en-US" dirty="0"/>
              <a:t>11-24-2025</a:t>
            </a:r>
          </a:p>
          <a:p>
            <a:endParaRPr lang="en-US" dirty="0"/>
          </a:p>
          <a:p>
            <a:r>
              <a:rPr lang="en-US" dirty="0"/>
              <a:t>Microsoft Visual Code studio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7789D590-CEB4-193C-2231-ED75A980492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2607" y="145557"/>
            <a:ext cx="1371393" cy="100074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5808128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2104D6C-AC54-EC10-F95C-E0E12A69E59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34154" y="171245"/>
            <a:ext cx="10819646" cy="1325563"/>
          </a:xfrm>
        </p:spPr>
        <p:txBody>
          <a:bodyPr/>
          <a:lstStyle/>
          <a:p>
            <a:r>
              <a:rPr lang="en-US" b="1" dirty="0">
                <a:solidFill>
                  <a:srgbClr val="002060"/>
                </a:solidFill>
              </a:rPr>
              <a:t>ORATS Data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CDD743F-8394-7671-CEED-F2B2D440A1D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60839" y="1475715"/>
            <a:ext cx="5397165" cy="4943192"/>
          </a:xfrm>
        </p:spPr>
        <p:txBody>
          <a:bodyPr>
            <a:normAutofit/>
          </a:bodyPr>
          <a:lstStyle/>
          <a:p>
            <a:r>
              <a:rPr lang="en-US" sz="2400" noProof="1"/>
              <a:t>Etay</a:t>
            </a:r>
            <a:r>
              <a:rPr lang="en-US" sz="2400" dirty="0"/>
              <a:t> helped me to download 15 minutes before the close daily data</a:t>
            </a:r>
          </a:p>
          <a:p>
            <a:r>
              <a:rPr lang="en-US" sz="2400" dirty="0"/>
              <a:t>Data includes Stocks and Options</a:t>
            </a:r>
          </a:p>
          <a:p>
            <a:r>
              <a:rPr lang="en-US" sz="2400" dirty="0"/>
              <a:t>$599 license for 10 years</a:t>
            </a:r>
          </a:p>
          <a:p>
            <a:r>
              <a:rPr lang="en-US" sz="2400" dirty="0"/>
              <a:t>Hosted FTP: orats.hostedftp.com</a:t>
            </a:r>
          </a:p>
          <a:p>
            <a:r>
              <a:rPr lang="en-US" sz="2400" dirty="0"/>
              <a:t>User: </a:t>
            </a:r>
            <a:r>
              <a:rPr lang="en-US" sz="2400" dirty="0">
                <a:hlinkClick r:id="rId2"/>
              </a:rPr>
              <a:t>yuda.luz@gmail.com</a:t>
            </a:r>
            <a:endParaRPr lang="en-US" sz="2400" dirty="0"/>
          </a:p>
          <a:p>
            <a:r>
              <a:rPr lang="en-US" sz="2400" dirty="0"/>
              <a:t>Password: HM1</a:t>
            </a: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981DD5D2-5414-1092-14DE-328E3E4720A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55878" y="365125"/>
            <a:ext cx="5875283" cy="587528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57184346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84FFBEF-F5CE-E125-D299-3607D93C592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2353F54-74D7-7C5D-6B13-4B6AFEDE547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81069" y="171246"/>
            <a:ext cx="11172731" cy="453444"/>
          </a:xfrm>
        </p:spPr>
        <p:txBody>
          <a:bodyPr>
            <a:normAutofit fontScale="90000"/>
          </a:bodyPr>
          <a:lstStyle/>
          <a:p>
            <a:r>
              <a:rPr lang="en-US" b="1" dirty="0">
                <a:solidFill>
                  <a:srgbClr val="002060"/>
                </a:solidFill>
              </a:rPr>
              <a:t>ORATS Data is downloaded as Zip: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59BCF44-42CF-520D-2CBF-DF0C84ADCC0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81069" y="742384"/>
            <a:ext cx="11508247" cy="5794218"/>
          </a:xfrm>
        </p:spPr>
        <p:txBody>
          <a:bodyPr wrap="none">
            <a:noAutofit/>
          </a:bodyPr>
          <a:lstStyle/>
          <a:p>
            <a:pPr marL="0" indent="0">
              <a:buNone/>
            </a:pPr>
            <a:br>
              <a:rPr lang="en-US" sz="600" dirty="0"/>
            </a:br>
            <a:r>
              <a:rPr lang="en-US" sz="600" dirty="0"/>
              <a:t>ticker,cOpra,pOpra,stkPx,expirDate,yte,strike,cVolu,cOi,pVolu,pOi,cBidPx,cValue,cAskPx,pBidPx,pValue,pAskPx,cBidIv,cMidIv,cAskIv,smoothSmvVol,pBidIv,pMidIv,pAskIv,iRate,divRate,residualRateData,delta,gamma,theta,vega,rho,phi,driftlessTheta,extVol,extCTheo,extPTheo,spot_px,trade_date</a:t>
            </a:r>
          </a:p>
          <a:p>
            <a:pPr marL="0" indent="0">
              <a:buNone/>
            </a:pPr>
            <a:r>
              <a:rPr lang="en-US" sz="600" dirty="0"/>
              <a:t>A,A250221C00065000,A250221P00065000,152.46,2/21/2025,0.07945,65.00,0,0,0,0,85.80,87.68,88.70,0.00,0.00,1.30,0.000000,0.91716,1.834321,0.292869,0.000000,0.96525,1.930494,0.0436,0,0.000000,1.00000000,-0.00000000,0.00000000,0.00001000,0.05148244,-0.12117320,-0.00000027,0.40124231576919556,87.82001495361328,6.654162719896511e-16,0.00,1/23/2025</a:t>
            </a:r>
          </a:p>
          <a:p>
            <a:pPr marL="0" indent="0">
              <a:buNone/>
            </a:pPr>
            <a:r>
              <a:rPr lang="en-US" sz="600" dirty="0"/>
              <a:t>A,A250221C00070000,A250221P00070000,152.46,2/21/2025,0.07945,70.00,0,0,0,0,80.70,82.70,84.10,0.00,0.00,1.20,0.000000,0.90560,1.811199,0.292869,0.000000,0.87603,1.752053,0.0436,0,0.000000,1.00000000,-0.00000000,-0.00000000,0.00001000,0.05544263,-0.12117320,-0.00000029,0.4001282751560211,82.84735107421875,0.00000000000025600544904455513,0.00,1/23/2025</a:t>
            </a:r>
          </a:p>
          <a:p>
            <a:pPr marL="0" indent="0">
              <a:buNone/>
            </a:pPr>
            <a:r>
              <a:rPr lang="en-US" sz="600" dirty="0"/>
              <a:t>A,A250221C00075000,A250221P00075000,152.46,2/21/2025,0.07945,75.00,0,0,0,0,75.70,77.72,79.00,0.00,0.00,1.25,0.000000,0.81940,1.638797,0.292440,0.000000,0.81489,1.629770,0.0436,0,0.000000,1.00000000,-0.00000000,-0.00000000,0.00001000,0.05940282,-0.12117320,-0.00000031,0.3969932794570923,77.87393188476562,0.000000000029689029013013624,0.00,1/23/2025</a:t>
            </a:r>
          </a:p>
          <a:p>
            <a:pPr marL="0" indent="0">
              <a:buNone/>
            </a:pPr>
            <a:r>
              <a:rPr lang="en-US" sz="600" dirty="0"/>
              <a:t>A,A250221C00080000,A250221P00080000,152.46,2/21/2025,0.07945,80.00,0,0,0,3,70.70,72.74,74.00,0.00,0.00,1.25,0.000000,0.75300,1.506010,0.292074,0.000000,0.75103,1.502064,0.0436,0,0.000000,1.00000000,-0.00000000,-0.00000000,0.00001000,0.06336300,-0.12117321,-0.00000033,0.3943053185939789,72.90052795410156,0.0000000014965503281061387,0.00,1/23/2025</a:t>
            </a:r>
          </a:p>
          <a:p>
            <a:pPr marL="0" indent="0">
              <a:buNone/>
            </a:pPr>
            <a:r>
              <a:rPr lang="en-US" sz="600" dirty="0"/>
              <a:t>A,A250221C00085000,A250221P00085000,152.46,2/21/2025,0.07945,85.00,0,0,0,1,65.80,67.75,69.10,0.00,0.00,1.30,0.000000,0.70287,1.405744,0.291546,0.000000,0.69744,1.394882,0.0436,0,0.000000,1.00000000,0.00000000,-0.00000000,0.00001000,0.06732319,-0.12117321,-0.00000035,0.3904106914997101,67.9265365600586,0.00000004237214312752258,0.00,1/23/2025</a:t>
            </a:r>
          </a:p>
          <a:p>
            <a:pPr marL="0" indent="0">
              <a:buNone/>
            </a:pPr>
            <a:r>
              <a:rPr lang="en-US" sz="600" dirty="0"/>
              <a:t>A,A250221C00090000,A250221P00090000,152.46,2/21/2025,0.07945,90.00,0,0,0,3,60.80,62.77,64.00,0.00,0.00,0.30,0.000000,0.63172,1.263434,0.294502,0.000000,0.48163,0.963251,0.0436,0,0.000000,1.00000000,0.00000000,-0.00000000,0.00001000,0.07128338,-0.12117320,-0.00000037,0.41193652153015137,62.96293640136719,0.000004160307071288116,0.00,1/23/2025</a:t>
            </a:r>
          </a:p>
          <a:p>
            <a:pPr marL="0" indent="0">
              <a:buNone/>
            </a:pPr>
            <a:r>
              <a:rPr lang="en-US" sz="600" dirty="0"/>
              <a:t>A,A250221C00095000,A250221P00095000,152.46,2/21/2025,0.07945,95.00,0,1,0,3,55.80,57.79,58.90,0.00,0.00,0.30,0.000000,0.56462,1.129249,0.294299,0.000000,0.43837,0.876733,0.0436,0,0.000000,1.00000000,0.00000000,-0.00000000,0.00001000,0.07524356,-0.12117320,-0.00000039,0.4104810059070587,57.990272521972656,0.00004056164834764786,0.00,1/23/2025</a:t>
            </a:r>
          </a:p>
          <a:p>
            <a:pPr marL="0" indent="0">
              <a:buNone/>
            </a:pPr>
            <a:r>
              <a:rPr lang="en-US" sz="600" dirty="0"/>
              <a:t>A,A250221C00100000,A250221P00100000,152.46,2/21/2025,0.07945,100.00,0,0,0,3,50.80,52.81,54.00,0.00,0.00,1.30,0.000000,0.52224,1.044490,0.290065,0.000000,0.53325,1.066507,0.0436,0,0.000000,1.00000000,0.00000002,-0.00000009,0.00001011,0.07920375,-0.12117320,-0.00000046,0.3827526867389679,53.003841400146484,0.0000912984469323419,0.00,1/23/2025</a:t>
            </a:r>
          </a:p>
          <a:p>
            <a:pPr marL="0" indent="0">
              <a:buNone/>
            </a:pPr>
            <a:r>
              <a:rPr lang="en-US" sz="600" dirty="0"/>
              <a:t>A,A250221C00105000,A250221P00105000,152.46,2/21/2025,0.07945,105.00,0,6,0,3,45.80,47.82,49.40,0.00,0.00,1.30,0.000000,0.50765,1.015293,0.289354,0.000000,0.48273,0.965456,0.0436,0,0.000000,0.99999900,0.00000042,-0.00000271,0.00001273,0.08316381,-0.12117308,-0.00000154,0.38003209233283997,48.0289192199707,0.0005974145606160164,0.00,1/23/2025</a:t>
            </a:r>
          </a:p>
          <a:p>
            <a:pPr marL="0" indent="0">
              <a:buNone/>
            </a:pPr>
            <a:r>
              <a:rPr lang="en-US" sz="600" dirty="0"/>
              <a:t>A,A250221C00110000,A250221P00110000,152.46,2/21/2025,0.07945,110.00,0,1,0,115,40.90,42.84,44.40,0.00,0.00,0.35,0.000000,0.45620,0.912395,0.292865,0.000000,0.32757,0.655146,0.0436,0,0.000000,0.99997800,0.00000733,-0.00006261,0.00005290,0.08712146,-0.12117059,-0.00002046,0.40010157227516174,43.074974060058594,0.0063209389336407185,0.00,1/23/2025</a:t>
            </a:r>
          </a:p>
          <a:p>
            <a:pPr marL="0" indent="0">
              <a:buNone/>
            </a:pPr>
            <a:r>
              <a:rPr lang="en-US" sz="600" dirty="0"/>
              <a:t>A,A250221C00115000,A250221P00115000,152.46,2/21/2025,0.07945,115.00,0,25,0,375,36.30,37.86,39.40,0.00,0.00,1.35,0.000000,0.40674,0.813480,0.287596,0.000000,0.39215,0.784306,0.0436,0,0.000000,0.99984200,0.00004886,-0.00049644,0.00032057,0.09106480,-0.12115408,-0.00012915,0.3732060492038727,38.087825775146484,0.012611806392669678,0.00,1/23/2025</a:t>
            </a:r>
          </a:p>
          <a:p>
            <a:pPr marL="0" indent="0">
              <a:buNone/>
            </a:pPr>
            <a:r>
              <a:rPr lang="en-US" sz="600" dirty="0"/>
              <a:t>A,A250221C00120000,A250221P00120000,152.46,2/21/2025,0.07945,120.00,0,14,0,61,31.10,32.88,33.50,0.00,0.00,0.35,0.000000,0.28612,0.572232,0.292256,0.000000,0.25339,0.506787,0.0436,0,0.000000,0.99870100,0.00033974,-0.00477107,0.00168297,0.09488333,-0.12101582,-0.00092450,0.3956475257873535,33.19465637207031,0.07345303893089294,0.00,1/23/2025</a:t>
            </a:r>
          </a:p>
          <a:p>
            <a:pPr marL="0" indent="0">
              <a:buNone/>
            </a:pPr>
            <a:r>
              <a:rPr lang="en-US" sz="600" dirty="0"/>
              <a:t>A,A250221C00125000,A250221P00125000,152.46,2/21/2025,0.07945,125.00,1,37,3,320,26.80,27.92,28.40,0.00,0.03,0.30,0.000000,0.23571,0.471427,0.292125,0.000000,0.21110,0.422197,0.0436,0,0.000000,0.99394500,0.00136504,-0.01847627,0.00693081,0.09825091,-0.12043951,-0.00370970,0.394680917263031,28.34673500061035,0.1992729902267456,0.00,1/23/2025</a:t>
            </a:r>
          </a:p>
          <a:p>
            <a:pPr marL="0" indent="0">
              <a:buNone/>
            </a:pPr>
            <a:r>
              <a:rPr lang="en-US" sz="600" dirty="0"/>
              <a:t>A,A250221C00130000,A250221P00130000,152.46,2/21/2025,0.07945,130.00,0,88,9,177,22.50,23.27,23.80,0.15,0.29,0.35,0.000000,0.21045,0.420896,0.292273,0.313982,0.34122,0.368448,0.0436,0,-0.025872,0.97973200,0.00390136,-0.03461343,0.02072033,0.10022038,-0.11871724,-0.01061289,0.39576831459999084,23.65744400024414,0.48340120911598206,0.00,1/23/2025</a:t>
            </a:r>
          </a:p>
          <a:p>
            <a:pPr marL="0" indent="0">
              <a:buNone/>
            </a:pPr>
            <a:r>
              <a:rPr lang="en-US" sz="600" dirty="0"/>
              <a:t>A,A250221C00135000,A250221P00135000,152.46,2/21/2025,0.07945,135.00,0,234,3,260,17.60,18.47,19.30,0.40,0.54,0.70,0.000000,0.20391,0.407816,0.287705,0.308564,0.33186,0.355156,0.0436,0,-0.023845,0.94635600,0.00884754,-0.04656699,0.04393973,0.09999172,-0.11467300,-0.02331993,0.373634397983551,19.01883888244629,0.8413873910903931,0.00,1/23/2025</a:t>
            </a:r>
          </a:p>
          <a:p>
            <a:pPr marL="0" indent="0">
              <a:buNone/>
            </a:pPr>
            <a:r>
              <a:rPr lang="en-US" sz="600" dirty="0"/>
              <a:t>A,A250221C00140000,A250221P00140000,152.46,2/21/2025,0.07945,140.00,3,335,9,886,13.50,13.93,14.50,0.70,0.90,1.00,0.224471,0.28337,0.342263,0.282641,0.277051,0.29348,0.309900,0.0436,0,-0.021544,0.88025600,0.01649753,-0.06343182,0.08824737,0.09559539,-0.10666346,-0.04196500,0.3566887676715851,14.65780258178711,1.485109806060791,0.00,1/23/2025</a:t>
            </a:r>
          </a:p>
          <a:p>
            <a:pPr marL="0" indent="0">
              <a:buNone/>
            </a:pPr>
            <a:r>
              <a:rPr lang="en-US" sz="600" dirty="0"/>
              <a:t>A,A250221C00145000,A250221P00145000,152.46,2/21/2025,0.07945,145.00,3,171,4,124,9.40,9.77,10.20,1.40,1.66,1.85,0.245312,0.27616,0.307009,0.273406,0.256822,0.27409,0.291359,0.0436,0,-0.016754,0.77392600,0.02568334,-0.07902852,0.12970854,0.08602687,-0.09377906,-0.06113072,0.332904577255249,10.560271263122559,2.425650119781494,0.00,1/23/2025</a:t>
            </a:r>
          </a:p>
          <a:p>
            <a:pPr marL="0" indent="0">
              <a:buNone/>
            </a:pPr>
            <a:r>
              <a:rPr lang="en-US" sz="600" dirty="0"/>
              <a:t>A,A250221C00150000,A250221P00150000,152.46,2/21/2025,0.07945,150.00,21,307,26,37,5.90,6.17,6.40,2.90,3.11,3.30,0.245729,0.26113,0.276537,0.262123,0.249381,0.26167,0.273966,0.0436,0,-0.009348,0.62320500,0.03385080,-0.08694632,0.16233000,0.07061525,-0.07551577,-0.07405771,0.317505419254303,7.076486587524414,4.019585132598877,0.00,1/23/2025</a:t>
            </a:r>
          </a:p>
          <a:p>
            <a:pPr marL="0" indent="0">
              <a:buNone/>
            </a:pPr>
            <a:r>
              <a:rPr lang="en-US" sz="600" dirty="0"/>
              <a:t>A,A250221C00155000,A250221P00155000,152.46,2/21/2025,0.07945,155.00,173,755,9,32,3.30,3.44,3.60,5.30,5.50,5.70,0.244532,0.25340,0.262270,0.252941,0.241274,0.25317,0.265064,0.0436,0,-0.000438,0.44141900,0.03644031,-0.08193996,0.16914371,0.05075230,-0.05348815,-0.07423555,0.305181086063385,4.328240871429443,6.377379417419434,0.00,1/23/2025</a:t>
            </a:r>
          </a:p>
          <a:p>
            <a:pPr marL="0" indent="0">
              <a:buNone/>
            </a:pPr>
            <a:r>
              <a:rPr lang="en-US" sz="600" dirty="0"/>
              <a:t>A,A250221C00160000,A250221P00160000,152.46,2/21/2025,0.07945,160.00,288,149,1,0,1.60,1.68,1.80,8.50,8.90,9.30,0.241418,0.24841,0.255403,0.248785,0.220672,0.24965,0.278624,0.0436,0,0.008065,0.26933500,0.03100207,-0.06489331,0.14610337,0.03128211,-0.03263593,-0.06105992,0.29999828338623047,2.4611451625823975,9.617050170898438,0.00,1/23/2025</a:t>
            </a:r>
          </a:p>
          <a:p>
            <a:pPr marL="0" indent="0">
              <a:buNone/>
            </a:pPr>
            <a:r>
              <a:rPr lang="en-US" sz="600" dirty="0"/>
              <a:t>A,A250221C00165000,A250221P00165000,152.46,2/21/2025,0.07945,165.00,13,79,0,0,0.65,0.74,0.80,12.60,13.04,13.80,0.236224,0.24405,0.251878,0.248581,0.183634,0.25173,0.319828,0.0436,0,0.014511,0.14399200,0.02128075,-0.04352944,0.09568863,0.01683697,-0.01744773,-0.04182341,0.3002042770385742,1.3299633264541626,13.570833206176758,0.00,1/23/2025</a:t>
            </a:r>
          </a:p>
          <a:p>
            <a:pPr marL="0" indent="0">
              <a:buNone/>
            </a:pPr>
            <a:r>
              <a:rPr lang="en-US" sz="600" dirty="0"/>
              <a:t>A,A250221C00170000,A250221P00170000,152.46,2/21/2025,0.07945,170.00,4,31,0,0,0.20,0.35,0.40,16.60,17.66,18.80,0.226994,0.24526,0.263536,0.249599,0.000000,0.19451,0.389025,0.0436,0,0.018029,0.06838400,0.01230524,-0.02510294,0.05705531,0.00803479,-0.00828618,-0.02437538,0.3019524812698364,0.6812849044799805,17.983173370361328,0.00,1/23/2025</a:t>
            </a:r>
          </a:p>
          <a:p>
            <a:pPr marL="0" indent="0">
              <a:buNone/>
            </a:pPr>
            <a:r>
              <a:rPr lang="en-US" sz="600" dirty="0"/>
              <a:t>A,A250221C00175000,A250221P00175000,152.46,2/21/2025,0.07945,175.00,0,33,0,0,0.00,0.12,0.45,21.80,22.54,24.50,0.000000,0.16092,0.321846,0.249042,0.000000,0.26408,0.528158,0.0436,0,0.000000,0.02958200,0.00628344,-0.01293327,0.03021722,0.00348894,-0.00358456,-0.01240890,0.3009861707687378,0.3192826509475708,22.65927505493164,0.00,1/23/2025</a:t>
            </a:r>
          </a:p>
          <a:p>
            <a:pPr marL="0" indent="0">
              <a:buNone/>
            </a:pPr>
            <a:r>
              <a:rPr lang="en-US" sz="600" dirty="0"/>
              <a:t>A,A250221C00180000,A250221P00180000,152.46,2/21/2025,0.07945,180.00,0,18,0,0,0.05,0.04,1.35,26.40,27.54,29.30,0.258821,0.37656,0.494293,0.249549,0.000000,0.28250,0.564993,0.0436,0,0.016874,0.01051200,0.00259111,-0.00525084,0.01254989,0.00124365,-0.00127379,-0.00513113,0.30187663435935974,0.14315110445022583,27.55128288269043,0.00,1/23/2025</a:t>
            </a:r>
          </a:p>
          <a:p>
            <a:pPr marL="0" indent="0">
              <a:buNone/>
            </a:pPr>
            <a:r>
              <a:rPr lang="en-US" sz="600" dirty="0"/>
              <a:t>A,A250221C00185000,A250221P00185000,152.46,2/21/2025,0.07945,185.00,0,1,0,0,0.00,0.01,1.30,31.50,32.54,33.90,0.000000,0.27049,0.540980,0.248719,0.000000,0.29775,0.595506,0.0436,0,0.000000,0.00353400,0.00098828,-0.00200965,0.00482474,0.00041912,-0.00042824,-0.00194666,0.30048123002052307,0.05695677921175957,32.540000915527344,0.00,1/23/2025</a:t>
            </a:r>
          </a:p>
        </p:txBody>
      </p:sp>
    </p:spTree>
    <p:extLst>
      <p:ext uri="{BB962C8B-B14F-4D97-AF65-F5344CB8AC3E}">
        <p14:creationId xmlns:p14="http://schemas.microsoft.com/office/powerpoint/2010/main" val="56533323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CBAE5DE-E21E-3604-C772-D3F6C9EBC7B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9CEC91A-9B41-BA7B-D314-31A184420BE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81069" y="171246"/>
            <a:ext cx="11172731" cy="453444"/>
          </a:xfrm>
        </p:spPr>
        <p:txBody>
          <a:bodyPr>
            <a:normAutofit fontScale="90000"/>
          </a:bodyPr>
          <a:lstStyle/>
          <a:p>
            <a:r>
              <a:rPr lang="en-US" b="1" dirty="0">
                <a:solidFill>
                  <a:srgbClr val="002060"/>
                </a:solidFill>
              </a:rPr>
              <a:t>ORATS Data Header (1 of 3)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9828483-0E00-D9F3-2D83-DAD87DCCF4A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81069" y="742384"/>
            <a:ext cx="11508247" cy="5794218"/>
          </a:xfrm>
        </p:spPr>
        <p:txBody>
          <a:bodyPr wrap="none">
            <a:noAutofit/>
          </a:bodyPr>
          <a:lstStyle/>
          <a:p>
            <a:pPr marL="0" indent="0">
              <a:buNone/>
            </a:pPr>
            <a:r>
              <a:rPr lang="en-US" sz="1400" dirty="0"/>
              <a:t>ticker: The symbol for the underlying stock or asset (e.g., AAPL, SPY).</a:t>
            </a:r>
          </a:p>
          <a:p>
            <a:pPr marL="0" indent="0">
              <a:buNone/>
            </a:pPr>
            <a:r>
              <a:rPr lang="en-US" sz="1400" dirty="0"/>
              <a:t>stkPx: The price of the underlying stock/asset at the time the options data was recorded.</a:t>
            </a:r>
          </a:p>
          <a:p>
            <a:pPr marL="0" indent="0">
              <a:buNone/>
            </a:pPr>
            <a:r>
              <a:rPr lang="en-US" sz="1400" dirty="0"/>
              <a:t>expirDate: The expiration date of the options contract.</a:t>
            </a:r>
          </a:p>
          <a:p>
            <a:pPr marL="0" indent="0">
              <a:buNone/>
            </a:pPr>
            <a:r>
              <a:rPr lang="en-US" sz="1400" dirty="0"/>
              <a:t>strike: The predetermined price at which the underlying asset can be bought (call) or sold (put) if the option is exercised.</a:t>
            </a:r>
          </a:p>
          <a:p>
            <a:pPr marL="0" indent="0">
              <a:buNone/>
            </a:pPr>
            <a:r>
              <a:rPr lang="en-US" sz="1400" dirty="0"/>
              <a:t>trade_date: The date on which the options data was recorded or the trade occurred. </a:t>
            </a:r>
          </a:p>
          <a:p>
            <a:pPr marL="0" indent="0">
              <a:buNone/>
            </a:pPr>
            <a:r>
              <a:rPr lang="en-US" sz="1400" dirty="0"/>
              <a:t>Volume and Open Interest</a:t>
            </a:r>
          </a:p>
          <a:p>
            <a:pPr marL="0" indent="0">
              <a:buNone/>
            </a:pPr>
            <a:r>
              <a:rPr lang="en-US" sz="1400" dirty="0"/>
              <a:t>cVolu: Volume traded for the call option on that specific trade date.</a:t>
            </a:r>
          </a:p>
          <a:p>
            <a:pPr marL="0" indent="0">
              <a:buNone/>
            </a:pPr>
            <a:r>
              <a:rPr lang="en-US" sz="1400" dirty="0"/>
              <a:t>cOi: Open interest for the call option (total number of outstanding contracts).</a:t>
            </a:r>
          </a:p>
          <a:p>
            <a:pPr marL="0" indent="0">
              <a:buNone/>
            </a:pPr>
            <a:r>
              <a:rPr lang="en-US" sz="1400" dirty="0"/>
              <a:t>pVolu: Volume traded for the put option on that specific trade date.</a:t>
            </a:r>
          </a:p>
          <a:p>
            <a:pPr marL="0" indent="0">
              <a:buNone/>
            </a:pPr>
            <a:r>
              <a:rPr lang="en-US" sz="1400" dirty="0"/>
              <a:t>pOi: Open interest for the put option (total number of outstanding contracts). </a:t>
            </a:r>
          </a:p>
          <a:p>
            <a:pPr marL="0" indent="0">
              <a:buNone/>
            </a:pPr>
            <a:r>
              <a:rPr lang="en-US" sz="1400" dirty="0"/>
              <a:t>Pricing Information</a:t>
            </a:r>
          </a:p>
          <a:p>
            <a:pPr marL="0" indent="0">
              <a:buNone/>
            </a:pPr>
            <a:r>
              <a:rPr lang="en-US" sz="1400" dirty="0"/>
              <a:t>cBidPx: The highest price a buyer is willing to pay for the call option (bid price).</a:t>
            </a:r>
          </a:p>
          <a:p>
            <a:pPr marL="0" indent="0">
              <a:buNone/>
            </a:pPr>
            <a:r>
              <a:rPr lang="en-US" sz="1400" dirty="0"/>
              <a:t>cValue: The current price or value of the call option (potentially the mid-price or last traded price).</a:t>
            </a:r>
          </a:p>
          <a:p>
            <a:pPr marL="0" indent="0">
              <a:buNone/>
            </a:pPr>
            <a:r>
              <a:rPr lang="en-US" sz="1400" dirty="0"/>
              <a:t>cAskPx: The lowest price a seller is willing to accept for the call option (ask price).</a:t>
            </a:r>
          </a:p>
          <a:p>
            <a:pPr marL="0" indent="0">
              <a:buNone/>
            </a:pPr>
            <a:r>
              <a:rPr lang="en-US" sz="1400" dirty="0"/>
              <a:t>pBidPx: The highest price a buyer is willing to pay for the put option (bid price).</a:t>
            </a:r>
          </a:p>
          <a:p>
            <a:pPr marL="0" indent="0">
              <a:buNone/>
            </a:pPr>
            <a:r>
              <a:rPr lang="en-US" sz="1400" dirty="0"/>
              <a:t>pValue: The current price or value of the put option (potentially the mid-price or last traded price).</a:t>
            </a:r>
          </a:p>
          <a:p>
            <a:pPr marL="0" indent="0">
              <a:buNone/>
            </a:pPr>
            <a:r>
              <a:rPr lang="en-US" sz="1400" dirty="0"/>
              <a:t>pAskPx: The lowest price a seller is willing to accept for the put option (ask price).</a:t>
            </a:r>
          </a:p>
        </p:txBody>
      </p:sp>
    </p:spTree>
    <p:extLst>
      <p:ext uri="{BB962C8B-B14F-4D97-AF65-F5344CB8AC3E}">
        <p14:creationId xmlns:p14="http://schemas.microsoft.com/office/powerpoint/2010/main" val="2802762960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E5A02E6-6C00-556A-6273-7CC903EBFF0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2B44674-42C3-8360-A0CE-744C63163BF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81069" y="171246"/>
            <a:ext cx="11172731" cy="453444"/>
          </a:xfrm>
        </p:spPr>
        <p:txBody>
          <a:bodyPr>
            <a:normAutofit fontScale="90000"/>
          </a:bodyPr>
          <a:lstStyle/>
          <a:p>
            <a:r>
              <a:rPr lang="en-US" b="1" dirty="0">
                <a:solidFill>
                  <a:srgbClr val="002060"/>
                </a:solidFill>
              </a:rPr>
              <a:t>ORATS Data Header (2 of 3)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648878B-B5AE-B2F7-D36C-BCFDD079104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81069" y="742384"/>
            <a:ext cx="11508247" cy="5794218"/>
          </a:xfrm>
        </p:spPr>
        <p:txBody>
          <a:bodyPr wrap="square">
            <a:noAutofit/>
          </a:bodyPr>
          <a:lstStyle/>
          <a:p>
            <a:pPr marL="0" indent="0">
              <a:buNone/>
            </a:pPr>
            <a:r>
              <a:rPr lang="en-US" sz="1400" dirty="0"/>
              <a:t>cBidIv: Implied volatility derived from the call option's bid price.</a:t>
            </a:r>
          </a:p>
          <a:p>
            <a:pPr marL="0" indent="0">
              <a:buNone/>
            </a:pPr>
            <a:r>
              <a:rPr lang="en-US" sz="1400" dirty="0"/>
              <a:t>cMidIv: Implied volatility derived from the call option's mid-price.</a:t>
            </a:r>
          </a:p>
          <a:p>
            <a:pPr marL="0" indent="0">
              <a:buNone/>
            </a:pPr>
            <a:r>
              <a:rPr lang="en-US" sz="1400" dirty="0"/>
              <a:t>cAskIv: Implied volatility derived from the call option's ask price.</a:t>
            </a:r>
          </a:p>
          <a:p>
            <a:pPr marL="0" indent="0">
              <a:buNone/>
            </a:pPr>
            <a:r>
              <a:rPr lang="en-US" sz="1400" dirty="0"/>
              <a:t>smoothSmvVol: Smoothed options market value (SMV) implied volatility, which is often a proprietary, </a:t>
            </a:r>
            <a:br>
              <a:rPr lang="en-US" sz="1400" dirty="0"/>
            </a:br>
            <a:r>
              <a:rPr lang="en-US" sz="1400" dirty="0"/>
              <a:t>                                  high-quality volatility measure used for consistent pricing across the entire options chain.</a:t>
            </a:r>
          </a:p>
          <a:p>
            <a:pPr marL="0" indent="0">
              <a:buNone/>
            </a:pPr>
            <a:r>
              <a:rPr lang="en-US" sz="1400" dirty="0"/>
              <a:t>pBidIv: Implied volatility derived from the put option's bid price.</a:t>
            </a:r>
          </a:p>
          <a:p>
            <a:pPr marL="0" indent="0">
              <a:buNone/>
            </a:pPr>
            <a:r>
              <a:rPr lang="en-US" sz="1400" dirty="0"/>
              <a:t>pMidIv: Implied volatility derived from the put option's mid-price.</a:t>
            </a:r>
          </a:p>
          <a:p>
            <a:pPr marL="0" indent="0">
              <a:buNone/>
            </a:pPr>
            <a:r>
              <a:rPr lang="en-US" sz="1400" dirty="0"/>
              <a:t>pAskIv: Implied volatility derived from the put option's ask price.</a:t>
            </a:r>
          </a:p>
          <a:p>
            <a:pPr marL="0" indent="0">
              <a:buNone/>
            </a:pPr>
            <a:r>
              <a:rPr lang="en-US" sz="1400" dirty="0"/>
              <a:t>iRate: The interest rate assumption used in the options pricing model (e.g., risk-free rate).</a:t>
            </a:r>
          </a:p>
          <a:p>
            <a:pPr marL="0" indent="0">
              <a:buNone/>
            </a:pPr>
            <a:r>
              <a:rPr lang="en-US" sz="1400" dirty="0"/>
              <a:t>divRate: The dividend rate assumption for the underlying stock.</a:t>
            </a:r>
          </a:p>
          <a:p>
            <a:pPr marL="0" indent="0">
              <a:buNone/>
            </a:pPr>
            <a:r>
              <a:rPr lang="en-US" sz="1400" dirty="0"/>
              <a:t>residualRateData: Additional or specific rate data used in the model. </a:t>
            </a:r>
          </a:p>
          <a:p>
            <a:pPr marL="0" indent="0">
              <a:buNone/>
            </a:pPr>
            <a:r>
              <a:rPr lang="en-US" sz="1400" dirty="0"/>
              <a:t>delta: Measures the sensitivity of the option's price to a $1 change in the underlying stock price.</a:t>
            </a:r>
          </a:p>
          <a:p>
            <a:pPr marL="0" indent="0">
              <a:buNone/>
            </a:pPr>
            <a:r>
              <a:rPr lang="en-US" sz="1400" dirty="0"/>
              <a:t>gamma: Measures the rate of change of delta relative to a $1 change in the underlying stock price.</a:t>
            </a:r>
          </a:p>
          <a:p>
            <a:pPr marL="0" indent="0">
              <a:buNone/>
            </a:pPr>
            <a:r>
              <a:rPr lang="en-US" sz="1400" dirty="0"/>
              <a:t>theta: Measures the option's price sensitivity to the passage of time (time decay).</a:t>
            </a:r>
          </a:p>
          <a:p>
            <a:pPr marL="0" indent="0">
              <a:buNone/>
            </a:pPr>
            <a:r>
              <a:rPr lang="en-US" sz="1400" dirty="0"/>
              <a:t>vega: Measures the option's price sensitivity to a 1% change in the underlying asset's implied volatility.</a:t>
            </a:r>
          </a:p>
          <a:p>
            <a:pPr marL="0" indent="0">
              <a:buNone/>
            </a:pPr>
            <a:r>
              <a:rPr lang="en-US" sz="1400" dirty="0"/>
              <a:t>rho: Measures the option's price sensitivity to a change in interest rates.</a:t>
            </a:r>
          </a:p>
          <a:p>
            <a:pPr marL="0" indent="0">
              <a:buNone/>
            </a:pPr>
            <a:r>
              <a:rPr lang="en-US" sz="1400" dirty="0"/>
              <a:t>phi: Likely another option Greek or analytical measure, possibly related to the sensitivity to dividend yield changes.</a:t>
            </a:r>
          </a:p>
          <a:p>
            <a:pPr marL="0" indent="0">
              <a:buNone/>
            </a:pPr>
            <a:r>
              <a:rPr lang="en-US" sz="1400" dirty="0"/>
              <a:t>driftlessTheta: An adjusted theta measure, likely part of specific analytics provided by the data source.</a:t>
            </a:r>
          </a:p>
        </p:txBody>
      </p:sp>
    </p:spTree>
    <p:extLst>
      <p:ext uri="{BB962C8B-B14F-4D97-AF65-F5344CB8AC3E}">
        <p14:creationId xmlns:p14="http://schemas.microsoft.com/office/powerpoint/2010/main" val="2748890762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DC8B489-5E3E-4671-0BE4-0D9139015F1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F490362-CDE4-BAB1-E7D1-CA0E1AE60EC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81069" y="171246"/>
            <a:ext cx="11172731" cy="453444"/>
          </a:xfrm>
        </p:spPr>
        <p:txBody>
          <a:bodyPr>
            <a:normAutofit fontScale="90000"/>
          </a:bodyPr>
          <a:lstStyle/>
          <a:p>
            <a:r>
              <a:rPr lang="en-US" b="1" dirty="0">
                <a:solidFill>
                  <a:srgbClr val="002060"/>
                </a:solidFill>
              </a:rPr>
              <a:t>ORATS Data Header (3 of 3)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D7E46B9-EE4A-6B1B-663B-FE26A4DF474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81069" y="742384"/>
            <a:ext cx="11508247" cy="5794218"/>
          </a:xfrm>
        </p:spPr>
        <p:txBody>
          <a:bodyPr wrap="none">
            <a:noAutofit/>
          </a:bodyPr>
          <a:lstStyle/>
          <a:p>
            <a:pPr marL="0" indent="0">
              <a:buNone/>
            </a:pPr>
            <a:r>
              <a:rPr lang="en-US" sz="1400" dirty="0"/>
              <a:t>extVol: External or specific volatility measure used in theoretical calculations.</a:t>
            </a:r>
          </a:p>
          <a:p>
            <a:pPr marL="0" indent="0">
              <a:buNone/>
            </a:pPr>
            <a:r>
              <a:rPr lang="en-US" sz="1400" dirty="0"/>
              <a:t>extCTheo: External/specific theoretical value for the call option.</a:t>
            </a:r>
          </a:p>
          <a:p>
            <a:pPr marL="0" indent="0">
              <a:buNone/>
            </a:pPr>
            <a:r>
              <a:rPr lang="en-US" sz="1400" dirty="0"/>
              <a:t>extPTheo: External/specific theoretical value for the put option.</a:t>
            </a:r>
          </a:p>
          <a:p>
            <a:pPr marL="0" indent="0">
              <a:buNone/>
            </a:pPr>
            <a:r>
              <a:rPr lang="en-US" sz="1400" dirty="0"/>
              <a:t>spot_px: The spot price of the underlying asset, likely the same as stkPx.</a:t>
            </a:r>
          </a:p>
          <a:p>
            <a:pPr marL="0" indent="0">
              <a:buNone/>
            </a:pPr>
            <a:r>
              <a:rPr lang="en-US" sz="1400" dirty="0"/>
              <a:t>cOpra: Call option price reporting authority data (likely the raw price data as reported to OPRA - Options Price Reporting Authority).</a:t>
            </a:r>
          </a:p>
          <a:p>
            <a:pPr marL="0" indent="0">
              <a:buNone/>
            </a:pPr>
            <a:r>
              <a:rPr lang="en-US" sz="1400" dirty="0"/>
              <a:t>pOpra: Put option price reporting authority data (raw price data as reported to OPRA).</a:t>
            </a:r>
          </a:p>
          <a:p>
            <a:pPr marL="0" indent="0">
              <a:buNone/>
            </a:pPr>
            <a:r>
              <a:rPr lang="en-US" sz="1400" dirty="0"/>
              <a:t>yte: Years to expiration, a measure of time remaining until the contract expires.</a:t>
            </a:r>
          </a:p>
        </p:txBody>
      </p:sp>
    </p:spTree>
    <p:extLst>
      <p:ext uri="{BB962C8B-B14F-4D97-AF65-F5344CB8AC3E}">
        <p14:creationId xmlns:p14="http://schemas.microsoft.com/office/powerpoint/2010/main" val="2822258508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6753841-4C4E-117F-9A3E-FB71E3DCDD1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94ECC86-52B6-1F99-972A-29F5E8B326C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58365" y="171245"/>
            <a:ext cx="10515600" cy="469735"/>
          </a:xfrm>
        </p:spPr>
        <p:txBody>
          <a:bodyPr>
            <a:normAutofit fontScale="90000"/>
          </a:bodyPr>
          <a:lstStyle/>
          <a:p>
            <a:r>
              <a:rPr lang="en-US" b="1" noProof="1">
                <a:solidFill>
                  <a:srgbClr val="002060"/>
                </a:solidFill>
              </a:rPr>
              <a:t>Etay’s</a:t>
            </a:r>
            <a:r>
              <a:rPr lang="en-US" b="1" dirty="0">
                <a:solidFill>
                  <a:srgbClr val="002060"/>
                </a:solidFill>
              </a:rPr>
              <a:t> notes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2BC0BC2-D2F9-B9DF-3097-420CD80F952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58365" y="805759"/>
            <a:ext cx="6947782" cy="5880996"/>
          </a:xfrm>
        </p:spPr>
        <p:txBody>
          <a:bodyPr vert="horz" lIns="91440" tIns="45720" rIns="91440" bIns="45720" rtlCol="0" anchor="t">
            <a:noAutofit/>
          </a:bodyPr>
          <a:lstStyle/>
          <a:p>
            <a:pPr marL="0" indent="0">
              <a:buNone/>
            </a:pPr>
            <a:r>
              <a:rPr lang="en-US" sz="1400" dirty="0"/>
              <a:t>1. Download Visual Studio Code (VSC) </a:t>
            </a:r>
          </a:p>
          <a:p>
            <a:pPr marL="0" indent="0">
              <a:buNone/>
            </a:pPr>
            <a:r>
              <a:rPr lang="en-US" sz="1400" dirty="0"/>
              <a:t>2. Connect source control with </a:t>
            </a:r>
            <a:r>
              <a:rPr lang="en-US" sz="1400" noProof="1"/>
              <a:t>Etay's</a:t>
            </a:r>
            <a:r>
              <a:rPr lang="en-US" sz="1400" dirty="0"/>
              <a:t> </a:t>
            </a:r>
            <a:r>
              <a:rPr lang="en-US" sz="1400" noProof="1"/>
              <a:t>Github</a:t>
            </a:r>
            <a:r>
              <a:rPr lang="en-US" sz="1400" dirty="0"/>
              <a:t> to c:\option_trading</a:t>
            </a:r>
          </a:p>
          <a:p>
            <a:pPr marL="0" indent="0">
              <a:buNone/>
            </a:pPr>
            <a:r>
              <a:rPr lang="en-US" sz="1400" dirty="0"/>
              <a:t>3. Use </a:t>
            </a:r>
            <a:r>
              <a:rPr lang="en-US" sz="1400" noProof="1"/>
              <a:t>FileZila</a:t>
            </a:r>
            <a:r>
              <a:rPr lang="en-US" sz="1400" dirty="0"/>
              <a:t> to download ORATS zip files 2007 - 2025 to c:\option_trading\ORATS_zip </a:t>
            </a:r>
          </a:p>
          <a:p>
            <a:pPr>
              <a:buNone/>
            </a:pPr>
            <a:r>
              <a:rPr lang="en-US" sz="1400" dirty="0">
                <a:ea typeface="+mn-lt"/>
                <a:cs typeface="+mn-lt"/>
              </a:rPr>
              <a:t>4. Run extract_zip.py (zip --&gt; csv under c:\option_trading\ORATS_csv)</a:t>
            </a:r>
            <a:endParaRPr lang="en-US" sz="2400" dirty="0"/>
          </a:p>
          <a:p>
            <a:pPr>
              <a:buNone/>
            </a:pPr>
            <a:r>
              <a:rPr lang="en-US" sz="1400" dirty="0">
                <a:ea typeface="+mn-lt"/>
                <a:cs typeface="+mn-lt"/>
              </a:rPr>
              <a:t>   Note: The new files will not go to c:\option_trading\ORATS_csv\2025</a:t>
            </a:r>
            <a:endParaRPr lang="en-US" sz="2400" dirty="0"/>
          </a:p>
          <a:p>
            <a:pPr>
              <a:buNone/>
            </a:pPr>
            <a:r>
              <a:rPr lang="en-US" sz="1400" dirty="0">
                <a:ea typeface="+mn-lt"/>
                <a:cs typeface="+mn-lt"/>
              </a:rPr>
              <a:t>   but it is OK since make_data.py will find them anywhere.</a:t>
            </a:r>
            <a:endParaRPr lang="en-US" sz="2400" dirty="0"/>
          </a:p>
          <a:p>
            <a:pPr>
              <a:buNone/>
            </a:pPr>
            <a:r>
              <a:rPr lang="en-US" sz="1400" dirty="0">
                <a:ea typeface="+mn-lt"/>
                <a:cs typeface="+mn-lt"/>
              </a:rPr>
              <a:t>5. Run make_data.py (c:\option_trading\ORATS_csv --&gt; c:\option_trading\ORATS_json).   This will keep only: "</a:t>
            </a:r>
            <a:r>
              <a:rPr lang="en-US" sz="1400" dirty="0" err="1">
                <a:ea typeface="+mn-lt"/>
                <a:cs typeface="+mn-lt"/>
              </a:rPr>
              <a:t>expirDate</a:t>
            </a:r>
            <a:r>
              <a:rPr lang="en-US" sz="1400" dirty="0">
                <a:ea typeface="+mn-lt"/>
                <a:cs typeface="+mn-lt"/>
              </a:rPr>
              <a:t>", "strike", "</a:t>
            </a:r>
            <a:r>
              <a:rPr lang="en-US" sz="1400" dirty="0" err="1">
                <a:ea typeface="+mn-lt"/>
                <a:cs typeface="+mn-lt"/>
              </a:rPr>
              <a:t>pBidPx</a:t>
            </a:r>
            <a:r>
              <a:rPr lang="en-US" sz="1400" dirty="0">
                <a:ea typeface="+mn-lt"/>
                <a:cs typeface="+mn-lt"/>
              </a:rPr>
              <a:t>", "</a:t>
            </a:r>
            <a:r>
              <a:rPr lang="en-US" sz="1400" dirty="0" err="1">
                <a:ea typeface="+mn-lt"/>
                <a:cs typeface="+mn-lt"/>
              </a:rPr>
              <a:t>pAskPx</a:t>
            </a:r>
            <a:r>
              <a:rPr lang="en-US" sz="1400" dirty="0">
                <a:ea typeface="+mn-lt"/>
                <a:cs typeface="+mn-lt"/>
              </a:rPr>
              <a:t>" and "</a:t>
            </a:r>
            <a:r>
              <a:rPr lang="en-US" sz="1400" dirty="0" err="1">
                <a:ea typeface="+mn-lt"/>
                <a:cs typeface="+mn-lt"/>
              </a:rPr>
              <a:t>putDelta</a:t>
            </a:r>
            <a:r>
              <a:rPr lang="en-US" sz="1400" dirty="0">
                <a:ea typeface="+mn-lt"/>
                <a:cs typeface="+mn-lt"/>
              </a:rPr>
              <a:t>"</a:t>
            </a:r>
            <a:endParaRPr lang="en-US" sz="2400" dirty="0"/>
          </a:p>
          <a:p>
            <a:pPr marL="0" indent="0">
              <a:buNone/>
            </a:pPr>
            <a:r>
              <a:rPr lang="en-US" sz="1400" dirty="0"/>
              <a:t>6. Open terminal and run these command:</a:t>
            </a:r>
          </a:p>
          <a:p>
            <a:pPr marL="0" indent="0">
              <a:buNone/>
            </a:pPr>
            <a:r>
              <a:rPr lang="en-US" sz="1400" dirty="0"/>
              <a:t>   pip install </a:t>
            </a:r>
            <a:r>
              <a:rPr lang="en-US" sz="1400" noProof="1"/>
              <a:t>yfinance</a:t>
            </a:r>
            <a:endParaRPr lang="en-US" sz="1400" dirty="0"/>
          </a:p>
          <a:p>
            <a:pPr marL="0" indent="0">
              <a:buNone/>
            </a:pPr>
            <a:r>
              <a:rPr lang="en-US" sz="1400" dirty="0"/>
              <a:t>   git config --global </a:t>
            </a:r>
            <a:r>
              <a:rPr lang="en-US" sz="1400" noProof="1"/>
              <a:t>user.email </a:t>
            </a:r>
            <a:r>
              <a:rPr lang="en-US" sz="1400" dirty="0"/>
              <a:t>"etayluz@gmail.com"</a:t>
            </a:r>
          </a:p>
          <a:p>
            <a:pPr marL="0" indent="0">
              <a:buNone/>
            </a:pPr>
            <a:r>
              <a:rPr lang="en-US" sz="1400" dirty="0"/>
              <a:t>   git config --global user.name "</a:t>
            </a:r>
            <a:r>
              <a:rPr lang="en-US" sz="1400" noProof="1"/>
              <a:t>Etay</a:t>
            </a:r>
            <a:r>
              <a:rPr lang="en-US" sz="1400" dirty="0"/>
              <a:t> Luz"</a:t>
            </a:r>
          </a:p>
          <a:p>
            <a:pPr marL="0" indent="0">
              <a:buNone/>
            </a:pPr>
            <a:r>
              <a:rPr lang="en-US" sz="1400" dirty="0"/>
              <a:t>7. Run yahoo.py (download csv files from Yahoo.com to c:\option_trading\ticker_data\AAPL.csv)</a:t>
            </a:r>
          </a:p>
          <a:p>
            <a:pPr marL="0" indent="0">
              <a:buNone/>
            </a:pPr>
            <a:r>
              <a:rPr lang="en-US" sz="1400" dirty="0"/>
              <a:t>8. Run get_stock_history.py (</a:t>
            </a:r>
            <a:r>
              <a:rPr lang="en-US" sz="1400" noProof="1"/>
              <a:t>ticker_data</a:t>
            </a:r>
            <a:r>
              <a:rPr lang="en-US" sz="1400" dirty="0"/>
              <a:t>\ --&gt; c:\option_trading\stock_history.json)</a:t>
            </a:r>
          </a:p>
          <a:p>
            <a:pPr marL="0" indent="0">
              <a:buNone/>
            </a:pPr>
            <a:r>
              <a:rPr lang="en-US" sz="1400" dirty="0"/>
              <a:t>9. Check visually the rules in </a:t>
            </a:r>
            <a:r>
              <a:rPr lang="en-US" sz="1400" noProof="1"/>
              <a:t>rules.json</a:t>
            </a:r>
            <a:r>
              <a:rPr lang="en-US" sz="1400" dirty="0"/>
              <a:t>, validate that you are happy</a:t>
            </a:r>
          </a:p>
          <a:p>
            <a:pPr marL="0" indent="0">
              <a:buNone/>
            </a:pPr>
            <a:r>
              <a:rPr lang="en-US" sz="1400" dirty="0"/>
              <a:t>10. Run sumulate_yuda.py</a:t>
            </a:r>
          </a:p>
          <a:p>
            <a:pPr marL="0" indent="0">
              <a:buNone/>
            </a:pPr>
            <a:r>
              <a:rPr lang="en-US" sz="1400" dirty="0"/>
              <a:t>11. Check the results in the latest log.txt under c:\option_trading\logs </a:t>
            </a:r>
          </a:p>
          <a:p>
            <a:pPr marL="0" indent="0">
              <a:buNone/>
            </a:pPr>
            <a:r>
              <a:rPr lang="en-US" sz="1400" dirty="0"/>
              <a:t>12. Run sim_wraper.py to optimize the rules.</a:t>
            </a:r>
            <a:r>
              <a:rPr lang="en-US" sz="1400" noProof="1"/>
              <a:t>json</a:t>
            </a:r>
            <a:r>
              <a:rPr lang="en-US" sz="1400" dirty="0"/>
              <a:t> with better score</a:t>
            </a:r>
          </a:p>
        </p:txBody>
      </p:sp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A61DB2BC-860C-B3A5-44A3-B10E08FC828D}"/>
              </a:ext>
            </a:extLst>
          </p:cNvPr>
          <p:cNvSpPr txBox="1">
            <a:spLocks/>
          </p:cNvSpPr>
          <p:nvPr/>
        </p:nvSpPr>
        <p:spPr>
          <a:xfrm>
            <a:off x="7569443" y="773163"/>
            <a:ext cx="4409038" cy="531167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sz="1500" dirty="0"/>
              <a:t>SOURCE CONTROL</a:t>
            </a:r>
          </a:p>
          <a:p>
            <a:pPr marL="514350" indent="-514350">
              <a:buFont typeface="+mj-lt"/>
              <a:buAutoNum type="arabicPeriod"/>
            </a:pPr>
            <a:r>
              <a:rPr lang="en-US" sz="1500" dirty="0"/>
              <a:t>Click on the folder icon on the top left to see the project source files</a:t>
            </a:r>
          </a:p>
          <a:p>
            <a:pPr marL="514350" indent="-514350">
              <a:buFont typeface="+mj-lt"/>
              <a:buAutoNum type="arabicPeriod"/>
            </a:pPr>
            <a:r>
              <a:rPr lang="en-US" sz="1500" dirty="0"/>
              <a:t>Click on the 3rd button from the top to see the changes</a:t>
            </a:r>
          </a:p>
          <a:p>
            <a:pPr marL="514350" indent="-514350">
              <a:buFont typeface="+mj-lt"/>
              <a:buAutoNum type="arabicPeriod"/>
            </a:pPr>
            <a:r>
              <a:rPr lang="en-US" sz="1500" dirty="0"/>
              <a:t>Anything modified under changes you may want to stage for saving click on + sign</a:t>
            </a:r>
          </a:p>
          <a:p>
            <a:pPr marL="514350" indent="-514350">
              <a:buFont typeface="+mj-lt"/>
              <a:buAutoNum type="arabicPeriod"/>
            </a:pPr>
            <a:r>
              <a:rPr lang="en-US" sz="1500" dirty="0"/>
              <a:t>Click on Commit button to save the staged files</a:t>
            </a:r>
          </a:p>
          <a:p>
            <a:pPr marL="514350" indent="-514350">
              <a:buFont typeface="+mj-lt"/>
              <a:buAutoNum type="arabicPeriod"/>
            </a:pPr>
            <a:r>
              <a:rPr lang="en-US" sz="1500" dirty="0"/>
              <a:t>To switch to Graph changes, click on Changes</a:t>
            </a:r>
          </a:p>
          <a:p>
            <a:pPr marL="514350" indent="-514350">
              <a:buFont typeface="+mj-lt"/>
              <a:buAutoNum type="arabicPeriod"/>
            </a:pPr>
            <a:r>
              <a:rPr lang="en-US" sz="1500" dirty="0"/>
              <a:t>Use Up arrow button to push to the cloud (</a:t>
            </a:r>
            <a:r>
              <a:rPr lang="en-US" sz="1500" noProof="1"/>
              <a:t>Github</a:t>
            </a:r>
            <a:r>
              <a:rPr lang="en-US" sz="1500" dirty="0"/>
              <a:t>)</a:t>
            </a:r>
          </a:p>
          <a:p>
            <a:pPr marL="514350" indent="-514350">
              <a:buFont typeface="+mj-lt"/>
              <a:buAutoNum type="arabicPeriod"/>
            </a:pPr>
            <a:r>
              <a:rPr lang="en-US" sz="1500" dirty="0"/>
              <a:t>From another machine, use Down arrow button to pull latest changes</a:t>
            </a:r>
          </a:p>
        </p:txBody>
      </p:sp>
    </p:spTree>
    <p:extLst>
      <p:ext uri="{BB962C8B-B14F-4D97-AF65-F5344CB8AC3E}">
        <p14:creationId xmlns:p14="http://schemas.microsoft.com/office/powerpoint/2010/main" val="541943455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32699C8-19B8-AB08-ECDF-43BA6ED8D27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CE7D165-4626-517B-BF27-A1E977A40E9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58365" y="171245"/>
            <a:ext cx="10515600" cy="469735"/>
          </a:xfrm>
        </p:spPr>
        <p:txBody>
          <a:bodyPr>
            <a:normAutofit fontScale="90000"/>
          </a:bodyPr>
          <a:lstStyle/>
          <a:p>
            <a:r>
              <a:rPr lang="en-US" b="1" noProof="1">
                <a:solidFill>
                  <a:srgbClr val="002060"/>
                </a:solidFill>
              </a:rPr>
              <a:t>ORATS  json</a:t>
            </a:r>
            <a:endParaRPr lang="en-US" b="1" dirty="0">
              <a:solidFill>
                <a:srgbClr val="002060"/>
              </a:solidFill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2951D14-04D4-485B-AED9-C8EE43A05A8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58364" y="805759"/>
            <a:ext cx="11528835" cy="5880996"/>
          </a:xfrm>
        </p:spPr>
        <p:txBody>
          <a:bodyPr wrap="none">
            <a:noAutofit/>
          </a:bodyPr>
          <a:lstStyle/>
          <a:p>
            <a:r>
              <a:rPr lang="en-US" sz="1600" dirty="0"/>
              <a:t>Download Folder: c:\option_trading\ORATS_zip </a:t>
            </a:r>
          </a:p>
          <a:p>
            <a:r>
              <a:rPr lang="en-US" sz="1600" dirty="0"/>
              <a:t>Csv folder after extract_zip.py  </a:t>
            </a:r>
            <a:r>
              <a:rPr lang="en-US" sz="1600" dirty="0">
                <a:sym typeface="Wingdings" panose="05000000000000000000" pitchFamily="2" charset="2"/>
              </a:rPr>
              <a:t></a:t>
            </a:r>
            <a:r>
              <a:rPr lang="en-US" sz="1600" dirty="0"/>
              <a:t> (zip --&gt; csv under c:\ORATS_csv)</a:t>
            </a:r>
          </a:p>
          <a:p>
            <a:r>
              <a:rPr lang="en-US" sz="1600" dirty="0"/>
              <a:t>Json Folder after make_data.py </a:t>
            </a:r>
            <a:r>
              <a:rPr lang="en-US" sz="1600" dirty="0">
                <a:sym typeface="Wingdings" panose="05000000000000000000" pitchFamily="2" charset="2"/>
              </a:rPr>
              <a:t></a:t>
            </a:r>
            <a:r>
              <a:rPr lang="en-US" sz="1600" dirty="0"/>
              <a:t>  c:\option_trading\</a:t>
            </a:r>
            <a:r>
              <a:rPr lang="en-US" sz="1600" noProof="1"/>
              <a:t>ORATS</a:t>
            </a:r>
            <a:r>
              <a:rPr lang="en-US" sz="1600" dirty="0"/>
              <a:t>_</a:t>
            </a:r>
            <a:r>
              <a:rPr lang="en-US" sz="1600" noProof="1"/>
              <a:t>json</a:t>
            </a:r>
            <a:br>
              <a:rPr lang="en-US" sz="1600" dirty="0"/>
            </a:br>
            <a:r>
              <a:rPr lang="en-US" sz="1600" dirty="0"/>
              <a:t>This folder includes 4748 </a:t>
            </a:r>
            <a:r>
              <a:rPr lang="en-US" sz="1600" noProof="1"/>
              <a:t>json</a:t>
            </a:r>
            <a:r>
              <a:rPr lang="en-US" sz="1600" dirty="0"/>
              <a:t> files: </a:t>
            </a:r>
            <a:br>
              <a:rPr lang="en-US" sz="1600" dirty="0"/>
            </a:br>
            <a:r>
              <a:rPr lang="en-US" sz="1600" dirty="0"/>
              <a:t>2007-01-03.json, 2007-01-04.json, … 2007-11-11.json</a:t>
            </a:r>
          </a:p>
          <a:p>
            <a:r>
              <a:rPr lang="en-US" sz="1600" dirty="0"/>
              <a:t>Each </a:t>
            </a:r>
            <a:r>
              <a:rPr lang="en-US" sz="1600" noProof="1"/>
              <a:t>json</a:t>
            </a:r>
            <a:r>
              <a:rPr lang="en-US" sz="1600" dirty="0"/>
              <a:t> file is for one day, including all the put options for that day</a:t>
            </a:r>
          </a:p>
          <a:p>
            <a:r>
              <a:rPr lang="en-US" sz="1600" dirty="0"/>
              <a:t>Each file is about 10 Mbyte in size (cleaned of spaces)</a:t>
            </a:r>
          </a:p>
          <a:p>
            <a:r>
              <a:rPr lang="en-US" sz="1600" dirty="0"/>
              <a:t>The data includes stock symbol=“A”, E</a:t>
            </a:r>
            <a:r>
              <a:rPr lang="en-US" sz="1600" noProof="1"/>
              <a:t>xpirDate=12/19/2025</a:t>
            </a:r>
            <a:r>
              <a:rPr lang="en-US" sz="1600" dirty="0"/>
              <a:t>,</a:t>
            </a:r>
            <a:br>
              <a:rPr lang="en-US" sz="1600" dirty="0"/>
            </a:br>
            <a:r>
              <a:rPr lang="en-US" sz="1600" dirty="0"/>
              <a:t> DTE=57, Strike=110, </a:t>
            </a:r>
            <a:r>
              <a:rPr lang="en-US" sz="1600" noProof="1"/>
              <a:t>Bid=0.1</a:t>
            </a:r>
            <a:r>
              <a:rPr lang="en-US" sz="1600" dirty="0"/>
              <a:t>, A</a:t>
            </a:r>
            <a:r>
              <a:rPr lang="en-US" sz="1600" noProof="1"/>
              <a:t>sk=0.75, Delta=-2.89%</a:t>
            </a:r>
            <a:br>
              <a:rPr lang="en-US" sz="1600" dirty="0"/>
            </a:br>
            <a:r>
              <a:rPr lang="en-US" sz="1050" dirty="0">
                <a:solidFill>
                  <a:schemeClr val="bg1">
                    <a:lumMod val="50000"/>
                  </a:schemeClr>
                </a:solidFill>
              </a:rPr>
              <a:t>{"A":</a:t>
            </a:r>
            <a:br>
              <a:rPr lang="en-US" sz="1050" dirty="0">
                <a:solidFill>
                  <a:schemeClr val="bg1">
                    <a:lumMod val="50000"/>
                  </a:schemeClr>
                </a:solidFill>
              </a:rPr>
            </a:br>
            <a:r>
              <a:rPr lang="en-US" sz="1050" dirty="0">
                <a:solidFill>
                  <a:schemeClr val="bg1">
                    <a:lumMod val="50000"/>
                  </a:schemeClr>
                </a:solidFill>
              </a:rPr>
              <a:t>   {"12/19/2025":”</a:t>
            </a:r>
            <a:br>
              <a:rPr lang="en-US" sz="1050" dirty="0">
                <a:solidFill>
                  <a:schemeClr val="bg1">
                    <a:lumMod val="50000"/>
                  </a:schemeClr>
                </a:solidFill>
              </a:rPr>
            </a:br>
            <a:r>
              <a:rPr lang="en-US" sz="1050" dirty="0">
                <a:solidFill>
                  <a:schemeClr val="bg1">
                    <a:lumMod val="50000"/>
                  </a:schemeClr>
                </a:solidFill>
              </a:rPr>
              <a:t>      {"days_interval":57,</a:t>
            </a:r>
            <a:br>
              <a:rPr lang="en-US" sz="1050" dirty="0">
                <a:solidFill>
                  <a:schemeClr val="bg1">
                    <a:lumMod val="50000"/>
                  </a:schemeClr>
                </a:solidFill>
              </a:rPr>
            </a:br>
            <a:r>
              <a:rPr lang="en-US" sz="1050" dirty="0">
                <a:solidFill>
                  <a:schemeClr val="bg1">
                    <a:lumMod val="50000"/>
                  </a:schemeClr>
                </a:solidFill>
              </a:rPr>
              <a:t>        "options":[</a:t>
            </a:r>
            <a:br>
              <a:rPr lang="en-US" sz="1050" dirty="0">
                <a:solidFill>
                  <a:schemeClr val="bg1">
                    <a:lumMod val="50000"/>
                  </a:schemeClr>
                </a:solidFill>
              </a:rPr>
            </a:br>
            <a:r>
              <a:rPr lang="en-US" sz="1050" dirty="0">
                <a:solidFill>
                  <a:schemeClr val="bg1">
                    <a:lumMod val="50000"/>
                  </a:schemeClr>
                </a:solidFill>
              </a:rPr>
              <a:t>         {"strike":110.0,"pBidPx":"0.10","pAskPx":"0.75","putDelta":"-2.89%"},</a:t>
            </a:r>
            <a:br>
              <a:rPr lang="en-US" sz="1050" dirty="0">
                <a:solidFill>
                  <a:schemeClr val="bg1">
                    <a:lumMod val="50000"/>
                  </a:schemeClr>
                </a:solidFill>
              </a:rPr>
            </a:br>
            <a:r>
              <a:rPr lang="en-US" sz="1050" dirty="0">
                <a:solidFill>
                  <a:schemeClr val="bg1">
                    <a:lumMod val="50000"/>
                  </a:schemeClr>
                </a:solidFill>
              </a:rPr>
              <a:t>         {"strike":115.0,"pBidPx":"0.35","pAskPx":"1.00","putDelta":"-4.81%"},</a:t>
            </a:r>
            <a:br>
              <a:rPr lang="en-US" sz="1050" dirty="0">
                <a:solidFill>
                  <a:schemeClr val="bg1">
                    <a:lumMod val="50000"/>
                  </a:schemeClr>
                </a:solidFill>
              </a:rPr>
            </a:br>
            <a:r>
              <a:rPr lang="en-US" sz="1050" dirty="0">
                <a:solidFill>
                  <a:schemeClr val="bg1">
                    <a:lumMod val="50000"/>
                  </a:schemeClr>
                </a:solidFill>
              </a:rPr>
              <a:t>         {"strike":120.0,"pBidPx":"0.60","pAskPx":"1.35","putDelta":"-7.65%"},</a:t>
            </a:r>
            <a:br>
              <a:rPr lang="en-US" sz="1050" dirty="0">
                <a:solidFill>
                  <a:schemeClr val="bg1">
                    <a:lumMod val="50000"/>
                  </a:schemeClr>
                </a:solidFill>
              </a:rPr>
            </a:br>
            <a:r>
              <a:rPr lang="en-US" sz="1050" dirty="0">
                <a:solidFill>
                  <a:schemeClr val="bg1">
                    <a:lumMod val="50000"/>
                  </a:schemeClr>
                </a:solidFill>
              </a:rPr>
              <a:t>         {"strike":125.0,"pBidPx":"0.95","pAskPx":"1.70","putDelta":"-11.60%"}</a:t>
            </a:r>
            <a:endParaRPr lang="en-US" sz="1600" dirty="0"/>
          </a:p>
          <a:p>
            <a:r>
              <a:rPr lang="en-US" sz="1600" dirty="0"/>
              <a:t>New daily data is always available on ORATS server</a:t>
            </a:r>
          </a:p>
          <a:p>
            <a:r>
              <a:rPr lang="en-US" sz="1600" dirty="0"/>
              <a:t>The simulation runs from the earliest day (Start Date) to the most recent date (End Date). </a:t>
            </a:r>
            <a:br>
              <a:rPr lang="en-US" sz="1600" dirty="0"/>
            </a:br>
            <a:r>
              <a:rPr lang="en-US" sz="1600" dirty="0"/>
              <a:t>Both are defined in rules.json</a:t>
            </a:r>
          </a:p>
          <a:p>
            <a:r>
              <a:rPr lang="en-US" sz="1600" dirty="0"/>
              <a:t>When sim is running, each date it will read the </a:t>
            </a:r>
            <a:r>
              <a:rPr lang="en-US" sz="1600" noProof="1"/>
              <a:t>json</a:t>
            </a:r>
            <a:r>
              <a:rPr lang="en-US" sz="1600" dirty="0"/>
              <a:t> file of that date.</a:t>
            </a:r>
          </a:p>
          <a:p>
            <a:r>
              <a:rPr lang="en-US" sz="1600" dirty="0"/>
              <a:t>The next day the old data is overwritten (discard).</a:t>
            </a:r>
          </a:p>
          <a:p>
            <a:endParaRPr lang="en-US" sz="1600" dirty="0"/>
          </a:p>
        </p:txBody>
      </p:sp>
    </p:spTree>
    <p:extLst>
      <p:ext uri="{BB962C8B-B14F-4D97-AF65-F5344CB8AC3E}">
        <p14:creationId xmlns:p14="http://schemas.microsoft.com/office/powerpoint/2010/main" val="368986920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B7BE74D-8BC3-B3BE-8888-C8C9C9A9DA2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8F64305-0400-0D12-115E-801A3544637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58365" y="171245"/>
            <a:ext cx="10515600" cy="469735"/>
          </a:xfrm>
        </p:spPr>
        <p:txBody>
          <a:bodyPr>
            <a:normAutofit fontScale="90000"/>
          </a:bodyPr>
          <a:lstStyle/>
          <a:p>
            <a:r>
              <a:rPr lang="en-US" b="1" noProof="1">
                <a:solidFill>
                  <a:srgbClr val="002060"/>
                </a:solidFill>
              </a:rPr>
              <a:t>Yahoo.py</a:t>
            </a:r>
            <a:endParaRPr lang="en-US" b="1" dirty="0">
              <a:solidFill>
                <a:srgbClr val="002060"/>
              </a:solidFill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3A80BE7-F916-DF03-A2D3-BF18C186CC3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58364" y="805759"/>
            <a:ext cx="11528835" cy="5880996"/>
          </a:xfrm>
        </p:spPr>
        <p:txBody>
          <a:bodyPr wrap="none">
            <a:noAutofit/>
          </a:bodyPr>
          <a:lstStyle/>
          <a:p>
            <a:r>
              <a:rPr lang="en-US" sz="1600" dirty="0"/>
              <a:t>Run yahoo.py (download csv files from Yahoo.com to c:\option_trading\ticker_data\TQQQ.csv)</a:t>
            </a:r>
          </a:p>
          <a:p>
            <a:r>
              <a:rPr lang="en-US" sz="1600" dirty="0"/>
              <a:t>Yahoo Finance original format includes</a:t>
            </a:r>
            <a:br>
              <a:rPr lang="en-US" sz="1600" dirty="0"/>
            </a:br>
            <a:r>
              <a:rPr lang="en-US" sz="1600" dirty="0"/>
              <a:t>splits:</a:t>
            </a:r>
          </a:p>
          <a:p>
            <a:r>
              <a:rPr lang="en-US" sz="1600" dirty="0"/>
              <a:t>Their close is our Adjusted Close (AC)</a:t>
            </a:r>
          </a:p>
          <a:p>
            <a:r>
              <a:rPr lang="en-US" sz="1600" dirty="0"/>
              <a:t>To find the split impact on the unadjusted close (UAC), on the split day recalculate the unadjusted close of all the prior dates:</a:t>
            </a:r>
            <a:br>
              <a:rPr lang="en-US" sz="1600" dirty="0"/>
            </a:br>
            <a:r>
              <a:rPr lang="en-US" sz="1600" dirty="0"/>
              <a:t>UAC</a:t>
            </a:r>
            <a:r>
              <a:rPr lang="en-US" sz="1600" i="1" dirty="0"/>
              <a:t>(</a:t>
            </a:r>
            <a:r>
              <a:rPr lang="en-US" sz="1600" i="1" dirty="0">
                <a:latin typeface="Arial" panose="020B0604020202020204" pitchFamily="34" charset="0"/>
                <a:cs typeface="Arial" panose="020B0604020202020204" pitchFamily="34" charset="0"/>
              </a:rPr>
              <a:t>d</a:t>
            </a:r>
            <a:r>
              <a:rPr lang="en-US" sz="1600" i="1" dirty="0"/>
              <a:t>) </a:t>
            </a:r>
            <a:r>
              <a:rPr lang="en-US" sz="1600" dirty="0"/>
              <a:t>= AC x 2 where 2 is the split ratio, and </a:t>
            </a:r>
            <a:r>
              <a:rPr lang="en-US" sz="1600" i="1" dirty="0"/>
              <a:t>(</a:t>
            </a:r>
            <a:r>
              <a:rPr lang="en-US" sz="1600" i="1" dirty="0">
                <a:latin typeface="Arial" panose="020B0604020202020204" pitchFamily="34" charset="0"/>
                <a:cs typeface="Arial" panose="020B0604020202020204" pitchFamily="34" charset="0"/>
              </a:rPr>
              <a:t>d</a:t>
            </a:r>
            <a:r>
              <a:rPr lang="en-US" sz="1600" i="1" dirty="0"/>
              <a:t>)</a:t>
            </a:r>
            <a:r>
              <a:rPr lang="en-US" sz="1600" dirty="0"/>
              <a:t> is any date prior to the split date.</a:t>
            </a:r>
          </a:p>
          <a:p>
            <a:endParaRPr lang="en-US" sz="1600" dirty="0"/>
          </a:p>
          <a:p>
            <a:r>
              <a:rPr lang="en-US" sz="1600" dirty="0"/>
              <a:t>Yahoo also provides “$ Dividends”:</a:t>
            </a:r>
          </a:p>
          <a:p>
            <a:endParaRPr lang="en-US" sz="1600" dirty="0"/>
          </a:p>
          <a:p>
            <a:r>
              <a:rPr lang="en-US" sz="1600" dirty="0"/>
              <a:t>To find the impact of the dividend on the unadjusted close (UAC), on the dividend day recalculate the unadjusted close of all the prior dates:</a:t>
            </a:r>
            <a:br>
              <a:rPr lang="en-US" sz="1600" dirty="0"/>
            </a:br>
            <a:r>
              <a:rPr lang="en-US" sz="1600" noProof="1"/>
              <a:t>DivRatio = (Close_price_before_dividend - Dividend_amount) / Close_price_before_dividend.</a:t>
            </a:r>
            <a:br>
              <a:rPr lang="en-US" sz="1600" noProof="1"/>
            </a:br>
            <a:r>
              <a:rPr lang="en-US" sz="1600" noProof="1"/>
              <a:t>= (51.256 – 0.049) / 51.256 = 0.999044.</a:t>
            </a:r>
            <a:br>
              <a:rPr lang="en-US" sz="1600" dirty="0"/>
            </a:br>
            <a:r>
              <a:rPr lang="en-US" sz="1600" dirty="0"/>
              <a:t>UAC</a:t>
            </a:r>
            <a:r>
              <a:rPr lang="en-US" sz="1600" i="1" dirty="0"/>
              <a:t>(</a:t>
            </a:r>
            <a:r>
              <a:rPr lang="en-US" sz="1600" i="1" dirty="0">
                <a:latin typeface="Arial" panose="020B0604020202020204" pitchFamily="34" charset="0"/>
                <a:cs typeface="Arial" panose="020B0604020202020204" pitchFamily="34" charset="0"/>
              </a:rPr>
              <a:t>d</a:t>
            </a:r>
            <a:r>
              <a:rPr lang="en-US" sz="1600" i="1" dirty="0"/>
              <a:t>)</a:t>
            </a:r>
            <a:r>
              <a:rPr lang="en-US" sz="1600" dirty="0"/>
              <a:t> = AC / </a:t>
            </a:r>
            <a:r>
              <a:rPr lang="en-US" sz="1600" noProof="1"/>
              <a:t>DivRatio</a:t>
            </a:r>
            <a:r>
              <a:rPr lang="en-US" sz="1600" dirty="0"/>
              <a:t> where </a:t>
            </a:r>
            <a:r>
              <a:rPr lang="en-US" sz="1600" noProof="1"/>
              <a:t>DivRatio</a:t>
            </a:r>
            <a:r>
              <a:rPr lang="en-US" sz="1600" dirty="0"/>
              <a:t> is the dividend ratio, and </a:t>
            </a:r>
            <a:r>
              <a:rPr lang="en-US" sz="1600" i="1" dirty="0"/>
              <a:t>(</a:t>
            </a:r>
            <a:r>
              <a:rPr lang="en-US" sz="1600" i="1" dirty="0">
                <a:latin typeface="Arial" panose="020B0604020202020204" pitchFamily="34" charset="0"/>
                <a:cs typeface="Arial" panose="020B0604020202020204" pitchFamily="34" charset="0"/>
              </a:rPr>
              <a:t>d</a:t>
            </a:r>
            <a:r>
              <a:rPr lang="en-US" sz="1600" i="1" dirty="0"/>
              <a:t>)</a:t>
            </a:r>
            <a:r>
              <a:rPr lang="en-US" sz="1600" dirty="0"/>
              <a:t> is any date prior to the dividend date.</a:t>
            </a:r>
            <a:br>
              <a:rPr lang="en-US" sz="1600" dirty="0"/>
            </a:br>
            <a:r>
              <a:rPr lang="en-US" sz="1600" dirty="0"/>
              <a:t>If later, at 11/20/2025, the 2:1 split will change the UAC</a:t>
            </a:r>
            <a:r>
              <a:rPr lang="en-US" sz="1600" i="1" dirty="0"/>
              <a:t>(</a:t>
            </a:r>
            <a:r>
              <a:rPr lang="en-US" sz="1600" i="1" dirty="0">
                <a:latin typeface="Arial" panose="020B0604020202020204" pitchFamily="34" charset="0"/>
                <a:cs typeface="Arial" panose="020B0604020202020204" pitchFamily="34" charset="0"/>
              </a:rPr>
              <a:t>d</a:t>
            </a:r>
            <a:r>
              <a:rPr lang="en-US" sz="1600" i="1" dirty="0"/>
              <a:t>)</a:t>
            </a:r>
            <a:r>
              <a:rPr lang="en-US" sz="1600" dirty="0"/>
              <a:t>  again.</a:t>
            </a:r>
          </a:p>
          <a:p>
            <a:r>
              <a:rPr lang="en-US" sz="1600" dirty="0"/>
              <a:t>The resulted TQQQ.csv will be:</a:t>
            </a:r>
            <a:br>
              <a:rPr lang="en-US" sz="1600" dirty="0"/>
            </a:br>
            <a:r>
              <a:rPr lang="en-US" sz="1600" dirty="0"/>
              <a:t>Notice that the Close above:</a:t>
            </a:r>
            <a:br>
              <a:rPr lang="en-US" sz="1600" dirty="0"/>
            </a:br>
            <a:r>
              <a:rPr lang="en-US" sz="1600" dirty="0"/>
              <a:t>(50.025, 46.45, 47.48)</a:t>
            </a:r>
            <a:br>
              <a:rPr lang="en-US" sz="1600" dirty="0"/>
            </a:br>
            <a:r>
              <a:rPr lang="en-US" sz="1600" dirty="0"/>
              <a:t>Is saved as </a:t>
            </a:r>
            <a:r>
              <a:rPr lang="en-US" sz="1600" noProof="1"/>
              <a:t>Adj_Close</a:t>
            </a:r>
            <a:r>
              <a:rPr lang="en-US" sz="1600" dirty="0"/>
              <a:t>:</a:t>
            </a:r>
            <a:br>
              <a:rPr lang="en-US" sz="1600" dirty="0"/>
            </a:br>
            <a:r>
              <a:rPr lang="en-US" sz="1600" dirty="0"/>
              <a:t> </a:t>
            </a:r>
            <a:br>
              <a:rPr lang="en-US" sz="1600" dirty="0"/>
            </a:br>
            <a:br>
              <a:rPr lang="en-US" sz="1600" dirty="0"/>
            </a:br>
            <a:endParaRPr lang="en-US" sz="1600" dirty="0"/>
          </a:p>
          <a:p>
            <a:endParaRPr lang="en-US" sz="1600" dirty="0"/>
          </a:p>
        </p:txBody>
      </p:sp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79FDFA99-C6EB-778D-1F21-6BF59DCF92F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211641420"/>
              </p:ext>
            </p:extLst>
          </p:nvPr>
        </p:nvGraphicFramePr>
        <p:xfrm>
          <a:off x="4484914" y="1149532"/>
          <a:ext cx="5974080" cy="721995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766355">
                  <a:extLst>
                    <a:ext uri="{9D8B030D-6E8A-4147-A177-3AD203B41FA5}">
                      <a16:colId xmlns:a16="http://schemas.microsoft.com/office/drawing/2014/main" val="2033242664"/>
                    </a:ext>
                  </a:extLst>
                </a:gridCol>
                <a:gridCol w="768610">
                  <a:extLst>
                    <a:ext uri="{9D8B030D-6E8A-4147-A177-3AD203B41FA5}">
                      <a16:colId xmlns:a16="http://schemas.microsoft.com/office/drawing/2014/main" val="2687220555"/>
                    </a:ext>
                  </a:extLst>
                </a:gridCol>
                <a:gridCol w="654029">
                  <a:extLst>
                    <a:ext uri="{9D8B030D-6E8A-4147-A177-3AD203B41FA5}">
                      <a16:colId xmlns:a16="http://schemas.microsoft.com/office/drawing/2014/main" val="3112399319"/>
                    </a:ext>
                  </a:extLst>
                </a:gridCol>
                <a:gridCol w="654029">
                  <a:extLst>
                    <a:ext uri="{9D8B030D-6E8A-4147-A177-3AD203B41FA5}">
                      <a16:colId xmlns:a16="http://schemas.microsoft.com/office/drawing/2014/main" val="4223638450"/>
                    </a:ext>
                  </a:extLst>
                </a:gridCol>
                <a:gridCol w="654029">
                  <a:extLst>
                    <a:ext uri="{9D8B030D-6E8A-4147-A177-3AD203B41FA5}">
                      <a16:colId xmlns:a16="http://schemas.microsoft.com/office/drawing/2014/main" val="3467624918"/>
                    </a:ext>
                  </a:extLst>
                </a:gridCol>
                <a:gridCol w="707419">
                  <a:extLst>
                    <a:ext uri="{9D8B030D-6E8A-4147-A177-3AD203B41FA5}">
                      <a16:colId xmlns:a16="http://schemas.microsoft.com/office/drawing/2014/main" val="1532794855"/>
                    </a:ext>
                  </a:extLst>
                </a:gridCol>
                <a:gridCol w="654029">
                  <a:extLst>
                    <a:ext uri="{9D8B030D-6E8A-4147-A177-3AD203B41FA5}">
                      <a16:colId xmlns:a16="http://schemas.microsoft.com/office/drawing/2014/main" val="4165107490"/>
                    </a:ext>
                  </a:extLst>
                </a:gridCol>
                <a:gridCol w="1115580">
                  <a:extLst>
                    <a:ext uri="{9D8B030D-6E8A-4147-A177-3AD203B41FA5}">
                      <a16:colId xmlns:a16="http://schemas.microsoft.com/office/drawing/2014/main" val="2289655924"/>
                    </a:ext>
                  </a:extLst>
                </a:gridCol>
              </a:tblGrid>
              <a:tr h="19050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Date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Open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High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Low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Close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Volume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Dividends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Stock Splits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/>
                </a:tc>
                <a:extLst>
                  <a:ext uri="{0D108BD9-81ED-4DB2-BD59-A6C34878D82A}">
                    <a16:rowId xmlns:a16="http://schemas.microsoft.com/office/drawing/2014/main" val="4119400880"/>
                  </a:ext>
                </a:extLst>
              </a:tr>
              <a:tr h="35433"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100" u="none" strike="noStrike" dirty="0">
                          <a:effectLst/>
                        </a:rPr>
                        <a:t>11/19/2025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100" u="none" strike="noStrike" dirty="0">
                          <a:effectLst/>
                        </a:rPr>
                        <a:t>49.325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100" u="none" strike="noStrike" dirty="0">
                          <a:effectLst/>
                        </a:rPr>
                        <a:t>51.575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100" u="none" strike="noStrike" dirty="0">
                          <a:effectLst/>
                        </a:rPr>
                        <a:t>48.715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100" u="none" strike="noStrike" dirty="0">
                          <a:effectLst/>
                        </a:rPr>
                        <a:t>50.025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100" u="none" strike="noStrike" dirty="0">
                          <a:effectLst/>
                        </a:rPr>
                        <a:t>184263600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100" u="none" strike="noStrike" dirty="0">
                          <a:effectLst/>
                        </a:rPr>
                        <a:t>0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100" u="none" strike="noStrike" dirty="0">
                          <a:effectLst/>
                        </a:rPr>
                        <a:t>0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/>
                </a:tc>
                <a:extLst>
                  <a:ext uri="{0D108BD9-81ED-4DB2-BD59-A6C34878D82A}">
                    <a16:rowId xmlns:a16="http://schemas.microsoft.com/office/drawing/2014/main" val="828651933"/>
                  </a:ext>
                </a:extLst>
              </a:tr>
              <a:tr h="141732"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11/20/2025</a:t>
                      </a:r>
                      <a:endParaRPr lang="en-US" sz="1100" b="0" i="0" u="none" strike="noStrike">
                        <a:solidFill>
                          <a:srgbClr val="FF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52.95</a:t>
                      </a:r>
                      <a:endParaRPr lang="en-US" sz="1100" b="0" i="0" u="none" strike="noStrike">
                        <a:solidFill>
                          <a:srgbClr val="FF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53.54</a:t>
                      </a:r>
                      <a:endParaRPr lang="en-US" sz="1100" b="0" i="0" u="none" strike="noStrike">
                        <a:solidFill>
                          <a:srgbClr val="FF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46.23</a:t>
                      </a:r>
                      <a:endParaRPr lang="en-US" sz="1100" b="0" i="0" u="none" strike="noStrike">
                        <a:solidFill>
                          <a:srgbClr val="FF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100" u="none" strike="noStrike" dirty="0">
                          <a:effectLst/>
                        </a:rPr>
                        <a:t>46.45</a:t>
                      </a:r>
                      <a:endParaRPr lang="en-US" sz="1100" b="0" i="0" u="none" strike="noStrike" dirty="0">
                        <a:solidFill>
                          <a:srgbClr val="FF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100" u="none" strike="noStrike" dirty="0">
                          <a:effectLst/>
                        </a:rPr>
                        <a:t>178246300</a:t>
                      </a:r>
                      <a:endParaRPr lang="en-US" sz="1100" b="0" i="0" u="none" strike="noStrike" dirty="0">
                        <a:solidFill>
                          <a:srgbClr val="FF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100" u="none" strike="noStrike" dirty="0">
                          <a:effectLst/>
                        </a:rPr>
                        <a:t>0</a:t>
                      </a:r>
                      <a:endParaRPr lang="en-US" sz="1100" b="0" i="0" u="none" strike="noStrike" dirty="0">
                        <a:solidFill>
                          <a:srgbClr val="FF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100" b="1" u="none" strike="noStrike" dirty="0">
                          <a:solidFill>
                            <a:srgbClr val="FF0000"/>
                          </a:solidFill>
                          <a:effectLst/>
                          <a:highlight>
                            <a:srgbClr val="FFFF00"/>
                          </a:highlight>
                        </a:rPr>
                        <a:t>2</a:t>
                      </a:r>
                      <a:endParaRPr lang="en-US" sz="1100" b="1" i="0" u="none" strike="noStrike" dirty="0">
                        <a:solidFill>
                          <a:srgbClr val="FF0000"/>
                        </a:solidFill>
                        <a:effectLst/>
                        <a:highlight>
                          <a:srgbClr val="FFFF00"/>
                        </a:highlight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/>
                </a:tc>
                <a:extLst>
                  <a:ext uri="{0D108BD9-81ED-4DB2-BD59-A6C34878D82A}">
                    <a16:rowId xmlns:a16="http://schemas.microsoft.com/office/drawing/2014/main" val="193404934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11/21/2025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46.85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49.1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45.24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47.48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179618600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0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100" u="none" strike="noStrike" dirty="0">
                          <a:effectLst/>
                        </a:rPr>
                        <a:t>0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/>
                </a:tc>
                <a:extLst>
                  <a:ext uri="{0D108BD9-81ED-4DB2-BD59-A6C34878D82A}">
                    <a16:rowId xmlns:a16="http://schemas.microsoft.com/office/drawing/2014/main" val="1091416025"/>
                  </a:ext>
                </a:extLst>
              </a:tr>
            </a:tbl>
          </a:graphicData>
        </a:graphic>
      </p:graphicFrame>
      <p:graphicFrame>
        <p:nvGraphicFramePr>
          <p:cNvPr id="6" name="Table 5">
            <a:extLst>
              <a:ext uri="{FF2B5EF4-FFF2-40B4-BE49-F238E27FC236}">
                <a16:creationId xmlns:a16="http://schemas.microsoft.com/office/drawing/2014/main" id="{0F605412-17D3-F21B-32CE-F98B05CEA7D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217494039"/>
              </p:ext>
            </p:extLst>
          </p:nvPr>
        </p:nvGraphicFramePr>
        <p:xfrm>
          <a:off x="4484914" y="2707005"/>
          <a:ext cx="5974080" cy="721995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766355">
                  <a:extLst>
                    <a:ext uri="{9D8B030D-6E8A-4147-A177-3AD203B41FA5}">
                      <a16:colId xmlns:a16="http://schemas.microsoft.com/office/drawing/2014/main" val="2033242664"/>
                    </a:ext>
                  </a:extLst>
                </a:gridCol>
                <a:gridCol w="768610">
                  <a:extLst>
                    <a:ext uri="{9D8B030D-6E8A-4147-A177-3AD203B41FA5}">
                      <a16:colId xmlns:a16="http://schemas.microsoft.com/office/drawing/2014/main" val="2687220555"/>
                    </a:ext>
                  </a:extLst>
                </a:gridCol>
                <a:gridCol w="654029">
                  <a:extLst>
                    <a:ext uri="{9D8B030D-6E8A-4147-A177-3AD203B41FA5}">
                      <a16:colId xmlns:a16="http://schemas.microsoft.com/office/drawing/2014/main" val="3112399319"/>
                    </a:ext>
                  </a:extLst>
                </a:gridCol>
                <a:gridCol w="654029">
                  <a:extLst>
                    <a:ext uri="{9D8B030D-6E8A-4147-A177-3AD203B41FA5}">
                      <a16:colId xmlns:a16="http://schemas.microsoft.com/office/drawing/2014/main" val="4223638450"/>
                    </a:ext>
                  </a:extLst>
                </a:gridCol>
                <a:gridCol w="654029">
                  <a:extLst>
                    <a:ext uri="{9D8B030D-6E8A-4147-A177-3AD203B41FA5}">
                      <a16:colId xmlns:a16="http://schemas.microsoft.com/office/drawing/2014/main" val="3467624918"/>
                    </a:ext>
                  </a:extLst>
                </a:gridCol>
                <a:gridCol w="707419">
                  <a:extLst>
                    <a:ext uri="{9D8B030D-6E8A-4147-A177-3AD203B41FA5}">
                      <a16:colId xmlns:a16="http://schemas.microsoft.com/office/drawing/2014/main" val="1532794855"/>
                    </a:ext>
                  </a:extLst>
                </a:gridCol>
                <a:gridCol w="654029">
                  <a:extLst>
                    <a:ext uri="{9D8B030D-6E8A-4147-A177-3AD203B41FA5}">
                      <a16:colId xmlns:a16="http://schemas.microsoft.com/office/drawing/2014/main" val="4165107490"/>
                    </a:ext>
                  </a:extLst>
                </a:gridCol>
                <a:gridCol w="1115580">
                  <a:extLst>
                    <a:ext uri="{9D8B030D-6E8A-4147-A177-3AD203B41FA5}">
                      <a16:colId xmlns:a16="http://schemas.microsoft.com/office/drawing/2014/main" val="2289655924"/>
                    </a:ext>
                  </a:extLst>
                </a:gridCol>
              </a:tblGrid>
              <a:tr h="19050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Date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Open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High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Low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Close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Volume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Dividends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Stock Splits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/>
                </a:tc>
                <a:extLst>
                  <a:ext uri="{0D108BD9-81ED-4DB2-BD59-A6C34878D82A}">
                    <a16:rowId xmlns:a16="http://schemas.microsoft.com/office/drawing/2014/main" val="4119400880"/>
                  </a:ext>
                </a:extLst>
              </a:tr>
              <a:tr h="35433"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100" u="none" strike="noStrike" dirty="0">
                          <a:effectLst/>
                        </a:rPr>
                        <a:t>9/23/2025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52.34496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52.39991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50.9413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51.256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99930600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0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0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/>
                </a:tc>
                <a:extLst>
                  <a:ext uri="{0D108BD9-81ED-4DB2-BD59-A6C34878D82A}">
                    <a16:rowId xmlns:a16="http://schemas.microsoft.com/office/drawing/2014/main" val="828651933"/>
                  </a:ext>
                </a:extLst>
              </a:tr>
              <a:tr h="141732"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9/24/2025</a:t>
                      </a:r>
                      <a:endParaRPr lang="en-US" sz="1100" b="0" i="0" u="none" strike="noStrike">
                        <a:solidFill>
                          <a:srgbClr val="FF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100" u="none" strike="noStrike" dirty="0">
                          <a:effectLst/>
                        </a:rPr>
                        <a:t>51.605</a:t>
                      </a:r>
                      <a:endParaRPr lang="en-US" sz="1100" b="0" i="0" u="none" strike="noStrike" dirty="0">
                        <a:solidFill>
                          <a:srgbClr val="FF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100" u="none" strike="noStrike" dirty="0">
                          <a:effectLst/>
                        </a:rPr>
                        <a:t>51.68</a:t>
                      </a:r>
                      <a:endParaRPr lang="en-US" sz="1100" b="0" i="0" u="none" strike="noStrike" dirty="0">
                        <a:solidFill>
                          <a:srgbClr val="FF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100" u="none" strike="noStrike" dirty="0">
                          <a:effectLst/>
                        </a:rPr>
                        <a:t>49.995</a:t>
                      </a:r>
                      <a:endParaRPr lang="en-US" sz="1100" b="0" i="0" u="none" strike="noStrike" dirty="0">
                        <a:solidFill>
                          <a:srgbClr val="FF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100" u="none" strike="noStrike" dirty="0">
                          <a:effectLst/>
                        </a:rPr>
                        <a:t>50.705</a:t>
                      </a:r>
                      <a:endParaRPr lang="en-US" sz="1100" b="0" i="0" u="none" strike="noStrike" dirty="0">
                        <a:solidFill>
                          <a:srgbClr val="FF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101055600</a:t>
                      </a:r>
                      <a:endParaRPr lang="en-US" sz="1100" b="0" i="0" u="none" strike="noStrike">
                        <a:solidFill>
                          <a:srgbClr val="FF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100" b="1" u="none" strike="noStrike" dirty="0">
                          <a:solidFill>
                            <a:srgbClr val="FF0000"/>
                          </a:solidFill>
                          <a:effectLst/>
                          <a:highlight>
                            <a:srgbClr val="FFFF00"/>
                          </a:highlight>
                        </a:rPr>
                        <a:t>0.049</a:t>
                      </a:r>
                      <a:endParaRPr lang="en-US" sz="1100" b="1" i="0" u="none" strike="noStrike" dirty="0">
                        <a:solidFill>
                          <a:srgbClr val="FF0000"/>
                        </a:solidFill>
                        <a:effectLst/>
                        <a:highlight>
                          <a:srgbClr val="FFFF00"/>
                        </a:highlight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100" u="none" strike="noStrike" dirty="0">
                          <a:effectLst/>
                        </a:rPr>
                        <a:t>0</a:t>
                      </a:r>
                      <a:endParaRPr lang="en-US" sz="1100" b="0" i="0" u="none" strike="noStrike" dirty="0">
                        <a:solidFill>
                          <a:srgbClr val="FF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/>
                </a:tc>
                <a:extLst>
                  <a:ext uri="{0D108BD9-81ED-4DB2-BD59-A6C34878D82A}">
                    <a16:rowId xmlns:a16="http://schemas.microsoft.com/office/drawing/2014/main" val="193404934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9/25/2025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49.7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50.435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48.75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50.025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100" u="none" strike="noStrike" dirty="0">
                          <a:effectLst/>
                        </a:rPr>
                        <a:t>122820600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100" u="none" strike="noStrike" dirty="0">
                          <a:effectLst/>
                        </a:rPr>
                        <a:t>0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100" u="none" strike="noStrike" dirty="0">
                          <a:effectLst/>
                        </a:rPr>
                        <a:t>0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/>
                </a:tc>
                <a:extLst>
                  <a:ext uri="{0D108BD9-81ED-4DB2-BD59-A6C34878D82A}">
                    <a16:rowId xmlns:a16="http://schemas.microsoft.com/office/drawing/2014/main" val="1091416025"/>
                  </a:ext>
                </a:extLst>
              </a:tr>
            </a:tbl>
          </a:graphicData>
        </a:graphic>
      </p:graphicFrame>
      <p:graphicFrame>
        <p:nvGraphicFramePr>
          <p:cNvPr id="8" name="Table 7">
            <a:extLst>
              <a:ext uri="{FF2B5EF4-FFF2-40B4-BE49-F238E27FC236}">
                <a16:creationId xmlns:a16="http://schemas.microsoft.com/office/drawing/2014/main" id="{04725A1D-5073-F967-7CD8-979A8F23B5E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359468100"/>
              </p:ext>
            </p:extLst>
          </p:nvPr>
        </p:nvGraphicFramePr>
        <p:xfrm>
          <a:off x="4484914" y="5695471"/>
          <a:ext cx="5852160" cy="76200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749300">
                  <a:extLst>
                    <a:ext uri="{9D8B030D-6E8A-4147-A177-3AD203B41FA5}">
                      <a16:colId xmlns:a16="http://schemas.microsoft.com/office/drawing/2014/main" val="2370773121"/>
                    </a:ext>
                  </a:extLst>
                </a:gridCol>
                <a:gridCol w="705032">
                  <a:extLst>
                    <a:ext uri="{9D8B030D-6E8A-4147-A177-3AD203B41FA5}">
                      <a16:colId xmlns:a16="http://schemas.microsoft.com/office/drawing/2014/main" val="2603356998"/>
                    </a:ext>
                  </a:extLst>
                </a:gridCol>
                <a:gridCol w="775063">
                  <a:extLst>
                    <a:ext uri="{9D8B030D-6E8A-4147-A177-3AD203B41FA5}">
                      <a16:colId xmlns:a16="http://schemas.microsoft.com/office/drawing/2014/main" val="3873826684"/>
                    </a:ext>
                  </a:extLst>
                </a:gridCol>
                <a:gridCol w="661851">
                  <a:extLst>
                    <a:ext uri="{9D8B030D-6E8A-4147-A177-3AD203B41FA5}">
                      <a16:colId xmlns:a16="http://schemas.microsoft.com/office/drawing/2014/main" val="367885362"/>
                    </a:ext>
                  </a:extLst>
                </a:gridCol>
                <a:gridCol w="705394">
                  <a:extLst>
                    <a:ext uri="{9D8B030D-6E8A-4147-A177-3AD203B41FA5}">
                      <a16:colId xmlns:a16="http://schemas.microsoft.com/office/drawing/2014/main" val="314770450"/>
                    </a:ext>
                  </a:extLst>
                </a:gridCol>
                <a:gridCol w="705394">
                  <a:extLst>
                    <a:ext uri="{9D8B030D-6E8A-4147-A177-3AD203B41FA5}">
                      <a16:colId xmlns:a16="http://schemas.microsoft.com/office/drawing/2014/main" val="2725232399"/>
                    </a:ext>
                  </a:extLst>
                </a:gridCol>
                <a:gridCol w="722812">
                  <a:extLst>
                    <a:ext uri="{9D8B030D-6E8A-4147-A177-3AD203B41FA5}">
                      <a16:colId xmlns:a16="http://schemas.microsoft.com/office/drawing/2014/main" val="3547895199"/>
                    </a:ext>
                  </a:extLst>
                </a:gridCol>
                <a:gridCol w="827314">
                  <a:extLst>
                    <a:ext uri="{9D8B030D-6E8A-4147-A177-3AD203B41FA5}">
                      <a16:colId xmlns:a16="http://schemas.microsoft.com/office/drawing/2014/main" val="3943219054"/>
                    </a:ext>
                  </a:extLst>
                </a:gridCol>
              </a:tblGrid>
              <a:tr h="19050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Date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Adj_Close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Close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High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Low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Open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Dividends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Split_Ratio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/>
                </a:tc>
                <a:extLst>
                  <a:ext uri="{0D108BD9-81ED-4DB2-BD59-A6C34878D82A}">
                    <a16:rowId xmlns:a16="http://schemas.microsoft.com/office/drawing/2014/main" val="2944413431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100" u="none" strike="noStrike" dirty="0">
                          <a:effectLst/>
                        </a:rPr>
                        <a:t>11/19/2025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50.025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100.05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103.15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97.43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98.65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0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0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/>
                </a:tc>
                <a:extLst>
                  <a:ext uri="{0D108BD9-81ED-4DB2-BD59-A6C34878D82A}">
                    <a16:rowId xmlns:a16="http://schemas.microsoft.com/office/drawing/2014/main" val="1416221290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100" u="none" strike="noStrike" dirty="0">
                          <a:effectLst/>
                        </a:rPr>
                        <a:t>11/20/2025</a:t>
                      </a:r>
                      <a:endParaRPr lang="en-US" sz="1100" b="0" i="0" u="none" strike="noStrike" dirty="0">
                        <a:solidFill>
                          <a:srgbClr val="FF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100" u="none" strike="noStrike" dirty="0">
                          <a:effectLst/>
                        </a:rPr>
                        <a:t>46.45</a:t>
                      </a:r>
                      <a:endParaRPr lang="en-US" sz="1100" b="0" i="0" u="none" strike="noStrike" dirty="0">
                        <a:solidFill>
                          <a:srgbClr val="FF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46.45</a:t>
                      </a:r>
                      <a:endParaRPr lang="en-US" sz="1100" b="0" i="0" u="none" strike="noStrike">
                        <a:solidFill>
                          <a:srgbClr val="FF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53.54</a:t>
                      </a:r>
                      <a:endParaRPr lang="en-US" sz="1100" b="0" i="0" u="none" strike="noStrike">
                        <a:solidFill>
                          <a:srgbClr val="FF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46.23</a:t>
                      </a:r>
                      <a:endParaRPr lang="en-US" sz="1100" b="0" i="0" u="none" strike="noStrike">
                        <a:solidFill>
                          <a:srgbClr val="FF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52.95</a:t>
                      </a:r>
                      <a:endParaRPr lang="en-US" sz="1100" b="0" i="0" u="none" strike="noStrike">
                        <a:solidFill>
                          <a:srgbClr val="FF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0</a:t>
                      </a:r>
                      <a:endParaRPr lang="en-US" sz="1100" b="0" i="0" u="none" strike="noStrike">
                        <a:solidFill>
                          <a:srgbClr val="FF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marL="0" algn="r" defTabSz="914400" rtl="0" eaLnBrk="1" fontAlgn="b" latinLnBrk="0" hangingPunct="1">
                        <a:buNone/>
                      </a:pPr>
                      <a:r>
                        <a:rPr lang="en-US" sz="1100" b="1" u="none" strike="noStrike" kern="1200" dirty="0">
                          <a:solidFill>
                            <a:schemeClr val="dk1"/>
                          </a:solidFill>
                          <a:effectLst/>
                          <a:highlight>
                            <a:srgbClr val="FFFF00"/>
                          </a:highlight>
                          <a:latin typeface="+mn-lt"/>
                          <a:ea typeface="+mn-ea"/>
                          <a:cs typeface="+mn-cs"/>
                        </a:rPr>
                        <a:t>2</a:t>
                      </a:r>
                    </a:p>
                  </a:txBody>
                  <a:tcPr marL="9525" marR="9525" marT="9525" marB="0" anchor="b"/>
                </a:tc>
                <a:extLst>
                  <a:ext uri="{0D108BD9-81ED-4DB2-BD59-A6C34878D82A}">
                    <a16:rowId xmlns:a16="http://schemas.microsoft.com/office/drawing/2014/main" val="1911448783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11/21/2025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47.48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100" u="none" strike="noStrike" dirty="0">
                          <a:effectLst/>
                        </a:rPr>
                        <a:t>47.48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100" u="none" strike="noStrike" dirty="0">
                          <a:effectLst/>
                        </a:rPr>
                        <a:t>49.1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100" u="none" strike="noStrike" dirty="0">
                          <a:effectLst/>
                        </a:rPr>
                        <a:t>45.24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100" u="none" strike="noStrike" dirty="0">
                          <a:effectLst/>
                        </a:rPr>
                        <a:t>46.85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100" u="none" strike="noStrike" dirty="0">
                          <a:effectLst/>
                        </a:rPr>
                        <a:t>0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100" u="none" strike="noStrike" dirty="0">
                          <a:effectLst/>
                        </a:rPr>
                        <a:t>0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/>
                </a:tc>
                <a:extLst>
                  <a:ext uri="{0D108BD9-81ED-4DB2-BD59-A6C34878D82A}">
                    <a16:rowId xmlns:a16="http://schemas.microsoft.com/office/drawing/2014/main" val="3130262279"/>
                  </a:ext>
                </a:extLst>
              </a:tr>
            </a:tbl>
          </a:graphicData>
        </a:graphic>
      </p:graphicFrame>
      <p:graphicFrame>
        <p:nvGraphicFramePr>
          <p:cNvPr id="10" name="Table 9">
            <a:extLst>
              <a:ext uri="{FF2B5EF4-FFF2-40B4-BE49-F238E27FC236}">
                <a16:creationId xmlns:a16="http://schemas.microsoft.com/office/drawing/2014/main" id="{E912EC54-7285-4D2B-C50A-2786026466B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674502488"/>
              </p:ext>
            </p:extLst>
          </p:nvPr>
        </p:nvGraphicFramePr>
        <p:xfrm>
          <a:off x="4484914" y="4872578"/>
          <a:ext cx="5852160" cy="76200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749300">
                  <a:extLst>
                    <a:ext uri="{9D8B030D-6E8A-4147-A177-3AD203B41FA5}">
                      <a16:colId xmlns:a16="http://schemas.microsoft.com/office/drawing/2014/main" val="2370773121"/>
                    </a:ext>
                  </a:extLst>
                </a:gridCol>
                <a:gridCol w="705032">
                  <a:extLst>
                    <a:ext uri="{9D8B030D-6E8A-4147-A177-3AD203B41FA5}">
                      <a16:colId xmlns:a16="http://schemas.microsoft.com/office/drawing/2014/main" val="2603356998"/>
                    </a:ext>
                  </a:extLst>
                </a:gridCol>
                <a:gridCol w="775063">
                  <a:extLst>
                    <a:ext uri="{9D8B030D-6E8A-4147-A177-3AD203B41FA5}">
                      <a16:colId xmlns:a16="http://schemas.microsoft.com/office/drawing/2014/main" val="3873826684"/>
                    </a:ext>
                  </a:extLst>
                </a:gridCol>
                <a:gridCol w="661851">
                  <a:extLst>
                    <a:ext uri="{9D8B030D-6E8A-4147-A177-3AD203B41FA5}">
                      <a16:colId xmlns:a16="http://schemas.microsoft.com/office/drawing/2014/main" val="367885362"/>
                    </a:ext>
                  </a:extLst>
                </a:gridCol>
                <a:gridCol w="705394">
                  <a:extLst>
                    <a:ext uri="{9D8B030D-6E8A-4147-A177-3AD203B41FA5}">
                      <a16:colId xmlns:a16="http://schemas.microsoft.com/office/drawing/2014/main" val="314770450"/>
                    </a:ext>
                  </a:extLst>
                </a:gridCol>
                <a:gridCol w="705394">
                  <a:extLst>
                    <a:ext uri="{9D8B030D-6E8A-4147-A177-3AD203B41FA5}">
                      <a16:colId xmlns:a16="http://schemas.microsoft.com/office/drawing/2014/main" val="2725232399"/>
                    </a:ext>
                  </a:extLst>
                </a:gridCol>
                <a:gridCol w="722812">
                  <a:extLst>
                    <a:ext uri="{9D8B030D-6E8A-4147-A177-3AD203B41FA5}">
                      <a16:colId xmlns:a16="http://schemas.microsoft.com/office/drawing/2014/main" val="3547895199"/>
                    </a:ext>
                  </a:extLst>
                </a:gridCol>
                <a:gridCol w="827314">
                  <a:extLst>
                    <a:ext uri="{9D8B030D-6E8A-4147-A177-3AD203B41FA5}">
                      <a16:colId xmlns:a16="http://schemas.microsoft.com/office/drawing/2014/main" val="3943219054"/>
                    </a:ext>
                  </a:extLst>
                </a:gridCol>
              </a:tblGrid>
              <a:tr h="19050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Date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Adj_Close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Close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High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Low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Open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Dividends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Split_Ratio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/>
                </a:tc>
                <a:extLst>
                  <a:ext uri="{0D108BD9-81ED-4DB2-BD59-A6C34878D82A}">
                    <a16:rowId xmlns:a16="http://schemas.microsoft.com/office/drawing/2014/main" val="2944413431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100" u="none" strike="noStrike" dirty="0">
                          <a:effectLst/>
                        </a:rPr>
                        <a:t>9/23/2025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100" u="none" strike="noStrike" dirty="0">
                          <a:effectLst/>
                        </a:rPr>
                        <a:t>51.256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100" u="none" strike="noStrike" dirty="0">
                          <a:effectLst/>
                        </a:rPr>
                        <a:t>102.561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104.8499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101.9313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104.74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0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0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/>
                </a:tc>
                <a:extLst>
                  <a:ext uri="{0D108BD9-81ED-4DB2-BD59-A6C34878D82A}">
                    <a16:rowId xmlns:a16="http://schemas.microsoft.com/office/drawing/2014/main" val="1416221290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9/24/2025</a:t>
                      </a:r>
                      <a:endParaRPr lang="en-US" sz="1100" b="0" i="0" u="none" strike="noStrike">
                        <a:solidFill>
                          <a:srgbClr val="FF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50.705</a:t>
                      </a:r>
                      <a:endParaRPr lang="en-US" sz="1100" b="0" i="0" u="none" strike="noStrike">
                        <a:solidFill>
                          <a:srgbClr val="FF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100" u="none" strike="noStrike" dirty="0">
                          <a:effectLst/>
                        </a:rPr>
                        <a:t>101.41</a:t>
                      </a:r>
                      <a:endParaRPr lang="en-US" sz="1100" b="0" i="0" u="none" strike="noStrike" dirty="0">
                        <a:solidFill>
                          <a:srgbClr val="FF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100" u="none" strike="noStrike" dirty="0">
                          <a:effectLst/>
                        </a:rPr>
                        <a:t>103.36</a:t>
                      </a:r>
                      <a:endParaRPr lang="en-US" sz="1100" b="0" i="0" u="none" strike="noStrike" dirty="0">
                        <a:solidFill>
                          <a:srgbClr val="FF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100" u="none" strike="noStrike" dirty="0">
                          <a:effectLst/>
                        </a:rPr>
                        <a:t>99.99</a:t>
                      </a:r>
                      <a:endParaRPr lang="en-US" sz="1100" b="0" i="0" u="none" strike="noStrike" dirty="0">
                        <a:solidFill>
                          <a:srgbClr val="FF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103.21</a:t>
                      </a:r>
                      <a:endParaRPr lang="en-US" sz="1100" b="0" i="0" u="none" strike="noStrike">
                        <a:solidFill>
                          <a:srgbClr val="FF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100" b="1" u="none" strike="noStrike" dirty="0">
                          <a:effectLst/>
                          <a:highlight>
                            <a:srgbClr val="FFFF00"/>
                          </a:highlight>
                        </a:rPr>
                        <a:t>0.049</a:t>
                      </a:r>
                      <a:endParaRPr lang="en-US" sz="1100" b="1" i="0" u="none" strike="noStrike" dirty="0">
                        <a:solidFill>
                          <a:srgbClr val="FF0000"/>
                        </a:solidFill>
                        <a:effectLst/>
                        <a:highlight>
                          <a:srgbClr val="FFFF00"/>
                        </a:highlight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100" u="none" strike="noStrike" dirty="0">
                          <a:effectLst/>
                        </a:rPr>
                        <a:t>0</a:t>
                      </a:r>
                      <a:endParaRPr lang="en-US" sz="1100" b="0" i="0" u="none" strike="noStrike" dirty="0">
                        <a:solidFill>
                          <a:srgbClr val="FF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/>
                </a:tc>
                <a:extLst>
                  <a:ext uri="{0D108BD9-81ED-4DB2-BD59-A6C34878D82A}">
                    <a16:rowId xmlns:a16="http://schemas.microsoft.com/office/drawing/2014/main" val="1911448783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9/25/2025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50.025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100.05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100.87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97.5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100" u="none" strike="noStrike" dirty="0">
                          <a:effectLst/>
                        </a:rPr>
                        <a:t>99.4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100" u="none" strike="noStrike" dirty="0">
                          <a:effectLst/>
                        </a:rPr>
                        <a:t>0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/>
                </a:tc>
                <a:tc>
                  <a:txBody>
                    <a:bodyPr/>
                    <a:lstStyle/>
                    <a:p>
                      <a:pPr algn="r" fontAlgn="b">
                        <a:buNone/>
                      </a:pPr>
                      <a:r>
                        <a:rPr lang="en-US" sz="1100" u="none" strike="noStrike" dirty="0">
                          <a:effectLst/>
                        </a:rPr>
                        <a:t>0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/>
                </a:tc>
                <a:extLst>
                  <a:ext uri="{0D108BD9-81ED-4DB2-BD59-A6C34878D82A}">
                    <a16:rowId xmlns:a16="http://schemas.microsoft.com/office/drawing/2014/main" val="3130262279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62659860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8CE4BA8-60AB-CDC9-BCD5-3A0C04046C4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BBB0F7D-1FB7-5B10-EAA1-2A84C25E16D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58365" y="171245"/>
            <a:ext cx="10515600" cy="469735"/>
          </a:xfrm>
        </p:spPr>
        <p:txBody>
          <a:bodyPr>
            <a:normAutofit fontScale="90000"/>
          </a:bodyPr>
          <a:lstStyle/>
          <a:p>
            <a:r>
              <a:rPr lang="en-US" b="1" noProof="1">
                <a:solidFill>
                  <a:srgbClr val="002060"/>
                </a:solidFill>
              </a:rPr>
              <a:t>Stock_history.json</a:t>
            </a:r>
            <a:endParaRPr lang="en-US" b="1" dirty="0">
              <a:solidFill>
                <a:srgbClr val="002060"/>
              </a:solidFill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9B84ECA-0EB5-40AC-D0F9-1A6EEE3E758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58365" y="805759"/>
            <a:ext cx="11574102" cy="5880996"/>
          </a:xfrm>
        </p:spPr>
        <p:txBody>
          <a:bodyPr wrap="square">
            <a:noAutofit/>
          </a:bodyPr>
          <a:lstStyle/>
          <a:p>
            <a:r>
              <a:rPr lang="en-US" sz="1600" dirty="0"/>
              <a:t>This file is 1.6 </a:t>
            </a:r>
            <a:r>
              <a:rPr lang="en-US" sz="1600" noProof="1"/>
              <a:t>Gbyte</a:t>
            </a:r>
            <a:r>
              <a:rPr lang="en-US" sz="1600" dirty="0"/>
              <a:t> in size. </a:t>
            </a:r>
          </a:p>
          <a:p>
            <a:r>
              <a:rPr lang="en-US" sz="1600" dirty="0"/>
              <a:t>It is created by:</a:t>
            </a:r>
            <a:br>
              <a:rPr lang="en-US" sz="1600" dirty="0"/>
            </a:br>
            <a:r>
              <a:rPr lang="en-US" sz="1600" dirty="0"/>
              <a:t>7.  Run yahoo.py (download csv files from Yahoo.com to c:\option_trading\ticker_data\AAPL.csv)</a:t>
            </a:r>
            <a:br>
              <a:rPr lang="en-US" sz="1600" dirty="0"/>
            </a:br>
            <a:r>
              <a:rPr lang="en-US" sz="1600" dirty="0"/>
              <a:t>8.  Run get_stock_history.py (</a:t>
            </a:r>
            <a:r>
              <a:rPr lang="en-US" sz="1600" noProof="1"/>
              <a:t>ticker_data</a:t>
            </a:r>
            <a:r>
              <a:rPr lang="en-US" sz="1600" dirty="0"/>
              <a:t>\ --&gt; c:\option_trading\stock_history.json)</a:t>
            </a:r>
          </a:p>
          <a:p>
            <a:r>
              <a:rPr lang="en-US" sz="1600" dirty="0"/>
              <a:t>The simulator reads this file once, at the very beginning. </a:t>
            </a:r>
          </a:p>
          <a:p>
            <a:r>
              <a:rPr lang="en-US" sz="1600" dirty="0"/>
              <a:t>This file includes all the history of the stocks and ETF, but no put option data.</a:t>
            </a:r>
          </a:p>
          <a:p>
            <a:r>
              <a:rPr lang="en-US" sz="1600" dirty="0"/>
              <a:t>The list of the stocks + etfs per day is defined in SP500_history.csv from 1/3/2007 until 7/9/25</a:t>
            </a:r>
          </a:p>
          <a:p>
            <a:r>
              <a:rPr lang="en-US" sz="3600" b="1" dirty="0">
                <a:solidFill>
                  <a:srgbClr val="C00000"/>
                </a:solidFill>
              </a:rPr>
              <a:t>If new simulation is required, this file must be updated with new dates</a:t>
            </a:r>
            <a:br>
              <a:rPr lang="en-US" sz="1600" dirty="0"/>
            </a:br>
            <a:endParaRPr lang="en-US" sz="1600" dirty="0"/>
          </a:p>
          <a:p>
            <a:endParaRPr lang="en-US" sz="1600" dirty="0"/>
          </a:p>
        </p:txBody>
      </p:sp>
    </p:spTree>
    <p:extLst>
      <p:ext uri="{BB962C8B-B14F-4D97-AF65-F5344CB8AC3E}">
        <p14:creationId xmlns:p14="http://schemas.microsoft.com/office/powerpoint/2010/main" val="1220474982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6C3FBB4-ED80-23D3-A9D7-1A5E39FFB8F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E131521-AB48-787E-947E-C64D46669BE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58365" y="171245"/>
            <a:ext cx="8342015" cy="469735"/>
          </a:xfrm>
        </p:spPr>
        <p:txBody>
          <a:bodyPr>
            <a:normAutofit fontScale="90000"/>
          </a:bodyPr>
          <a:lstStyle/>
          <a:p>
            <a:r>
              <a:rPr lang="en-US" b="1" noProof="1">
                <a:solidFill>
                  <a:srgbClr val="002060"/>
                </a:solidFill>
              </a:rPr>
              <a:t>rules.json</a:t>
            </a:r>
            <a:endParaRPr lang="en-US" b="1" dirty="0">
              <a:solidFill>
                <a:srgbClr val="002060"/>
              </a:solidFill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8EB3F9E-0F03-C104-791E-53A7F3094A2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58365" y="805759"/>
            <a:ext cx="3824336" cy="4873043"/>
          </a:xfrm>
          <a:solidFill>
            <a:schemeClr val="bg1">
              <a:lumMod val="95000"/>
            </a:schemeClr>
          </a:solidFill>
          <a:ln>
            <a:solidFill>
              <a:srgbClr val="0070C0"/>
            </a:solidFill>
          </a:ln>
        </p:spPr>
        <p:txBody>
          <a:bodyPr wrap="square">
            <a:noAutofit/>
          </a:bodyPr>
          <a:lstStyle/>
          <a:p>
            <a:pPr marL="0" indent="0">
              <a:buNone/>
            </a:pPr>
            <a:r>
              <a:rPr lang="en-US" sz="1400" dirty="0">
                <a:solidFill>
                  <a:schemeClr val="tx2">
                    <a:lumMod val="75000"/>
                    <a:lumOff val="25000"/>
                  </a:schemeClr>
                </a:solidFill>
              </a:rPr>
              <a:t>{</a:t>
            </a:r>
          </a:p>
          <a:p>
            <a:pPr marL="0" indent="0">
              <a:buNone/>
            </a:pPr>
            <a:r>
              <a:rPr lang="en-US" sz="1400" dirty="0">
                <a:solidFill>
                  <a:schemeClr val="tx2">
                    <a:lumMod val="75000"/>
                    <a:lumOff val="25000"/>
                  </a:schemeClr>
                </a:solidFill>
              </a:rPr>
              <a:t>    "account_simaulation": {</a:t>
            </a:r>
          </a:p>
          <a:p>
            <a:pPr marL="0" indent="0">
              <a:buNone/>
            </a:pPr>
            <a:r>
              <a:rPr lang="en-US" sz="1400" dirty="0">
                <a:solidFill>
                  <a:schemeClr val="tx2">
                    <a:lumMod val="75000"/>
                    <a:lumOff val="25000"/>
                  </a:schemeClr>
                </a:solidFill>
              </a:rPr>
              <a:t>        "start_date": "01/01/2020",</a:t>
            </a:r>
          </a:p>
          <a:p>
            <a:pPr marL="0" indent="0">
              <a:buNone/>
            </a:pPr>
            <a:r>
              <a:rPr lang="en-US" sz="1400" dirty="0">
                <a:solidFill>
                  <a:schemeClr val="tx2">
                    <a:lumMod val="75000"/>
                    <a:lumOff val="25000"/>
                  </a:schemeClr>
                </a:solidFill>
              </a:rPr>
              <a:t>        "end_date": "10/28/2025",</a:t>
            </a:r>
          </a:p>
          <a:p>
            <a:pPr marL="0" indent="0">
              <a:buNone/>
            </a:pPr>
            <a:r>
              <a:rPr lang="en-US" sz="1400" dirty="0">
                <a:solidFill>
                  <a:schemeClr val="tx2">
                    <a:lumMod val="75000"/>
                    <a:lumOff val="25000"/>
                  </a:schemeClr>
                </a:solidFill>
              </a:rPr>
              <a:t>        "initial_cash": "1000000",</a:t>
            </a:r>
          </a:p>
          <a:p>
            <a:pPr marL="0" indent="0">
              <a:buNone/>
            </a:pPr>
            <a:r>
              <a:rPr lang="en-US" sz="1400" dirty="0">
                <a:solidFill>
                  <a:schemeClr val="tx2">
                    <a:lumMod val="75000"/>
                    <a:lumOff val="25000"/>
                  </a:schemeClr>
                </a:solidFill>
              </a:rPr>
              <a:t>        "max_puts_per_account": "37",</a:t>
            </a:r>
          </a:p>
          <a:p>
            <a:pPr marL="0" indent="0">
              <a:buNone/>
            </a:pPr>
            <a:r>
              <a:rPr lang="en-US" sz="1400" dirty="0">
                <a:solidFill>
                  <a:schemeClr val="tx2">
                    <a:lumMod val="75000"/>
                    <a:lumOff val="25000"/>
                  </a:schemeClr>
                </a:solidFill>
              </a:rPr>
              <a:t>        "max_puts_per_stock": "7",</a:t>
            </a:r>
          </a:p>
          <a:p>
            <a:pPr marL="0" indent="0">
              <a:buNone/>
            </a:pPr>
            <a:r>
              <a:rPr lang="en-US" sz="1400" dirty="0">
                <a:solidFill>
                  <a:schemeClr val="tx2">
                    <a:lumMod val="75000"/>
                    <a:lumOff val="25000"/>
                  </a:schemeClr>
                </a:solidFill>
              </a:rPr>
              <a:t>        "max_puts_per_day": "5",</a:t>
            </a:r>
          </a:p>
          <a:p>
            <a:pPr marL="0" indent="0">
              <a:buNone/>
            </a:pPr>
            <a:r>
              <a:rPr lang="en-US" sz="1400" dirty="0">
                <a:solidFill>
                  <a:schemeClr val="tx2">
                    <a:lumMod val="75000"/>
                    <a:lumOff val="25000"/>
                  </a:schemeClr>
                </a:solidFill>
              </a:rPr>
              <a:t>        "Minimal_Print_Out": true },</a:t>
            </a:r>
          </a:p>
          <a:p>
            <a:pPr marL="0" indent="0">
              <a:buNone/>
            </a:pPr>
            <a:r>
              <a:rPr lang="en-US" sz="1400" dirty="0">
                <a:solidFill>
                  <a:schemeClr val="tx2">
                    <a:lumMod val="75000"/>
                    <a:lumOff val="25000"/>
                  </a:schemeClr>
                </a:solidFill>
              </a:rPr>
              <a:t>    "underlying_stock": {</a:t>
            </a:r>
          </a:p>
          <a:p>
            <a:pPr marL="0" indent="0">
              <a:buNone/>
            </a:pPr>
            <a:r>
              <a:rPr lang="en-US" sz="1400" dirty="0">
                <a:solidFill>
                  <a:schemeClr val="tx2">
                    <a:lumMod val="75000"/>
                    <a:lumOff val="25000"/>
                  </a:schemeClr>
                </a:solidFill>
              </a:rPr>
              <a:t>        "min_5_day_rise_pct": "-17.1%",</a:t>
            </a:r>
          </a:p>
          <a:p>
            <a:pPr marL="0" indent="0">
              <a:buNone/>
            </a:pPr>
            <a:r>
              <a:rPr lang="en-US" sz="1400" dirty="0">
                <a:solidFill>
                  <a:schemeClr val="tx2">
                    <a:lumMod val="75000"/>
                    <a:lumOff val="25000"/>
                  </a:schemeClr>
                </a:solidFill>
              </a:rPr>
              <a:t>        "min_above_avg_pct": "-5.25%",</a:t>
            </a:r>
          </a:p>
          <a:p>
            <a:pPr marL="0" indent="0">
              <a:buNone/>
            </a:pPr>
            <a:r>
              <a:rPr lang="en-US" sz="1400" dirty="0">
                <a:solidFill>
                  <a:schemeClr val="tx2">
                    <a:lumMod val="75000"/>
                    <a:lumOff val="25000"/>
                  </a:schemeClr>
                </a:solidFill>
              </a:rPr>
              <a:t>        "max_above_avg_pct": "42%",</a:t>
            </a:r>
          </a:p>
          <a:p>
            <a:pPr marL="0" indent="0">
              <a:buNone/>
            </a:pPr>
            <a:r>
              <a:rPr lang="en-US" sz="1400" dirty="0">
                <a:solidFill>
                  <a:schemeClr val="tx2">
                    <a:lumMod val="75000"/>
                    <a:lumOff val="25000"/>
                  </a:schemeClr>
                </a:solidFill>
              </a:rPr>
              <a:t>        "min_avg_up_slope_pct": "-0.095%",</a:t>
            </a:r>
          </a:p>
          <a:p>
            <a:pPr marL="0" indent="0">
              <a:buNone/>
            </a:pPr>
            <a:r>
              <a:rPr lang="en-US" sz="1400" dirty="0">
                <a:solidFill>
                  <a:schemeClr val="tx2">
                    <a:lumMod val="75000"/>
                    <a:lumOff val="25000"/>
                  </a:schemeClr>
                </a:solidFill>
              </a:rPr>
              <a:t>        "min_stock_price": "$30.00"},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9E3E6FAD-4098-841D-85ED-92FBD6A2D197}"/>
              </a:ext>
            </a:extLst>
          </p:cNvPr>
          <p:cNvSpPr txBox="1"/>
          <p:nvPr/>
        </p:nvSpPr>
        <p:spPr>
          <a:xfrm>
            <a:off x="2976327" y="229096"/>
            <a:ext cx="609750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800" dirty="0"/>
              <a:t>This file defines all the simulation rules</a:t>
            </a:r>
            <a:endParaRPr lang="en-US" dirty="0"/>
          </a:p>
        </p:txBody>
      </p:sp>
      <p:sp>
        <p:nvSpPr>
          <p:cNvPr id="6" name="Content Placeholder 2">
            <a:extLst>
              <a:ext uri="{FF2B5EF4-FFF2-40B4-BE49-F238E27FC236}">
                <a16:creationId xmlns:a16="http://schemas.microsoft.com/office/drawing/2014/main" id="{F2B290E8-60AC-0EA6-A69D-D4A50E3B9F31}"/>
              </a:ext>
            </a:extLst>
          </p:cNvPr>
          <p:cNvSpPr txBox="1">
            <a:spLocks/>
          </p:cNvSpPr>
          <p:nvPr/>
        </p:nvSpPr>
        <p:spPr>
          <a:xfrm>
            <a:off x="4327555" y="805759"/>
            <a:ext cx="3681745" cy="4873043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solidFill>
              <a:srgbClr val="0070C0"/>
            </a:solidFill>
          </a:ln>
        </p:spPr>
        <p:txBody>
          <a:bodyPr vert="horz" wrap="square" lIns="91440" tIns="45720" rIns="91440" bIns="45720" rtlCol="0">
            <a:no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br>
              <a:rPr lang="en-US" sz="1400" dirty="0">
                <a:solidFill>
                  <a:schemeClr val="tx2">
                    <a:lumMod val="75000"/>
                    <a:lumOff val="25000"/>
                  </a:schemeClr>
                </a:solidFill>
              </a:rPr>
            </a:br>
            <a:r>
              <a:rPr lang="en-US" sz="1400" dirty="0">
                <a:solidFill>
                  <a:schemeClr val="tx2">
                    <a:lumMod val="75000"/>
                    <a:lumOff val="25000"/>
                  </a:schemeClr>
                </a:solidFill>
              </a:rPr>
              <a:t>    "entry_put_position": {</a:t>
            </a:r>
          </a:p>
          <a:p>
            <a:pPr marL="0" indent="0">
              <a:buFont typeface="Arial" panose="020B0604020202020204" pitchFamily="34" charset="0"/>
              <a:buNone/>
            </a:pPr>
            <a:r>
              <a:rPr lang="en-US" sz="1400" dirty="0">
                <a:solidFill>
                  <a:schemeClr val="tx2">
                    <a:lumMod val="75000"/>
                    <a:lumOff val="25000"/>
                  </a:schemeClr>
                </a:solidFill>
              </a:rPr>
              <a:t>        "min_days_for_expiration": "50",</a:t>
            </a:r>
          </a:p>
          <a:p>
            <a:pPr marL="0" indent="0">
              <a:buFont typeface="Arial" panose="020B0604020202020204" pitchFamily="34" charset="0"/>
              <a:buNone/>
            </a:pPr>
            <a:r>
              <a:rPr lang="en-US" sz="1400" dirty="0">
                <a:solidFill>
                  <a:schemeClr val="tx2">
                    <a:lumMod val="75000"/>
                    <a:lumOff val="25000"/>
                  </a:schemeClr>
                </a:solidFill>
              </a:rPr>
              <a:t>        "max_days_for_expiration": "260",</a:t>
            </a:r>
          </a:p>
          <a:p>
            <a:pPr marL="0" indent="0">
              <a:buFont typeface="Arial" panose="020B0604020202020204" pitchFamily="34" charset="0"/>
              <a:buNone/>
            </a:pPr>
            <a:r>
              <a:rPr lang="en-US" sz="1400" dirty="0">
                <a:solidFill>
                  <a:schemeClr val="tx2">
                    <a:lumMod val="75000"/>
                    <a:lumOff val="25000"/>
                  </a:schemeClr>
                </a:solidFill>
              </a:rPr>
              <a:t>        "min_put_bid_price": "3.6",</a:t>
            </a:r>
          </a:p>
          <a:p>
            <a:pPr marL="0" indent="0">
              <a:buFont typeface="Arial" panose="020B0604020202020204" pitchFamily="34" charset="0"/>
              <a:buNone/>
            </a:pPr>
            <a:r>
              <a:rPr lang="en-US" sz="1400" dirty="0">
                <a:solidFill>
                  <a:schemeClr val="tx2">
                    <a:lumMod val="75000"/>
                    <a:lumOff val="25000"/>
                  </a:schemeClr>
                </a:solidFill>
              </a:rPr>
              <a:t>        "min_put_delta": "-25%",</a:t>
            </a:r>
          </a:p>
          <a:p>
            <a:pPr marL="0" indent="0">
              <a:buFont typeface="Arial" panose="020B0604020202020204" pitchFamily="34" charset="0"/>
              <a:buNone/>
            </a:pPr>
            <a:r>
              <a:rPr lang="en-US" sz="1400" dirty="0">
                <a:solidFill>
                  <a:schemeClr val="tx2">
                    <a:lumMod val="75000"/>
                    <a:lumOff val="25000"/>
                  </a:schemeClr>
                </a:solidFill>
              </a:rPr>
              <a:t>        "max_put_delta": "-1%",</a:t>
            </a:r>
          </a:p>
          <a:p>
            <a:pPr marL="0" indent="0">
              <a:buFont typeface="Arial" panose="020B0604020202020204" pitchFamily="34" charset="0"/>
              <a:buNone/>
            </a:pPr>
            <a:r>
              <a:rPr lang="en-US" sz="1400" dirty="0">
                <a:solidFill>
                  <a:schemeClr val="tx2">
                    <a:lumMod val="75000"/>
                    <a:lumOff val="25000"/>
                  </a:schemeClr>
                </a:solidFill>
              </a:rPr>
              <a:t>        "max_ask_above_bid_pct": 59.85%",</a:t>
            </a:r>
          </a:p>
          <a:p>
            <a:pPr marL="0" indent="0">
              <a:buFont typeface="Arial" panose="020B0604020202020204" pitchFamily="34" charset="0"/>
              <a:buNone/>
            </a:pPr>
            <a:r>
              <a:rPr lang="en-US" sz="1400" dirty="0">
                <a:solidFill>
                  <a:schemeClr val="tx2">
                    <a:lumMod val="75000"/>
                    <a:lumOff val="25000"/>
                  </a:schemeClr>
                </a:solidFill>
              </a:rPr>
              <a:t>        "min_avg_above_strike": "-3.791%",</a:t>
            </a:r>
          </a:p>
          <a:p>
            <a:pPr marL="0" indent="0">
              <a:buFont typeface="Arial" panose="020B0604020202020204" pitchFamily="34" charset="0"/>
              <a:buNone/>
            </a:pPr>
            <a:r>
              <a:rPr lang="en-US" sz="1400" dirty="0">
                <a:solidFill>
                  <a:schemeClr val="tx2">
                    <a:lumMod val="75000"/>
                    <a:lumOff val="25000"/>
                  </a:schemeClr>
                </a:solidFill>
              </a:rPr>
              <a:t>        "min_risk_reward_ratio": "-11.025",</a:t>
            </a:r>
          </a:p>
          <a:p>
            <a:pPr marL="0" indent="0">
              <a:buFont typeface="Arial" panose="020B0604020202020204" pitchFamily="34" charset="0"/>
              <a:buNone/>
            </a:pPr>
            <a:r>
              <a:rPr lang="en-US" sz="1400" dirty="0">
                <a:solidFill>
                  <a:schemeClr val="tx2">
                    <a:lumMod val="75000"/>
                    <a:lumOff val="25000"/>
                  </a:schemeClr>
                </a:solidFill>
              </a:rPr>
              <a:t>        "min_annual_risk_reward_ratio": "-15",</a:t>
            </a:r>
          </a:p>
          <a:p>
            <a:pPr marL="0" indent="0">
              <a:buFont typeface="Arial" panose="020B0604020202020204" pitchFamily="34" charset="0"/>
              <a:buNone/>
            </a:pPr>
            <a:r>
              <a:rPr lang="en-US" sz="1400" dirty="0">
                <a:solidFill>
                  <a:schemeClr val="tx2">
                    <a:lumMod val="75000"/>
                    <a:lumOff val="25000"/>
                  </a:schemeClr>
                </a:solidFill>
              </a:rPr>
              <a:t>        "min_expected_profit": "-100%",</a:t>
            </a:r>
          </a:p>
          <a:p>
            <a:pPr marL="0" indent="0">
              <a:buFont typeface="Arial" panose="020B0604020202020204" pitchFamily="34" charset="0"/>
              <a:buNone/>
            </a:pPr>
            <a:r>
              <a:rPr lang="en-US" sz="1400" dirty="0">
                <a:solidFill>
                  <a:schemeClr val="tx2">
                    <a:lumMod val="75000"/>
                    <a:lumOff val="25000"/>
                  </a:schemeClr>
                </a:solidFill>
              </a:rPr>
              <a:t>        "rank_by_risk_reward_ratio": false,</a:t>
            </a:r>
          </a:p>
          <a:p>
            <a:pPr marL="0" indent="0">
              <a:buFont typeface="Arial" panose="020B0604020202020204" pitchFamily="34" charset="0"/>
              <a:buNone/>
            </a:pPr>
            <a:r>
              <a:rPr lang="en-US" sz="1400" dirty="0">
                <a:solidFill>
                  <a:schemeClr val="tx2">
                    <a:lumMod val="75000"/>
                    <a:lumOff val="25000"/>
                  </a:schemeClr>
                </a:solidFill>
              </a:rPr>
              <a:t>        "rank_by_annual_risk": true,</a:t>
            </a:r>
          </a:p>
          <a:p>
            <a:pPr marL="0" indent="0">
              <a:buFont typeface="Arial" panose="020B0604020202020204" pitchFamily="34" charset="0"/>
              <a:buNone/>
            </a:pPr>
            <a:r>
              <a:rPr lang="en-US" sz="1400" dirty="0">
                <a:solidFill>
                  <a:schemeClr val="tx2">
                    <a:lumMod val="75000"/>
                    <a:lumOff val="25000"/>
                  </a:schemeClr>
                </a:solidFill>
              </a:rPr>
              <a:t>        "rank_by_expected_profit": false},</a:t>
            </a:r>
          </a:p>
          <a:p>
            <a:pPr marL="0" indent="0">
              <a:buFont typeface="Arial" panose="020B0604020202020204" pitchFamily="34" charset="0"/>
              <a:buNone/>
            </a:pPr>
            <a:endParaRPr lang="en-US" sz="1400" dirty="0">
              <a:solidFill>
                <a:schemeClr val="tx2">
                  <a:lumMod val="75000"/>
                  <a:lumOff val="25000"/>
                </a:schemeClr>
              </a:solidFill>
            </a:endParaRPr>
          </a:p>
        </p:txBody>
      </p:sp>
      <p:sp>
        <p:nvSpPr>
          <p:cNvPr id="7" name="Content Placeholder 2">
            <a:extLst>
              <a:ext uri="{FF2B5EF4-FFF2-40B4-BE49-F238E27FC236}">
                <a16:creationId xmlns:a16="http://schemas.microsoft.com/office/drawing/2014/main" id="{1681C342-3C9D-C460-B468-957058588310}"/>
              </a:ext>
            </a:extLst>
          </p:cNvPr>
          <p:cNvSpPr txBox="1">
            <a:spLocks/>
          </p:cNvSpPr>
          <p:nvPr/>
        </p:nvSpPr>
        <p:spPr>
          <a:xfrm>
            <a:off x="8154154" y="805759"/>
            <a:ext cx="3941275" cy="4873043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solidFill>
              <a:srgbClr val="0070C0"/>
            </a:solidFill>
          </a:ln>
        </p:spPr>
        <p:txBody>
          <a:bodyPr vert="horz" wrap="square" lIns="91440" tIns="45720" rIns="91440" bIns="45720" rtlCol="0">
            <a:no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br>
              <a:rPr lang="en-US" sz="1400" dirty="0">
                <a:solidFill>
                  <a:schemeClr val="tx2">
                    <a:lumMod val="75000"/>
                    <a:lumOff val="25000"/>
                  </a:schemeClr>
                </a:solidFill>
              </a:rPr>
            </a:br>
            <a:br>
              <a:rPr lang="en-US" sz="1400" dirty="0">
                <a:solidFill>
                  <a:schemeClr val="tx2">
                    <a:lumMod val="75000"/>
                    <a:lumOff val="25000"/>
                  </a:schemeClr>
                </a:solidFill>
              </a:rPr>
            </a:br>
            <a:br>
              <a:rPr lang="en-US" sz="1400" dirty="0">
                <a:solidFill>
                  <a:schemeClr val="tx2">
                    <a:lumMod val="75000"/>
                    <a:lumOff val="25000"/>
                  </a:schemeClr>
                </a:solidFill>
              </a:rPr>
            </a:br>
            <a:r>
              <a:rPr lang="en-US" sz="1400" dirty="0">
                <a:solidFill>
                  <a:schemeClr val="tx2">
                    <a:lumMod val="75000"/>
                    <a:lumOff val="25000"/>
                  </a:schemeClr>
                </a:solidFill>
              </a:rPr>
              <a:t>   "exit_put_position": {</a:t>
            </a:r>
          </a:p>
          <a:p>
            <a:pPr marL="0" indent="0">
              <a:buFont typeface="Arial" panose="020B0604020202020204" pitchFamily="34" charset="0"/>
              <a:buNone/>
            </a:pPr>
            <a:r>
              <a:rPr lang="en-US" sz="1400" dirty="0">
                <a:solidFill>
                  <a:schemeClr val="tx2">
                    <a:lumMod val="75000"/>
                    <a:lumOff val="25000"/>
                  </a:schemeClr>
                </a:solidFill>
              </a:rPr>
              <a:t>        "position_stop_loss_pct": "9999%",</a:t>
            </a:r>
          </a:p>
          <a:p>
            <a:pPr marL="0" indent="0">
              <a:buFont typeface="Arial" panose="020B0604020202020204" pitchFamily="34" charset="0"/>
              <a:buNone/>
            </a:pPr>
            <a:endParaRPr lang="en-US" sz="1400" dirty="0">
              <a:solidFill>
                <a:schemeClr val="tx2">
                  <a:lumMod val="75000"/>
                  <a:lumOff val="25000"/>
                </a:schemeClr>
              </a:solidFill>
            </a:endParaRPr>
          </a:p>
          <a:p>
            <a:pPr marL="0" indent="0">
              <a:buFont typeface="Arial" panose="020B0604020202020204" pitchFamily="34" charset="0"/>
              <a:buNone/>
            </a:pPr>
            <a:r>
              <a:rPr lang="en-US" sz="1400" dirty="0">
                <a:solidFill>
                  <a:schemeClr val="tx2">
                    <a:lumMod val="75000"/>
                    <a:lumOff val="25000"/>
                  </a:schemeClr>
                </a:solidFill>
              </a:rPr>
              <a:t>        "stock_max_below_avg": "18.9%",</a:t>
            </a:r>
          </a:p>
          <a:p>
            <a:pPr marL="0" indent="0">
              <a:buFont typeface="Arial" panose="020B0604020202020204" pitchFamily="34" charset="0"/>
              <a:buNone/>
            </a:pPr>
            <a:endParaRPr lang="en-US" sz="1400" dirty="0">
              <a:solidFill>
                <a:schemeClr val="tx2">
                  <a:lumMod val="75000"/>
                  <a:lumOff val="25000"/>
                </a:schemeClr>
              </a:solidFill>
            </a:endParaRPr>
          </a:p>
          <a:p>
            <a:pPr marL="0" indent="0">
              <a:buFont typeface="Arial" panose="020B0604020202020204" pitchFamily="34" charset="0"/>
              <a:buNone/>
            </a:pPr>
            <a:endParaRPr lang="en-US" sz="1400" dirty="0">
              <a:solidFill>
                <a:schemeClr val="tx2">
                  <a:lumMod val="75000"/>
                  <a:lumOff val="25000"/>
                </a:schemeClr>
              </a:solidFill>
            </a:endParaRPr>
          </a:p>
          <a:p>
            <a:pPr marL="0" indent="0">
              <a:buFont typeface="Arial" panose="020B0604020202020204" pitchFamily="34" charset="0"/>
              <a:buNone/>
            </a:pPr>
            <a:r>
              <a:rPr lang="en-US" sz="1400" dirty="0">
                <a:solidFill>
                  <a:schemeClr val="tx2">
                    <a:lumMod val="75000"/>
                    <a:lumOff val="25000"/>
                  </a:schemeClr>
                </a:solidFill>
              </a:rPr>
              <a:t>        "stock_min_above_strike": "-9999%",</a:t>
            </a:r>
          </a:p>
          <a:p>
            <a:pPr marL="0" indent="0">
              <a:buFont typeface="Arial" panose="020B0604020202020204" pitchFamily="34" charset="0"/>
              <a:buNone/>
            </a:pPr>
            <a:endParaRPr lang="en-US" sz="1400" dirty="0">
              <a:solidFill>
                <a:schemeClr val="tx2">
                  <a:lumMod val="75000"/>
                  <a:lumOff val="25000"/>
                </a:schemeClr>
              </a:solidFill>
            </a:endParaRPr>
          </a:p>
          <a:p>
            <a:pPr marL="0" indent="0">
              <a:buFont typeface="Arial" panose="020B0604020202020204" pitchFamily="34" charset="0"/>
              <a:buNone/>
            </a:pPr>
            <a:endParaRPr lang="en-US" sz="1400" dirty="0">
              <a:solidFill>
                <a:schemeClr val="tx2">
                  <a:lumMod val="75000"/>
                  <a:lumOff val="25000"/>
                </a:schemeClr>
              </a:solidFill>
            </a:endParaRPr>
          </a:p>
          <a:p>
            <a:pPr marL="0" indent="0">
              <a:buFont typeface="Arial" panose="020B0604020202020204" pitchFamily="34" charset="0"/>
              <a:buNone/>
            </a:pPr>
            <a:r>
              <a:rPr lang="en-US" sz="1400" dirty="0">
                <a:solidFill>
                  <a:schemeClr val="tx2">
                    <a:lumMod val="75000"/>
                    <a:lumOff val="25000"/>
                  </a:schemeClr>
                </a:solidFill>
              </a:rPr>
              <a:t>        "stock_max_below_entry": "26.6%",</a:t>
            </a:r>
          </a:p>
          <a:p>
            <a:pPr marL="0" indent="0">
              <a:buFont typeface="Arial" panose="020B0604020202020204" pitchFamily="34" charset="0"/>
              <a:buNone/>
            </a:pPr>
            <a:endParaRPr lang="en-US" sz="1400" dirty="0">
              <a:solidFill>
                <a:schemeClr val="tx2">
                  <a:lumMod val="75000"/>
                  <a:lumOff val="25000"/>
                </a:schemeClr>
              </a:solidFill>
            </a:endParaRPr>
          </a:p>
          <a:p>
            <a:pPr marL="0" indent="0">
              <a:buFont typeface="Arial" panose="020B0604020202020204" pitchFamily="34" charset="0"/>
              <a:buNone/>
            </a:pPr>
            <a:r>
              <a:rPr lang="en-US" sz="1400" dirty="0">
                <a:solidFill>
                  <a:schemeClr val="tx2">
                    <a:lumMod val="75000"/>
                    <a:lumOff val="25000"/>
                  </a:schemeClr>
                </a:solidFill>
              </a:rPr>
              <a:t>        "min_gain_to_take_profit": "9999%"}</a:t>
            </a:r>
          </a:p>
          <a:p>
            <a:pPr marL="0" indent="0">
              <a:buFont typeface="Arial" panose="020B0604020202020204" pitchFamily="34" charset="0"/>
              <a:buNone/>
            </a:pPr>
            <a:r>
              <a:rPr lang="en-US" sz="1400" dirty="0">
                <a:solidFill>
                  <a:schemeClr val="tx2">
                    <a:lumMod val="75000"/>
                    <a:lumOff val="25000"/>
                  </a:schemeClr>
                </a:solidFill>
              </a:rPr>
              <a:t>}</a:t>
            </a:r>
          </a:p>
          <a:p>
            <a:pPr marL="0" indent="0">
              <a:buFont typeface="Arial" panose="020B0604020202020204" pitchFamily="34" charset="0"/>
              <a:buNone/>
            </a:pPr>
            <a:br>
              <a:rPr lang="en-US" sz="1400" dirty="0">
                <a:solidFill>
                  <a:schemeClr val="tx2">
                    <a:lumMod val="75000"/>
                    <a:lumOff val="25000"/>
                  </a:schemeClr>
                </a:solidFill>
              </a:rPr>
            </a:br>
            <a:endParaRPr lang="en-US" sz="1400" dirty="0">
              <a:solidFill>
                <a:schemeClr val="tx2">
                  <a:lumMod val="75000"/>
                  <a:lumOff val="25000"/>
                </a:schemeClr>
              </a:solidFill>
            </a:endParaRPr>
          </a:p>
          <a:p>
            <a:pPr marL="0" indent="0">
              <a:buFont typeface="Arial" panose="020B0604020202020204" pitchFamily="34" charset="0"/>
              <a:buNone/>
            </a:pPr>
            <a:br>
              <a:rPr lang="en-US" sz="1400" dirty="0">
                <a:solidFill>
                  <a:schemeClr val="tx2">
                    <a:lumMod val="75000"/>
                    <a:lumOff val="25000"/>
                  </a:schemeClr>
                </a:solidFill>
              </a:rPr>
            </a:br>
            <a:endParaRPr lang="en-US" sz="1400" dirty="0">
              <a:solidFill>
                <a:schemeClr val="tx2">
                  <a:lumMod val="75000"/>
                  <a:lumOff val="25000"/>
                </a:schemeClr>
              </a:solidFill>
            </a:endParaRPr>
          </a:p>
          <a:p>
            <a:pPr marL="0" indent="0">
              <a:buFont typeface="Arial" panose="020B0604020202020204" pitchFamily="34" charset="0"/>
              <a:buNone/>
            </a:pPr>
            <a:endParaRPr lang="en-US" sz="1400" dirty="0">
              <a:solidFill>
                <a:schemeClr val="tx2">
                  <a:lumMod val="75000"/>
                  <a:lumOff val="25000"/>
                </a:schemeClr>
              </a:solidFill>
            </a:endParaRP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54BC1B82-0687-15BC-CF09-CDE9CB12F3B4}"/>
              </a:ext>
            </a:extLst>
          </p:cNvPr>
          <p:cNvSpPr/>
          <p:nvPr/>
        </p:nvSpPr>
        <p:spPr>
          <a:xfrm rot="1914748">
            <a:off x="3523746" y="4920703"/>
            <a:ext cx="399468" cy="276999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en-US" sz="1200" b="0" cap="none" spc="0" dirty="0">
                <a:ln w="0"/>
                <a:solidFill>
                  <a:schemeClr val="accent2">
                    <a:lumMod val="75000"/>
                  </a:schemeClr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</a:rPr>
              <a:t>Adj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32F609DC-A8BD-26B7-617F-E23B21522299}"/>
              </a:ext>
            </a:extLst>
          </p:cNvPr>
          <p:cNvSpPr/>
          <p:nvPr/>
        </p:nvSpPr>
        <p:spPr>
          <a:xfrm rot="1908593">
            <a:off x="2902804" y="5271697"/>
            <a:ext cx="572593" cy="276999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en-US" sz="1200" b="0" cap="none" spc="0" dirty="0">
                <a:ln w="0"/>
                <a:solidFill>
                  <a:schemeClr val="accent2">
                    <a:lumMod val="75000"/>
                  </a:schemeClr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</a:rPr>
              <a:t>Close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784117AF-E051-DC24-7D72-C5CB169B20F1}"/>
              </a:ext>
            </a:extLst>
          </p:cNvPr>
          <p:cNvSpPr/>
          <p:nvPr/>
        </p:nvSpPr>
        <p:spPr>
          <a:xfrm rot="1914748">
            <a:off x="2990655" y="4606643"/>
            <a:ext cx="399468" cy="276999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en-US" sz="1200" b="0" cap="none" spc="0" dirty="0">
                <a:ln w="0"/>
                <a:solidFill>
                  <a:schemeClr val="accent2">
                    <a:lumMod val="75000"/>
                  </a:schemeClr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</a:rPr>
              <a:t>Adj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63F17661-180C-9E90-EE2D-9E48E0631BCA}"/>
              </a:ext>
            </a:extLst>
          </p:cNvPr>
          <p:cNvSpPr/>
          <p:nvPr/>
        </p:nvSpPr>
        <p:spPr>
          <a:xfrm rot="1914748">
            <a:off x="3162454" y="4331638"/>
            <a:ext cx="399468" cy="276999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en-US" sz="1200" b="0" cap="none" spc="0" dirty="0">
                <a:ln w="0"/>
                <a:solidFill>
                  <a:schemeClr val="accent2">
                    <a:lumMod val="75000"/>
                  </a:schemeClr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</a:rPr>
              <a:t>Adj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D3807673-C20D-BDE2-F4BC-5BE91C5A9E69}"/>
              </a:ext>
            </a:extLst>
          </p:cNvPr>
          <p:cNvSpPr/>
          <p:nvPr/>
        </p:nvSpPr>
        <p:spPr>
          <a:xfrm rot="1914748">
            <a:off x="3162454" y="3995564"/>
            <a:ext cx="399468" cy="276999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en-US" sz="1200" b="0" cap="none" spc="0" dirty="0">
                <a:ln w="0"/>
                <a:solidFill>
                  <a:schemeClr val="accent2">
                    <a:lumMod val="75000"/>
                  </a:schemeClr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</a:rPr>
              <a:t>Adj</a:t>
            </a: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898327A5-3F61-541B-7049-8CCB533E8EA8}"/>
              </a:ext>
            </a:extLst>
          </p:cNvPr>
          <p:cNvSpPr/>
          <p:nvPr/>
        </p:nvSpPr>
        <p:spPr>
          <a:xfrm rot="1908593">
            <a:off x="7358034" y="3206692"/>
            <a:ext cx="572593" cy="461665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en-US" sz="1200" b="0" cap="none" spc="0" dirty="0">
                <a:ln w="0"/>
                <a:solidFill>
                  <a:schemeClr val="accent2">
                    <a:lumMod val="75000"/>
                  </a:schemeClr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</a:rPr>
              <a:t>Avg</a:t>
            </a:r>
            <a:br>
              <a:rPr lang="en-US" sz="1200" b="0" cap="none" spc="0" dirty="0">
                <a:ln w="0"/>
                <a:solidFill>
                  <a:schemeClr val="accent2">
                    <a:lumMod val="75000"/>
                  </a:schemeClr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</a:rPr>
            </a:br>
            <a:r>
              <a:rPr lang="en-US" sz="1200" b="0" cap="none" spc="0" dirty="0">
                <a:ln w="0"/>
                <a:solidFill>
                  <a:schemeClr val="accent2">
                    <a:lumMod val="75000"/>
                  </a:schemeClr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</a:rPr>
              <a:t>Close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FD8B901E-4582-1B08-AED5-77376428DF6E}"/>
              </a:ext>
            </a:extLst>
          </p:cNvPr>
          <p:cNvSpPr/>
          <p:nvPr/>
        </p:nvSpPr>
        <p:spPr>
          <a:xfrm rot="1914748">
            <a:off x="11217770" y="1668051"/>
            <a:ext cx="399468" cy="276999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en-US" sz="1200" b="0" cap="none" spc="0" dirty="0">
                <a:ln w="0"/>
                <a:solidFill>
                  <a:schemeClr val="accent2">
                    <a:lumMod val="75000"/>
                  </a:schemeClr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</a:rPr>
              <a:t>Adj</a:t>
            </a: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01CEA58A-0577-7B6A-DA37-7ADA543FA0CC}"/>
              </a:ext>
            </a:extLst>
          </p:cNvPr>
          <p:cNvSpPr/>
          <p:nvPr/>
        </p:nvSpPr>
        <p:spPr>
          <a:xfrm rot="1908593">
            <a:off x="11111906" y="2219059"/>
            <a:ext cx="611194" cy="646331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en-US" sz="1200" dirty="0">
                <a:ln w="0"/>
                <a:solidFill>
                  <a:schemeClr val="accent2">
                    <a:lumMod val="75000"/>
                  </a:schemeClr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</a:rPr>
              <a:t>Close,</a:t>
            </a:r>
            <a:br>
              <a:rPr lang="en-US" sz="1200" b="0" cap="none" spc="0" dirty="0">
                <a:ln w="0"/>
                <a:solidFill>
                  <a:schemeClr val="accent2">
                    <a:lumMod val="75000"/>
                  </a:schemeClr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</a:rPr>
            </a:br>
            <a:r>
              <a:rPr lang="en-US" sz="1200" b="0" cap="none" spc="0" dirty="0">
                <a:ln w="0"/>
                <a:solidFill>
                  <a:schemeClr val="accent2">
                    <a:lumMod val="75000"/>
                  </a:schemeClr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</a:rPr>
              <a:t>Avg</a:t>
            </a:r>
            <a:br>
              <a:rPr lang="en-US" sz="1200" b="0" cap="none" spc="0" dirty="0">
                <a:ln w="0"/>
                <a:solidFill>
                  <a:schemeClr val="accent2">
                    <a:lumMod val="75000"/>
                  </a:schemeClr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</a:rPr>
            </a:br>
            <a:r>
              <a:rPr lang="en-US" sz="1200" b="0" cap="none" spc="0" dirty="0">
                <a:ln w="0"/>
                <a:solidFill>
                  <a:schemeClr val="accent2">
                    <a:lumMod val="75000"/>
                  </a:schemeClr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</a:rPr>
              <a:t>Close</a:t>
            </a: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D58EDC44-E628-75D1-01D8-0CA61A12BE50}"/>
              </a:ext>
            </a:extLst>
          </p:cNvPr>
          <p:cNvSpPr/>
          <p:nvPr/>
        </p:nvSpPr>
        <p:spPr>
          <a:xfrm rot="1908593">
            <a:off x="11231040" y="3272816"/>
            <a:ext cx="572593" cy="276999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en-US" sz="1200" b="0" cap="none" spc="0" dirty="0">
                <a:ln w="0"/>
                <a:solidFill>
                  <a:schemeClr val="accent2">
                    <a:lumMod val="75000"/>
                  </a:schemeClr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</a:rPr>
              <a:t>Close</a:t>
            </a:r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5F68D899-7D85-5050-3BC9-F501F4ED986E}"/>
              </a:ext>
            </a:extLst>
          </p:cNvPr>
          <p:cNvSpPr/>
          <p:nvPr/>
        </p:nvSpPr>
        <p:spPr>
          <a:xfrm rot="1914748">
            <a:off x="11217769" y="4218714"/>
            <a:ext cx="399468" cy="276999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en-US" sz="1200" b="0" cap="none" spc="0" dirty="0">
                <a:ln w="0"/>
                <a:solidFill>
                  <a:schemeClr val="accent2">
                    <a:lumMod val="75000"/>
                  </a:schemeClr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</a:rPr>
              <a:t>Adj</a:t>
            </a:r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594ED320-0C75-2A18-C488-4690A41A8D07}"/>
              </a:ext>
            </a:extLst>
          </p:cNvPr>
          <p:cNvSpPr/>
          <p:nvPr/>
        </p:nvSpPr>
        <p:spPr>
          <a:xfrm>
            <a:off x="468425" y="5852100"/>
            <a:ext cx="2404376" cy="830997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r>
              <a:rPr lang="en-US" sz="1200" b="0" cap="none" spc="0" dirty="0">
                <a:ln w="0"/>
                <a:solidFill>
                  <a:schemeClr val="accent2">
                    <a:lumMod val="75000"/>
                  </a:schemeClr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</a:rPr>
              <a:t>Adj : Adjusted Price</a:t>
            </a:r>
          </a:p>
          <a:p>
            <a:r>
              <a:rPr lang="en-US" sz="1200" dirty="0">
                <a:ln w="0"/>
                <a:solidFill>
                  <a:schemeClr val="accent2">
                    <a:lumMod val="75000"/>
                  </a:schemeClr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</a:rPr>
              <a:t>Avg Adj: SMA150</a:t>
            </a:r>
            <a:endParaRPr lang="en-US" sz="1200" b="0" cap="none" spc="0" dirty="0">
              <a:ln w="0"/>
              <a:solidFill>
                <a:schemeClr val="accent2">
                  <a:lumMod val="75000"/>
                </a:schemeClr>
              </a:solidFill>
              <a:effectLst>
                <a:outerShdw blurRad="38100" dist="25400" dir="5400000" algn="ctr" rotWithShape="0">
                  <a:srgbClr val="6E747A">
                    <a:alpha val="43000"/>
                  </a:srgbClr>
                </a:outerShdw>
              </a:effectLst>
            </a:endParaRPr>
          </a:p>
          <a:p>
            <a:r>
              <a:rPr lang="en-US" sz="1200" dirty="0">
                <a:ln w="0"/>
                <a:solidFill>
                  <a:schemeClr val="accent2">
                    <a:lumMod val="75000"/>
                  </a:schemeClr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</a:rPr>
              <a:t>Close:  Real Close price</a:t>
            </a:r>
          </a:p>
          <a:p>
            <a:r>
              <a:rPr lang="en-US" sz="1200" b="0" cap="none" spc="0" dirty="0">
                <a:ln w="0"/>
                <a:solidFill>
                  <a:schemeClr val="accent2">
                    <a:lumMod val="75000"/>
                  </a:schemeClr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</a:rPr>
              <a:t>Avg Close = Avg Adj x (Close / Adj)</a:t>
            </a:r>
          </a:p>
        </p:txBody>
      </p:sp>
    </p:spTree>
    <p:extLst>
      <p:ext uri="{BB962C8B-B14F-4D97-AF65-F5344CB8AC3E}">
        <p14:creationId xmlns:p14="http://schemas.microsoft.com/office/powerpoint/2010/main" val="3506395512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F32D375-A3BC-F1BC-04E8-BB6E1FC96DB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788F036-F154-D157-7A92-EE002DF0252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58365" y="171245"/>
            <a:ext cx="8342015" cy="469735"/>
          </a:xfrm>
        </p:spPr>
        <p:txBody>
          <a:bodyPr>
            <a:normAutofit fontScale="90000"/>
          </a:bodyPr>
          <a:lstStyle/>
          <a:p>
            <a:r>
              <a:rPr lang="en-US" b="1" noProof="1">
                <a:solidFill>
                  <a:srgbClr val="002060"/>
                </a:solidFill>
              </a:rPr>
              <a:t>rules.json</a:t>
            </a:r>
            <a:endParaRPr lang="en-US" b="1" dirty="0">
              <a:solidFill>
                <a:srgbClr val="002060"/>
              </a:solidFill>
            </a:endParaRPr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9F3A49FC-06B1-0189-4536-957DE2F133D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07010" y="933254"/>
            <a:ext cx="10646790" cy="5243709"/>
          </a:xfrm>
        </p:spPr>
        <p:txBody>
          <a:bodyPr/>
          <a:lstStyle/>
          <a:p>
            <a:pPr marL="0" indent="0">
              <a:buNone/>
              <a:tabLst>
                <a:tab pos="519113" algn="l"/>
              </a:tabLst>
            </a:pPr>
            <a:r>
              <a:rPr lang="en-US" dirty="0"/>
              <a:t>This file is modified by:</a:t>
            </a:r>
            <a:br>
              <a:rPr lang="en-US" dirty="0"/>
            </a:br>
            <a:r>
              <a:rPr lang="en-US" dirty="0"/>
              <a:t>	(1) The user may change the parameters</a:t>
            </a:r>
            <a:br>
              <a:rPr lang="en-US" dirty="0"/>
            </a:br>
            <a:r>
              <a:rPr lang="en-US" dirty="0"/>
              <a:t>	(2) sim_wraper.py may change any parameter to optimize score</a:t>
            </a:r>
            <a:br>
              <a:rPr lang="en-US" dirty="0"/>
            </a:br>
            <a:r>
              <a:rPr lang="en-US" dirty="0"/>
              <a:t>	</a:t>
            </a:r>
          </a:p>
          <a:p>
            <a:pPr marL="0" indent="0">
              <a:buNone/>
            </a:pPr>
            <a:br>
              <a:rPr lang="en-US" dirty="0"/>
            </a:b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48630548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FBB663F-1992-BFF6-EC17-BEE6F0E0B52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21222E5-2938-E755-6035-CEB89DD9664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58365" y="171245"/>
            <a:ext cx="8342015" cy="469735"/>
          </a:xfrm>
        </p:spPr>
        <p:txBody>
          <a:bodyPr>
            <a:normAutofit fontScale="90000"/>
          </a:bodyPr>
          <a:lstStyle/>
          <a:p>
            <a:r>
              <a:rPr lang="en-US" b="1" noProof="1">
                <a:solidFill>
                  <a:srgbClr val="002060"/>
                </a:solidFill>
              </a:rPr>
              <a:t>simulate_yuda.py</a:t>
            </a:r>
            <a:endParaRPr lang="en-US" b="1" dirty="0">
              <a:solidFill>
                <a:srgbClr val="002060"/>
              </a:solidFill>
            </a:endParaRPr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F6206990-2935-06C5-5D5F-4F5E9AA8FF0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07010" y="933255"/>
            <a:ext cx="10646790" cy="2092750"/>
          </a:xfrm>
        </p:spPr>
        <p:txBody>
          <a:bodyPr>
            <a:normAutofit lnSpcReduction="10000"/>
          </a:bodyPr>
          <a:lstStyle/>
          <a:p>
            <a:pPr>
              <a:tabLst>
                <a:tab pos="519113" algn="l"/>
              </a:tabLst>
            </a:pPr>
            <a:r>
              <a:rPr lang="en-US" dirty="0"/>
              <a:t>This python code runs the simulation from start_date to end_date.</a:t>
            </a:r>
          </a:p>
          <a:p>
            <a:pPr>
              <a:tabLst>
                <a:tab pos="519113" algn="l"/>
              </a:tabLst>
            </a:pPr>
            <a:r>
              <a:rPr lang="en-US" dirty="0"/>
              <a:t>It follows the user parameters of rules.json.</a:t>
            </a:r>
          </a:p>
          <a:p>
            <a:pPr>
              <a:tabLst>
                <a:tab pos="519113" algn="l"/>
              </a:tabLst>
            </a:pPr>
            <a:r>
              <a:rPr lang="en-US" dirty="0"/>
              <a:t>It generates a log file “</a:t>
            </a:r>
            <a:r>
              <a:rPr lang="en-US" noProof="1"/>
              <a:t>yyyy-mm-dd</a:t>
            </a:r>
            <a:r>
              <a:rPr lang="en-US" dirty="0"/>
              <a:t> hh-mm.log” with the simulation results. The best results are at “logs/2025-11-14 00-55.log”.</a:t>
            </a:r>
            <a:br>
              <a:rPr lang="en-US" dirty="0"/>
            </a:b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237245159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CCD869E-D9F0-D688-57A3-6565E06D807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0BD0138-5517-6B9B-3D85-E9B50A8AD1A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58365" y="171245"/>
            <a:ext cx="8342015" cy="469735"/>
          </a:xfrm>
        </p:spPr>
        <p:txBody>
          <a:bodyPr>
            <a:normAutofit fontScale="90000"/>
          </a:bodyPr>
          <a:lstStyle/>
          <a:p>
            <a:r>
              <a:rPr lang="en-US" b="1" noProof="1">
                <a:solidFill>
                  <a:srgbClr val="002060"/>
                </a:solidFill>
              </a:rPr>
              <a:t>sim_wraper.py</a:t>
            </a:r>
            <a:endParaRPr lang="en-US" b="1" dirty="0">
              <a:solidFill>
                <a:srgbClr val="002060"/>
              </a:solidFill>
            </a:endParaRPr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27C082FB-6FCE-CCE6-8D09-F3CB5BCD416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07010" y="933254"/>
            <a:ext cx="10646790" cy="3440783"/>
          </a:xfrm>
        </p:spPr>
        <p:txBody>
          <a:bodyPr>
            <a:normAutofit lnSpcReduction="10000"/>
          </a:bodyPr>
          <a:lstStyle/>
          <a:p>
            <a:pPr>
              <a:tabLst>
                <a:tab pos="519113" algn="l"/>
              </a:tabLst>
            </a:pPr>
            <a:r>
              <a:rPr lang="en-US" sz="2000" dirty="0"/>
              <a:t> This python code calls simulate_yuda.py 3 times for each rule. </a:t>
            </a:r>
          </a:p>
          <a:p>
            <a:pPr marL="914400" lvl="1" indent="-457200">
              <a:buFont typeface="+mj-lt"/>
              <a:buAutoNum type="arabicPeriod"/>
              <a:tabLst>
                <a:tab pos="519113" algn="l"/>
              </a:tabLst>
            </a:pPr>
            <a:r>
              <a:rPr lang="en-US" sz="1600" dirty="0"/>
              <a:t> The 1</a:t>
            </a:r>
            <a:r>
              <a:rPr lang="en-US" sz="1600" baseline="30000" dirty="0"/>
              <a:t>st</a:t>
            </a:r>
            <a:r>
              <a:rPr lang="en-US" sz="1600" dirty="0"/>
              <a:t> run of each triplet uses the rule’s value from original rules.</a:t>
            </a:r>
            <a:r>
              <a:rPr lang="en-US" sz="1600" noProof="1"/>
              <a:t>json</a:t>
            </a:r>
            <a:r>
              <a:rPr lang="en-US" sz="1600" dirty="0"/>
              <a:t>.</a:t>
            </a:r>
          </a:p>
          <a:p>
            <a:pPr marL="914400" lvl="1" indent="-457200">
              <a:buFont typeface="+mj-lt"/>
              <a:buAutoNum type="arabicPeriod"/>
              <a:tabLst>
                <a:tab pos="519113" algn="l"/>
              </a:tabLst>
            </a:pPr>
            <a:r>
              <a:rPr lang="en-US" sz="1600" dirty="0"/>
              <a:t> The 2</a:t>
            </a:r>
            <a:r>
              <a:rPr lang="en-US" sz="1600" baseline="30000" dirty="0"/>
              <a:t>nd</a:t>
            </a:r>
            <a:r>
              <a:rPr lang="en-US" sz="1600" dirty="0"/>
              <a:t> run is +5% above the original rule.</a:t>
            </a:r>
          </a:p>
          <a:p>
            <a:pPr marL="914400" lvl="1" indent="-457200">
              <a:buFont typeface="+mj-lt"/>
              <a:buAutoNum type="arabicPeriod"/>
              <a:tabLst>
                <a:tab pos="519113" algn="l"/>
              </a:tabLst>
            </a:pPr>
            <a:r>
              <a:rPr lang="en-US" sz="1600" dirty="0"/>
              <a:t> The 3</a:t>
            </a:r>
            <a:r>
              <a:rPr lang="en-US" sz="1600" baseline="30000" dirty="0"/>
              <a:t>rd</a:t>
            </a:r>
            <a:r>
              <a:rPr lang="en-US" sz="1600" dirty="0"/>
              <a:t> run is -5% below the original rule.</a:t>
            </a:r>
          </a:p>
          <a:p>
            <a:pPr marL="339725" indent="-339725">
              <a:tabLst>
                <a:tab pos="519113" algn="l"/>
              </a:tabLst>
            </a:pPr>
            <a:r>
              <a:rPr lang="en-US" sz="2000" dirty="0"/>
              <a:t>For each run, sim_wraper.py will calculate a </a:t>
            </a:r>
            <a:r>
              <a:rPr lang="en-US" sz="2000" b="1" dirty="0"/>
              <a:t>Score = Ann% / -Drawdown%</a:t>
            </a:r>
          </a:p>
          <a:p>
            <a:pPr marL="339725" indent="-339725">
              <a:tabLst>
                <a:tab pos="519113" algn="l"/>
              </a:tabLst>
            </a:pPr>
            <a:r>
              <a:rPr lang="en-US" sz="2000" dirty="0"/>
              <a:t>sim_wraper.py will select the best score of the triplet and will update the rule parameter in rules.</a:t>
            </a:r>
            <a:r>
              <a:rPr lang="en-US" sz="2000" noProof="1"/>
              <a:t>json.</a:t>
            </a:r>
          </a:p>
          <a:p>
            <a:pPr marL="339725" indent="-339725">
              <a:tabLst>
                <a:tab pos="519113" algn="l"/>
              </a:tabLst>
            </a:pPr>
            <a:r>
              <a:rPr lang="en-US" sz="2000" noProof="1"/>
              <a:t>Then, it will repeat the same process for all the other rules.</a:t>
            </a:r>
          </a:p>
          <a:p>
            <a:pPr marL="339725" indent="-339725">
              <a:tabLst>
                <a:tab pos="519113" algn="l"/>
              </a:tabLst>
            </a:pPr>
            <a:r>
              <a:rPr lang="en-US" sz="2000" dirty="0"/>
              <a:t>At the end it will generate a log file “optimizer </a:t>
            </a:r>
            <a:r>
              <a:rPr lang="en-US" sz="2000" noProof="1"/>
              <a:t>yyyy-mm-dd</a:t>
            </a:r>
            <a:r>
              <a:rPr lang="en-US" sz="2000" dirty="0"/>
              <a:t> hh-mm.log” with the optimization results. The best results are at “optimize 2025_14_11 08_36.log”.</a:t>
            </a:r>
            <a:br>
              <a:rPr lang="en-US" dirty="0"/>
            </a:br>
            <a:endParaRPr lang="en-US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91FE00E1-AF72-886B-C7CC-0630E91ED826}"/>
              </a:ext>
            </a:extLst>
          </p:cNvPr>
          <p:cNvSpPr txBox="1"/>
          <p:nvPr/>
        </p:nvSpPr>
        <p:spPr>
          <a:xfrm>
            <a:off x="770248" y="4469213"/>
            <a:ext cx="10520314" cy="1160959"/>
          </a:xfrm>
          <a:prstGeom prst="rect">
            <a:avLst/>
          </a:prstGeom>
          <a:noFill/>
          <a:ln>
            <a:solidFill>
              <a:srgbClr val="00B0F0"/>
            </a:solidFill>
          </a:ln>
        </p:spPr>
        <p:txBody>
          <a:bodyPr wrap="square">
            <a:spAutoFit/>
          </a:bodyPr>
          <a:lstStyle/>
          <a:p>
            <a:pPr>
              <a:lnSpc>
                <a:spcPts val="1425"/>
              </a:lnSpc>
              <a:buNone/>
            </a:pPr>
            <a:r>
              <a:rPr lang="en-US" sz="1100" b="0" dirty="0">
                <a:solidFill>
                  <a:schemeClr val="tx2">
                    <a:lumMod val="75000"/>
                    <a:lumOff val="25000"/>
                  </a:schemeClr>
                </a:solidFill>
                <a:effectLst/>
                <a:latin typeface="Consolas" panose="020B0609020204030204" pitchFamily="49" charset="0"/>
              </a:rPr>
              <a:t>Simulation summary:</a:t>
            </a:r>
          </a:p>
          <a:p>
            <a:pPr>
              <a:lnSpc>
                <a:spcPts val="1425"/>
              </a:lnSpc>
              <a:buNone/>
            </a:pPr>
            <a:r>
              <a:rPr lang="en-US" sz="1100" b="0" dirty="0">
                <a:solidFill>
                  <a:schemeClr val="tx2">
                    <a:lumMod val="75000"/>
                    <a:lumOff val="25000"/>
                  </a:schemeClr>
                </a:solidFill>
                <a:effectLst/>
                <a:latin typeface="Consolas" panose="020B0609020204030204" pitchFamily="49" charset="0"/>
              </a:rPr>
              <a:t>Run Id | max_puts_per_account | Run time          | $NAV           | $Gain          | Ann%   | Drawdown | Score | Log File            </a:t>
            </a:r>
          </a:p>
          <a:p>
            <a:pPr>
              <a:lnSpc>
                <a:spcPts val="1425"/>
              </a:lnSpc>
              <a:buNone/>
            </a:pPr>
            <a:r>
              <a:rPr lang="en-US" sz="1100" b="0" dirty="0">
                <a:solidFill>
                  <a:schemeClr val="tx2">
                    <a:lumMod val="75000"/>
                    <a:lumOff val="25000"/>
                  </a:schemeClr>
                </a:solidFill>
                <a:effectLst/>
                <a:latin typeface="Consolas" panose="020B0609020204030204" pitchFamily="49" charset="0"/>
              </a:rPr>
              <a:t>-------+----------------------+-------------------+----------------+----------------+--------+----------+-------+---------------------</a:t>
            </a:r>
          </a:p>
          <a:p>
            <a:pPr>
              <a:lnSpc>
                <a:spcPts val="1425"/>
              </a:lnSpc>
              <a:buNone/>
            </a:pPr>
            <a:r>
              <a:rPr lang="en-US" sz="1100" b="0" dirty="0">
                <a:solidFill>
                  <a:schemeClr val="tx2">
                    <a:lumMod val="75000"/>
                    <a:lumOff val="25000"/>
                  </a:schemeClr>
                </a:solidFill>
                <a:effectLst/>
                <a:latin typeface="Consolas" panose="020B0609020204030204" pitchFamily="49" charset="0"/>
              </a:rPr>
              <a:t>1      | 35                   | 00:01:19 (79.47s) | $47,197,722.88 | $46,197,722.88 | 93.90% | -29.27%  | 3.208 | 2025-11-14 08-36.log</a:t>
            </a:r>
          </a:p>
          <a:p>
            <a:pPr>
              <a:lnSpc>
                <a:spcPts val="1425"/>
              </a:lnSpc>
              <a:buNone/>
            </a:pPr>
            <a:r>
              <a:rPr lang="en-US" sz="1100" b="0" dirty="0">
                <a:solidFill>
                  <a:schemeClr val="tx2">
                    <a:lumMod val="75000"/>
                    <a:lumOff val="25000"/>
                  </a:schemeClr>
                </a:solidFill>
                <a:effectLst/>
                <a:latin typeface="Consolas" panose="020B0609020204030204" pitchFamily="49" charset="0"/>
              </a:rPr>
              <a:t>2      | 37 (best score)      | 00:01:20 (80.81s) | $44,870,200.95 | $43,870,200.95 | 92.22% | -28.56%  | 3.229 | 2025-11-14 08-37.log</a:t>
            </a:r>
          </a:p>
          <a:p>
            <a:pPr>
              <a:lnSpc>
                <a:spcPts val="1425"/>
              </a:lnSpc>
              <a:buNone/>
            </a:pPr>
            <a:r>
              <a:rPr lang="en-US" sz="1100" b="0" dirty="0">
                <a:solidFill>
                  <a:schemeClr val="tx2">
                    <a:lumMod val="75000"/>
                    <a:lumOff val="25000"/>
                  </a:schemeClr>
                </a:solidFill>
                <a:effectLst/>
                <a:latin typeface="Consolas" panose="020B0609020204030204" pitchFamily="49" charset="0"/>
              </a:rPr>
              <a:t>3      | 33                   | 00:01:20 (80.35s) | $47,189,783.22 | $46,189,783.22 | 93.90% | -30.90%  | 3.039 | 2025-11-14 08-38.log</a:t>
            </a:r>
          </a:p>
        </p:txBody>
      </p:sp>
    </p:spTree>
    <p:extLst>
      <p:ext uri="{BB962C8B-B14F-4D97-AF65-F5344CB8AC3E}">
        <p14:creationId xmlns:p14="http://schemas.microsoft.com/office/powerpoint/2010/main" val="2676534266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28DF981-96F0-ACAA-4F3F-2BB2B4A18CA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A7FE5A50-CB93-98CB-50E9-9460CF4DABF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68825" y="2858866"/>
            <a:ext cx="5613289" cy="1908827"/>
          </a:xfrm>
          <a:prstGeom prst="rect">
            <a:avLst/>
          </a:prstGeom>
        </p:spPr>
      </p:pic>
      <p:pic>
        <p:nvPicPr>
          <p:cNvPr id="3" name="Picture 2">
            <a:extLst>
              <a:ext uri="{FF2B5EF4-FFF2-40B4-BE49-F238E27FC236}">
                <a16:creationId xmlns:a16="http://schemas.microsoft.com/office/drawing/2014/main" id="{44C0FA6E-98D5-8ABF-1A74-D613A322887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5037" y="2858866"/>
            <a:ext cx="5613289" cy="3736166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F61885F0-A88C-2665-81E3-C1AE72F54AC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58365" y="171245"/>
            <a:ext cx="8342015" cy="469735"/>
          </a:xfrm>
        </p:spPr>
        <p:txBody>
          <a:bodyPr>
            <a:normAutofit fontScale="90000"/>
          </a:bodyPr>
          <a:lstStyle/>
          <a:p>
            <a:r>
              <a:rPr lang="en-US" b="1" noProof="1">
                <a:solidFill>
                  <a:srgbClr val="002060"/>
                </a:solidFill>
              </a:rPr>
              <a:t>Summary.xlsm</a:t>
            </a:r>
            <a:endParaRPr lang="en-US" b="1" dirty="0">
              <a:solidFill>
                <a:srgbClr val="002060"/>
              </a:solidFill>
            </a:endParaRPr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0C252127-8EB5-3BE2-7A74-ECB7811FCC2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09047" y="787117"/>
            <a:ext cx="10887959" cy="1814681"/>
          </a:xfrm>
        </p:spPr>
        <p:txBody>
          <a:bodyPr>
            <a:normAutofit/>
          </a:bodyPr>
          <a:lstStyle/>
          <a:p>
            <a:pPr>
              <a:tabLst>
                <a:tab pos="519113" algn="l"/>
              </a:tabLst>
            </a:pPr>
            <a:r>
              <a:rPr lang="en-US" sz="1600" dirty="0"/>
              <a:t> This excel file is a summary of all the manual and automatic optimizations</a:t>
            </a:r>
          </a:p>
          <a:p>
            <a:pPr>
              <a:tabLst>
                <a:tab pos="519113" algn="l"/>
              </a:tabLst>
            </a:pPr>
            <a:r>
              <a:rPr lang="en-US" sz="1600" dirty="0"/>
              <a:t> It includes “Optimization No-Yes-No” tab which is using </a:t>
            </a:r>
            <a:r>
              <a:rPr lang="en-US" sz="1600" b="1" dirty="0"/>
              <a:t>Rank by annual risk = True</a:t>
            </a:r>
          </a:p>
          <a:p>
            <a:pPr>
              <a:tabLst>
                <a:tab pos="519113" algn="l"/>
              </a:tabLst>
            </a:pPr>
            <a:r>
              <a:rPr lang="en-US" sz="1600" dirty="0"/>
              <a:t> It includes “Optimization Yes-No-No” tab which is using </a:t>
            </a:r>
            <a:r>
              <a:rPr lang="en-US" sz="1600" b="1" dirty="0"/>
              <a:t>Rank by risk reward = True</a:t>
            </a:r>
          </a:p>
          <a:p>
            <a:pPr>
              <a:tabLst>
                <a:tab pos="519113" algn="l"/>
              </a:tabLst>
            </a:pPr>
            <a:r>
              <a:rPr lang="en-US" sz="1600" b="1" dirty="0"/>
              <a:t> </a:t>
            </a:r>
            <a:r>
              <a:rPr lang="en-US" sz="1600" dirty="0"/>
              <a:t>It includes “Charts” tab which can load a log file of “simulate_yuda.py” and create a plot of the results:</a:t>
            </a:r>
            <a:br>
              <a:rPr lang="en-US" sz="1600" dirty="0"/>
            </a:br>
            <a:r>
              <a:rPr lang="en-US" sz="2000" dirty="0"/>
              <a:t>logs/2025-11-27 09-36.log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668DB128-2614-52C7-98C1-2F53D0C6A6A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829691" y="1811286"/>
            <a:ext cx="1409524" cy="333333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6A590BA2-BC98-E220-1E17-D952B3BBFF70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268825" y="4686205"/>
            <a:ext cx="5613289" cy="190882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94350866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A09EE3B-252E-2BFA-DE30-1FB81B1C592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1D5A90E-5EE0-4127-1E41-72789DF20F6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16963" y="171245"/>
            <a:ext cx="8483417" cy="469735"/>
          </a:xfrm>
        </p:spPr>
        <p:txBody>
          <a:bodyPr>
            <a:normAutofit fontScale="90000"/>
          </a:bodyPr>
          <a:lstStyle/>
          <a:p>
            <a:r>
              <a:rPr lang="en-US" b="1" noProof="1">
                <a:solidFill>
                  <a:srgbClr val="002060"/>
                </a:solidFill>
              </a:rPr>
              <a:t>Log file: Rules</a:t>
            </a:r>
            <a:endParaRPr lang="en-US" b="1" dirty="0">
              <a:solidFill>
                <a:srgbClr val="002060"/>
              </a:solidFill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58C8A408-83BF-7D6C-5B5C-00805C64F110}"/>
              </a:ext>
            </a:extLst>
          </p:cNvPr>
          <p:cNvSpPr txBox="1"/>
          <p:nvPr/>
        </p:nvSpPr>
        <p:spPr>
          <a:xfrm>
            <a:off x="216963" y="790121"/>
            <a:ext cx="3695161" cy="475001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ts val="1425"/>
              </a:lnSpc>
              <a:buNone/>
            </a:pPr>
            <a:r>
              <a:rPr lang="en-US" sz="1050" b="0" dirty="0">
                <a:solidFill>
                  <a:schemeClr val="tx2">
                    <a:lumMod val="75000"/>
                    <a:lumOff val="25000"/>
                  </a:schemeClr>
                </a:solidFill>
                <a:effectLst/>
                <a:latin typeface="Consolas" panose="020B0609020204030204" pitchFamily="49" charset="0"/>
              </a:rPr>
              <a:t>📊 Account Simulation Rules</a:t>
            </a:r>
          </a:p>
          <a:p>
            <a:pPr>
              <a:lnSpc>
                <a:spcPts val="1425"/>
              </a:lnSpc>
              <a:buNone/>
            </a:pPr>
            <a:r>
              <a:rPr lang="en-US" sz="1050" b="0" dirty="0">
                <a:solidFill>
                  <a:schemeClr val="tx2">
                    <a:lumMod val="75000"/>
                    <a:lumOff val="25000"/>
                  </a:schemeClr>
                </a:solidFill>
                <a:effectLst/>
                <a:latin typeface="Consolas" panose="020B0609020204030204" pitchFamily="49" charset="0"/>
              </a:rPr>
              <a:t>|----------------------------|----------------|</a:t>
            </a:r>
          </a:p>
          <a:p>
            <a:pPr>
              <a:lnSpc>
                <a:spcPts val="1425"/>
              </a:lnSpc>
              <a:buNone/>
            </a:pPr>
            <a:r>
              <a:rPr lang="en-US" sz="1050" b="0" dirty="0">
                <a:solidFill>
                  <a:schemeClr val="tx2">
                    <a:lumMod val="75000"/>
                    <a:lumOff val="25000"/>
                  </a:schemeClr>
                </a:solidFill>
                <a:effectLst/>
                <a:latin typeface="Consolas" panose="020B0609020204030204" pitchFamily="49" charset="0"/>
              </a:rPr>
              <a:t>| Parameter                  | Value          |</a:t>
            </a:r>
          </a:p>
          <a:p>
            <a:pPr>
              <a:lnSpc>
                <a:spcPts val="1425"/>
              </a:lnSpc>
              <a:buNone/>
            </a:pPr>
            <a:r>
              <a:rPr lang="en-US" sz="1050" b="0" dirty="0">
                <a:solidFill>
                  <a:schemeClr val="tx2">
                    <a:lumMod val="75000"/>
                    <a:lumOff val="25000"/>
                  </a:schemeClr>
                </a:solidFill>
                <a:effectLst/>
                <a:latin typeface="Consolas" panose="020B0609020204030204" pitchFamily="49" charset="0"/>
              </a:rPr>
              <a:t>|----------------------------|----------------|</a:t>
            </a:r>
          </a:p>
          <a:p>
            <a:pPr>
              <a:lnSpc>
                <a:spcPts val="1425"/>
              </a:lnSpc>
              <a:buNone/>
            </a:pPr>
            <a:r>
              <a:rPr lang="en-US" sz="1050" b="0" dirty="0">
                <a:solidFill>
                  <a:schemeClr val="tx2">
                    <a:lumMod val="75000"/>
                    <a:lumOff val="25000"/>
                  </a:schemeClr>
                </a:solidFill>
                <a:effectLst/>
                <a:latin typeface="Consolas" panose="020B0609020204030204" pitchFamily="49" charset="0"/>
              </a:rPr>
              <a:t>| Start Date                 | 01/01/2020     |</a:t>
            </a:r>
          </a:p>
          <a:p>
            <a:pPr>
              <a:lnSpc>
                <a:spcPts val="1425"/>
              </a:lnSpc>
              <a:buNone/>
            </a:pPr>
            <a:r>
              <a:rPr lang="en-US" sz="1050" b="0" dirty="0">
                <a:solidFill>
                  <a:schemeClr val="tx2">
                    <a:lumMod val="75000"/>
                    <a:lumOff val="25000"/>
                  </a:schemeClr>
                </a:solidFill>
                <a:effectLst/>
                <a:latin typeface="Consolas" panose="020B0609020204030204" pitchFamily="49" charset="0"/>
              </a:rPr>
              <a:t>| End Date (Early Exit)      | 10/28/2025     |</a:t>
            </a:r>
          </a:p>
          <a:p>
            <a:pPr>
              <a:lnSpc>
                <a:spcPts val="1425"/>
              </a:lnSpc>
              <a:buNone/>
            </a:pPr>
            <a:r>
              <a:rPr lang="en-US" sz="1050" b="0" dirty="0">
                <a:solidFill>
                  <a:schemeClr val="tx2">
                    <a:lumMod val="75000"/>
                    <a:lumOff val="25000"/>
                  </a:schemeClr>
                </a:solidFill>
                <a:effectLst/>
                <a:latin typeface="Consolas" panose="020B0609020204030204" pitchFamily="49" charset="0"/>
              </a:rPr>
              <a:t>| Initial Cash               | $ 1,000,000.00 |</a:t>
            </a:r>
          </a:p>
          <a:p>
            <a:pPr>
              <a:lnSpc>
                <a:spcPts val="1425"/>
              </a:lnSpc>
              <a:buNone/>
            </a:pPr>
            <a:r>
              <a:rPr lang="en-US" sz="1050" b="0" dirty="0">
                <a:solidFill>
                  <a:schemeClr val="tx2">
                    <a:lumMod val="75000"/>
                    <a:lumOff val="25000"/>
                  </a:schemeClr>
                </a:solidFill>
                <a:effectLst/>
                <a:latin typeface="Consolas" panose="020B0609020204030204" pitchFamily="49" charset="0"/>
              </a:rPr>
              <a:t>| Max Puts/Account           |             36 |</a:t>
            </a:r>
          </a:p>
          <a:p>
            <a:pPr>
              <a:lnSpc>
                <a:spcPts val="1425"/>
              </a:lnSpc>
              <a:buNone/>
            </a:pPr>
            <a:r>
              <a:rPr lang="en-US" sz="1050" b="0" dirty="0">
                <a:solidFill>
                  <a:schemeClr val="tx2">
                    <a:lumMod val="75000"/>
                    <a:lumOff val="25000"/>
                  </a:schemeClr>
                </a:solidFill>
                <a:effectLst/>
                <a:latin typeface="Consolas" panose="020B0609020204030204" pitchFamily="49" charset="0"/>
              </a:rPr>
              <a:t>| Max Puts/Stock             |              7 |</a:t>
            </a:r>
          </a:p>
          <a:p>
            <a:pPr>
              <a:lnSpc>
                <a:spcPts val="1425"/>
              </a:lnSpc>
              <a:buNone/>
            </a:pPr>
            <a:r>
              <a:rPr lang="en-US" sz="1050" b="0" dirty="0">
                <a:solidFill>
                  <a:schemeClr val="tx2">
                    <a:lumMod val="75000"/>
                    <a:lumOff val="25000"/>
                  </a:schemeClr>
                </a:solidFill>
                <a:effectLst/>
                <a:latin typeface="Consolas" panose="020B0609020204030204" pitchFamily="49" charset="0"/>
              </a:rPr>
              <a:t>| Max Puts/Day               |              5 |</a:t>
            </a:r>
          </a:p>
          <a:p>
            <a:pPr>
              <a:lnSpc>
                <a:spcPts val="1425"/>
              </a:lnSpc>
              <a:buNone/>
            </a:pPr>
            <a:r>
              <a:rPr lang="en-US" sz="1050" b="0" dirty="0">
                <a:solidFill>
                  <a:schemeClr val="tx2">
                    <a:lumMod val="75000"/>
                    <a:lumOff val="25000"/>
                  </a:schemeClr>
                </a:solidFill>
                <a:effectLst/>
                <a:latin typeface="Consolas" panose="020B0609020204030204" pitchFamily="49" charset="0"/>
              </a:rPr>
              <a:t>| Wrapper Sweep +/- Step %   |        3.0000% |</a:t>
            </a:r>
          </a:p>
          <a:p>
            <a:pPr>
              <a:lnSpc>
                <a:spcPts val="1425"/>
              </a:lnSpc>
              <a:buNone/>
            </a:pPr>
            <a:r>
              <a:rPr lang="en-US" sz="1050" b="0" dirty="0">
                <a:solidFill>
                  <a:schemeClr val="tx2">
                    <a:lumMod val="75000"/>
                    <a:lumOff val="25000"/>
                  </a:schemeClr>
                </a:solidFill>
                <a:effectLst/>
                <a:latin typeface="Consolas" panose="020B0609020204030204" pitchFamily="49" charset="0"/>
              </a:rPr>
              <a:t>|----------------------------|----------------|</a:t>
            </a:r>
          </a:p>
          <a:p>
            <a:pPr>
              <a:lnSpc>
                <a:spcPts val="1425"/>
              </a:lnSpc>
              <a:buNone/>
            </a:pPr>
            <a:br>
              <a:rPr lang="en-US" sz="1050" b="0" dirty="0">
                <a:solidFill>
                  <a:schemeClr val="tx2">
                    <a:lumMod val="75000"/>
                    <a:lumOff val="25000"/>
                  </a:schemeClr>
                </a:solidFill>
                <a:effectLst/>
                <a:latin typeface="Consolas" panose="020B0609020204030204" pitchFamily="49" charset="0"/>
              </a:rPr>
            </a:br>
            <a:endParaRPr lang="en-US" sz="1050" b="0" dirty="0">
              <a:solidFill>
                <a:schemeClr val="tx2">
                  <a:lumMod val="75000"/>
                  <a:lumOff val="25000"/>
                </a:schemeClr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ts val="1425"/>
              </a:lnSpc>
              <a:buNone/>
            </a:pPr>
            <a:r>
              <a:rPr lang="en-US" sz="1050" b="0" dirty="0">
                <a:solidFill>
                  <a:schemeClr val="tx2">
                    <a:lumMod val="75000"/>
                    <a:lumOff val="25000"/>
                  </a:schemeClr>
                </a:solidFill>
                <a:effectLst/>
                <a:latin typeface="Consolas" panose="020B0609020204030204" pitchFamily="49" charset="0"/>
              </a:rPr>
              <a:t>🧩 Entry Underlying Stock Rules</a:t>
            </a:r>
          </a:p>
          <a:p>
            <a:pPr>
              <a:lnSpc>
                <a:spcPts val="1425"/>
              </a:lnSpc>
              <a:buNone/>
            </a:pPr>
            <a:r>
              <a:rPr lang="en-US" sz="1050" b="0" dirty="0">
                <a:solidFill>
                  <a:schemeClr val="tx2">
                    <a:lumMod val="75000"/>
                    <a:lumOff val="25000"/>
                  </a:schemeClr>
                </a:solidFill>
                <a:effectLst/>
                <a:latin typeface="Consolas" panose="020B0609020204030204" pitchFamily="49" charset="0"/>
              </a:rPr>
              <a:t>|----------------------------|----------------|</a:t>
            </a:r>
          </a:p>
          <a:p>
            <a:pPr>
              <a:lnSpc>
                <a:spcPts val="1425"/>
              </a:lnSpc>
              <a:buNone/>
            </a:pPr>
            <a:r>
              <a:rPr lang="en-US" sz="1050" b="0" dirty="0">
                <a:solidFill>
                  <a:schemeClr val="tx2">
                    <a:lumMod val="75000"/>
                    <a:lumOff val="25000"/>
                  </a:schemeClr>
                </a:solidFill>
                <a:effectLst/>
                <a:latin typeface="Consolas" panose="020B0609020204030204" pitchFamily="49" charset="0"/>
              </a:rPr>
              <a:t>| Parameter                  | Value          |</a:t>
            </a:r>
          </a:p>
          <a:p>
            <a:pPr>
              <a:lnSpc>
                <a:spcPts val="1425"/>
              </a:lnSpc>
              <a:buNone/>
            </a:pPr>
            <a:r>
              <a:rPr lang="en-US" sz="1050" b="0" dirty="0">
                <a:solidFill>
                  <a:schemeClr val="tx2">
                    <a:lumMod val="75000"/>
                    <a:lumOff val="25000"/>
                  </a:schemeClr>
                </a:solidFill>
                <a:effectLst/>
                <a:latin typeface="Consolas" panose="020B0609020204030204" pitchFamily="49" charset="0"/>
              </a:rPr>
              <a:t>|----------------------------|----------------|</a:t>
            </a:r>
          </a:p>
          <a:p>
            <a:pPr>
              <a:lnSpc>
                <a:spcPts val="1425"/>
              </a:lnSpc>
              <a:buNone/>
            </a:pPr>
            <a:r>
              <a:rPr lang="en-US" sz="1050" b="0" dirty="0">
                <a:solidFill>
                  <a:schemeClr val="tx2">
                    <a:lumMod val="75000"/>
                    <a:lumOff val="25000"/>
                  </a:schemeClr>
                </a:solidFill>
                <a:effectLst/>
                <a:latin typeface="Consolas" panose="020B0609020204030204" pitchFamily="49" charset="0"/>
              </a:rPr>
              <a:t>| Min 5-Day Rise             |        -19.75% |</a:t>
            </a:r>
          </a:p>
          <a:p>
            <a:pPr>
              <a:lnSpc>
                <a:spcPts val="1425"/>
              </a:lnSpc>
              <a:buNone/>
            </a:pPr>
            <a:r>
              <a:rPr lang="en-US" sz="1050" b="0" dirty="0">
                <a:solidFill>
                  <a:schemeClr val="tx2">
                    <a:lumMod val="75000"/>
                    <a:lumOff val="25000"/>
                  </a:schemeClr>
                </a:solidFill>
                <a:effectLst/>
                <a:latin typeface="Consolas" panose="020B0609020204030204" pitchFamily="49" charset="0"/>
              </a:rPr>
              <a:t>| Min Above Avg              |         -4.39% |</a:t>
            </a:r>
          </a:p>
          <a:p>
            <a:pPr>
              <a:lnSpc>
                <a:spcPts val="1425"/>
              </a:lnSpc>
              <a:buNone/>
            </a:pPr>
            <a:r>
              <a:rPr lang="en-US" sz="1050" b="0" dirty="0">
                <a:solidFill>
                  <a:schemeClr val="tx2">
                    <a:lumMod val="75000"/>
                    <a:lumOff val="25000"/>
                  </a:schemeClr>
                </a:solidFill>
                <a:effectLst/>
                <a:latin typeface="Consolas" panose="020B0609020204030204" pitchFamily="49" charset="0"/>
              </a:rPr>
              <a:t>| Max Above Avg              |         41.00% |</a:t>
            </a:r>
          </a:p>
          <a:p>
            <a:pPr>
              <a:lnSpc>
                <a:spcPts val="1425"/>
              </a:lnSpc>
              <a:buNone/>
            </a:pPr>
            <a:r>
              <a:rPr lang="en-US" sz="1050" b="0" dirty="0">
                <a:solidFill>
                  <a:schemeClr val="tx2">
                    <a:lumMod val="75000"/>
                    <a:lumOff val="25000"/>
                  </a:schemeClr>
                </a:solidFill>
                <a:effectLst/>
                <a:latin typeface="Consolas" panose="020B0609020204030204" pitchFamily="49" charset="0"/>
              </a:rPr>
              <a:t>| Min 10-Day Avg Slope       |       -0.1010% |</a:t>
            </a:r>
          </a:p>
          <a:p>
            <a:pPr>
              <a:lnSpc>
                <a:spcPts val="1425"/>
              </a:lnSpc>
              <a:buNone/>
            </a:pPr>
            <a:r>
              <a:rPr lang="en-US" sz="1050" b="0" dirty="0">
                <a:solidFill>
                  <a:schemeClr val="tx2">
                    <a:lumMod val="75000"/>
                    <a:lumOff val="25000"/>
                  </a:schemeClr>
                </a:solidFill>
                <a:effectLst/>
                <a:latin typeface="Consolas" panose="020B0609020204030204" pitchFamily="49" charset="0"/>
              </a:rPr>
              <a:t>| Min Stock Price            | $        27.96 |</a:t>
            </a:r>
          </a:p>
          <a:p>
            <a:pPr>
              <a:lnSpc>
                <a:spcPts val="1425"/>
              </a:lnSpc>
              <a:buNone/>
            </a:pPr>
            <a:r>
              <a:rPr lang="en-US" sz="1050" b="0" dirty="0">
                <a:solidFill>
                  <a:schemeClr val="tx2">
                    <a:lumMod val="75000"/>
                    <a:lumOff val="25000"/>
                  </a:schemeClr>
                </a:solidFill>
                <a:effectLst/>
                <a:latin typeface="Consolas" panose="020B0609020204030204" pitchFamily="49" charset="0"/>
              </a:rPr>
              <a:t>|----------------------------|----------------|</a:t>
            </a:r>
          </a:p>
          <a:p>
            <a:pPr>
              <a:lnSpc>
                <a:spcPts val="1425"/>
              </a:lnSpc>
              <a:buNone/>
            </a:pPr>
            <a:br>
              <a:rPr lang="en-US" sz="1050" b="0" dirty="0">
                <a:solidFill>
                  <a:schemeClr val="tx2">
                    <a:lumMod val="75000"/>
                    <a:lumOff val="25000"/>
                  </a:schemeClr>
                </a:solidFill>
                <a:effectLst/>
                <a:latin typeface="Consolas" panose="020B0609020204030204" pitchFamily="49" charset="0"/>
              </a:rPr>
            </a:br>
            <a:endParaRPr lang="en-US" sz="1050" b="0" dirty="0">
              <a:solidFill>
                <a:schemeClr val="tx2">
                  <a:lumMod val="75000"/>
                  <a:lumOff val="25000"/>
                </a:schemeClr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297BC771-2D1E-E493-B614-13DAE464065C}"/>
              </a:ext>
            </a:extLst>
          </p:cNvPr>
          <p:cNvSpPr txBox="1"/>
          <p:nvPr/>
        </p:nvSpPr>
        <p:spPr>
          <a:xfrm>
            <a:off x="4319121" y="790121"/>
            <a:ext cx="3695161" cy="3672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ts val="1425"/>
              </a:lnSpc>
              <a:buNone/>
            </a:pPr>
            <a:r>
              <a:rPr lang="en-US" sz="1050" b="0" dirty="0">
                <a:solidFill>
                  <a:schemeClr val="tx2">
                    <a:lumMod val="75000"/>
                    <a:lumOff val="25000"/>
                  </a:schemeClr>
                </a:solidFill>
                <a:effectLst/>
                <a:latin typeface="Consolas" panose="020B0609020204030204" pitchFamily="49" charset="0"/>
              </a:rPr>
              <a:t>📈 Entry Put Position Rules</a:t>
            </a:r>
          </a:p>
          <a:p>
            <a:pPr>
              <a:lnSpc>
                <a:spcPts val="1425"/>
              </a:lnSpc>
              <a:buNone/>
            </a:pPr>
            <a:r>
              <a:rPr lang="en-US" sz="1050" b="0" dirty="0">
                <a:solidFill>
                  <a:schemeClr val="tx2">
                    <a:lumMod val="75000"/>
                    <a:lumOff val="25000"/>
                  </a:schemeClr>
                </a:solidFill>
                <a:effectLst/>
                <a:latin typeface="Consolas" panose="020B0609020204030204" pitchFamily="49" charset="0"/>
              </a:rPr>
              <a:t>|----------------------------|----------------|</a:t>
            </a:r>
          </a:p>
          <a:p>
            <a:pPr>
              <a:lnSpc>
                <a:spcPts val="1425"/>
              </a:lnSpc>
              <a:buNone/>
            </a:pPr>
            <a:r>
              <a:rPr lang="en-US" sz="1050" b="0" dirty="0">
                <a:solidFill>
                  <a:schemeClr val="tx2">
                    <a:lumMod val="75000"/>
                    <a:lumOff val="25000"/>
                  </a:schemeClr>
                </a:solidFill>
                <a:effectLst/>
                <a:latin typeface="Consolas" panose="020B0609020204030204" pitchFamily="49" charset="0"/>
              </a:rPr>
              <a:t>| Parameter                  | Value          |</a:t>
            </a:r>
          </a:p>
          <a:p>
            <a:pPr>
              <a:lnSpc>
                <a:spcPts val="1425"/>
              </a:lnSpc>
              <a:buNone/>
            </a:pPr>
            <a:r>
              <a:rPr lang="en-US" sz="1050" b="0" dirty="0">
                <a:solidFill>
                  <a:schemeClr val="tx2">
                    <a:lumMod val="75000"/>
                    <a:lumOff val="25000"/>
                  </a:schemeClr>
                </a:solidFill>
                <a:effectLst/>
                <a:latin typeface="Consolas" panose="020B0609020204030204" pitchFamily="49" charset="0"/>
              </a:rPr>
              <a:t>|----------------------------|----------------|</a:t>
            </a:r>
          </a:p>
          <a:p>
            <a:pPr>
              <a:lnSpc>
                <a:spcPts val="1425"/>
              </a:lnSpc>
              <a:buNone/>
            </a:pPr>
            <a:r>
              <a:rPr lang="en-US" sz="1050" b="0" dirty="0">
                <a:solidFill>
                  <a:schemeClr val="tx2">
                    <a:lumMod val="75000"/>
                    <a:lumOff val="25000"/>
                  </a:schemeClr>
                </a:solidFill>
                <a:effectLst/>
                <a:latin typeface="Consolas" panose="020B0609020204030204" pitchFamily="49" charset="0"/>
              </a:rPr>
              <a:t>| Min DTE                    |             50 |</a:t>
            </a:r>
          </a:p>
          <a:p>
            <a:pPr>
              <a:lnSpc>
                <a:spcPts val="1425"/>
              </a:lnSpc>
              <a:buNone/>
            </a:pPr>
            <a:r>
              <a:rPr lang="en-US" sz="1050" b="0" dirty="0">
                <a:solidFill>
                  <a:schemeClr val="tx2">
                    <a:lumMod val="75000"/>
                    <a:lumOff val="25000"/>
                  </a:schemeClr>
                </a:solidFill>
                <a:effectLst/>
                <a:latin typeface="Consolas" panose="020B0609020204030204" pitchFamily="49" charset="0"/>
              </a:rPr>
              <a:t>| Max DTE                    |            260 |</a:t>
            </a:r>
          </a:p>
          <a:p>
            <a:pPr>
              <a:lnSpc>
                <a:spcPts val="1425"/>
              </a:lnSpc>
              <a:buNone/>
            </a:pPr>
            <a:r>
              <a:rPr lang="en-US" sz="1050" b="0" dirty="0">
                <a:solidFill>
                  <a:schemeClr val="tx2">
                    <a:lumMod val="75000"/>
                    <a:lumOff val="25000"/>
                  </a:schemeClr>
                </a:solidFill>
                <a:effectLst/>
                <a:latin typeface="Consolas" panose="020B0609020204030204" pitchFamily="49" charset="0"/>
              </a:rPr>
              <a:t>| Min Put Bid Price          | $       3.2517 |</a:t>
            </a:r>
          </a:p>
          <a:p>
            <a:pPr>
              <a:lnSpc>
                <a:spcPts val="1425"/>
              </a:lnSpc>
              <a:buNone/>
            </a:pPr>
            <a:r>
              <a:rPr lang="en-US" sz="1050" b="0" dirty="0">
                <a:solidFill>
                  <a:schemeClr val="tx2">
                    <a:lumMod val="75000"/>
                    <a:lumOff val="25000"/>
                  </a:schemeClr>
                </a:solidFill>
                <a:effectLst/>
                <a:latin typeface="Consolas" panose="020B0609020204030204" pitchFamily="49" charset="0"/>
              </a:rPr>
              <a:t>| Min Put Delta              |      -25.0000% |</a:t>
            </a:r>
          </a:p>
          <a:p>
            <a:pPr>
              <a:lnSpc>
                <a:spcPts val="1425"/>
              </a:lnSpc>
              <a:buNone/>
            </a:pPr>
            <a:r>
              <a:rPr lang="en-US" sz="1050" b="0" dirty="0">
                <a:solidFill>
                  <a:schemeClr val="tx2">
                    <a:lumMod val="75000"/>
                    <a:lumOff val="25000"/>
                  </a:schemeClr>
                </a:solidFill>
                <a:effectLst/>
                <a:latin typeface="Consolas" panose="020B0609020204030204" pitchFamily="49" charset="0"/>
              </a:rPr>
              <a:t>| Max Put Delta              |       -1.0000% |</a:t>
            </a:r>
          </a:p>
          <a:p>
            <a:pPr>
              <a:lnSpc>
                <a:spcPts val="1425"/>
              </a:lnSpc>
              <a:buNone/>
            </a:pPr>
            <a:r>
              <a:rPr lang="en-US" sz="1050" b="0" dirty="0">
                <a:solidFill>
                  <a:schemeClr val="tx2">
                    <a:lumMod val="75000"/>
                    <a:lumOff val="25000"/>
                  </a:schemeClr>
                </a:solidFill>
                <a:effectLst/>
                <a:latin typeface="Consolas" panose="020B0609020204030204" pitchFamily="49" charset="0"/>
              </a:rPr>
              <a:t>| Max Bid-Ask Spread         |       55.4300% |</a:t>
            </a:r>
          </a:p>
          <a:p>
            <a:pPr>
              <a:lnSpc>
                <a:spcPts val="1425"/>
              </a:lnSpc>
              <a:buNone/>
            </a:pPr>
            <a:r>
              <a:rPr lang="en-US" sz="1050" b="0" dirty="0">
                <a:solidFill>
                  <a:schemeClr val="tx2">
                    <a:lumMod val="75000"/>
                    <a:lumOff val="25000"/>
                  </a:schemeClr>
                </a:solidFill>
                <a:effectLst/>
                <a:latin typeface="Consolas" panose="020B0609020204030204" pitchFamily="49" charset="0"/>
              </a:rPr>
              <a:t>| Min Avg Above Strike       |       -3.4000% |</a:t>
            </a:r>
          </a:p>
          <a:p>
            <a:pPr>
              <a:lnSpc>
                <a:spcPts val="1425"/>
              </a:lnSpc>
              <a:buNone/>
            </a:pPr>
            <a:r>
              <a:rPr lang="en-US" sz="1050" b="0" dirty="0">
                <a:solidFill>
                  <a:schemeClr val="tx2">
                    <a:lumMod val="75000"/>
                    <a:lumOff val="25000"/>
                  </a:schemeClr>
                </a:solidFill>
                <a:effectLst/>
                <a:latin typeface="Consolas" panose="020B0609020204030204" pitchFamily="49" charset="0"/>
              </a:rPr>
              <a:t>| Min Risk/Reward Ratio      |       -11.0250 |</a:t>
            </a:r>
          </a:p>
          <a:p>
            <a:pPr>
              <a:lnSpc>
                <a:spcPts val="1425"/>
              </a:lnSpc>
              <a:buNone/>
            </a:pPr>
            <a:r>
              <a:rPr lang="en-US" sz="1050" b="0" dirty="0">
                <a:solidFill>
                  <a:schemeClr val="tx2">
                    <a:lumMod val="75000"/>
                    <a:lumOff val="25000"/>
                  </a:schemeClr>
                </a:solidFill>
                <a:effectLst/>
                <a:latin typeface="Consolas" panose="020B0609020204030204" pitchFamily="49" charset="0"/>
              </a:rPr>
              <a:t>| Min Annual Risk            |       -15.3000 |</a:t>
            </a:r>
          </a:p>
          <a:p>
            <a:pPr>
              <a:lnSpc>
                <a:spcPts val="1425"/>
              </a:lnSpc>
              <a:buNone/>
            </a:pPr>
            <a:r>
              <a:rPr lang="en-US" sz="1050" b="0" dirty="0">
                <a:solidFill>
                  <a:schemeClr val="tx2">
                    <a:lumMod val="75000"/>
                    <a:lumOff val="25000"/>
                  </a:schemeClr>
                </a:solidFill>
                <a:effectLst/>
                <a:latin typeface="Consolas" panose="020B0609020204030204" pitchFamily="49" charset="0"/>
              </a:rPr>
              <a:t>| Min Rev Annual Risk        |        -8.0000 |</a:t>
            </a:r>
          </a:p>
          <a:p>
            <a:pPr>
              <a:lnSpc>
                <a:spcPts val="1425"/>
              </a:lnSpc>
              <a:buNone/>
            </a:pPr>
            <a:r>
              <a:rPr lang="en-US" sz="1050" b="0" dirty="0">
                <a:solidFill>
                  <a:schemeClr val="tx2">
                    <a:lumMod val="75000"/>
                    <a:lumOff val="25000"/>
                  </a:schemeClr>
                </a:solidFill>
                <a:effectLst/>
                <a:latin typeface="Consolas" panose="020B0609020204030204" pitchFamily="49" charset="0"/>
              </a:rPr>
              <a:t>| Min Expected Profit        |     -100.0000% |</a:t>
            </a:r>
          </a:p>
          <a:p>
            <a:pPr>
              <a:lnSpc>
                <a:spcPts val="1425"/>
              </a:lnSpc>
              <a:buNone/>
            </a:pPr>
            <a:r>
              <a:rPr lang="en-US" sz="1050" b="0" dirty="0">
                <a:solidFill>
                  <a:schemeClr val="tx2">
                    <a:lumMod val="75000"/>
                    <a:lumOff val="25000"/>
                  </a:schemeClr>
                </a:solidFill>
                <a:effectLst/>
                <a:latin typeface="Consolas" panose="020B0609020204030204" pitchFamily="49" charset="0"/>
              </a:rPr>
              <a:t>| Rank By Risk/Reward Ratio  |            Yes |</a:t>
            </a:r>
          </a:p>
          <a:p>
            <a:pPr>
              <a:lnSpc>
                <a:spcPts val="1425"/>
              </a:lnSpc>
              <a:buNone/>
            </a:pPr>
            <a:r>
              <a:rPr lang="en-US" sz="1050" b="0" dirty="0">
                <a:solidFill>
                  <a:schemeClr val="tx2">
                    <a:lumMod val="75000"/>
                    <a:lumOff val="25000"/>
                  </a:schemeClr>
                </a:solidFill>
                <a:effectLst/>
                <a:latin typeface="Consolas" panose="020B0609020204030204" pitchFamily="49" charset="0"/>
              </a:rPr>
              <a:t>| Rank By Annual Risk        |             No |</a:t>
            </a:r>
          </a:p>
          <a:p>
            <a:pPr>
              <a:lnSpc>
                <a:spcPts val="1425"/>
              </a:lnSpc>
              <a:buNone/>
            </a:pPr>
            <a:r>
              <a:rPr lang="en-US" sz="1050" b="0" dirty="0">
                <a:solidFill>
                  <a:schemeClr val="tx2">
                    <a:lumMod val="75000"/>
                    <a:lumOff val="25000"/>
                  </a:schemeClr>
                </a:solidFill>
                <a:effectLst/>
                <a:latin typeface="Consolas" panose="020B0609020204030204" pitchFamily="49" charset="0"/>
              </a:rPr>
              <a:t>| Rank By Rev Annual Risk    |             No |</a:t>
            </a:r>
          </a:p>
          <a:p>
            <a:pPr>
              <a:lnSpc>
                <a:spcPts val="1425"/>
              </a:lnSpc>
              <a:buNone/>
            </a:pPr>
            <a:r>
              <a:rPr lang="en-US" sz="1050" b="0" dirty="0">
                <a:solidFill>
                  <a:schemeClr val="tx2">
                    <a:lumMod val="75000"/>
                    <a:lumOff val="25000"/>
                  </a:schemeClr>
                </a:solidFill>
                <a:effectLst/>
                <a:latin typeface="Consolas" panose="020B0609020204030204" pitchFamily="49" charset="0"/>
              </a:rPr>
              <a:t>| Rank By Expected Profit    |             No |</a:t>
            </a:r>
          </a:p>
          <a:p>
            <a:pPr>
              <a:lnSpc>
                <a:spcPts val="1425"/>
              </a:lnSpc>
              <a:buNone/>
            </a:pPr>
            <a:r>
              <a:rPr lang="en-US" sz="1050" b="0" dirty="0">
                <a:solidFill>
                  <a:schemeClr val="tx2">
                    <a:lumMod val="75000"/>
                    <a:lumOff val="25000"/>
                  </a:schemeClr>
                </a:solidFill>
                <a:effectLst/>
                <a:latin typeface="Consolas" panose="020B0609020204030204" pitchFamily="49" charset="0"/>
              </a:rPr>
              <a:t>|----------------------------|----------------|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0F06A09B-37B4-660B-7A0D-7094531442A2}"/>
              </a:ext>
            </a:extLst>
          </p:cNvPr>
          <p:cNvSpPr txBox="1"/>
          <p:nvPr/>
        </p:nvSpPr>
        <p:spPr>
          <a:xfrm>
            <a:off x="8336438" y="790121"/>
            <a:ext cx="3695161" cy="34932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ts val="1425"/>
              </a:lnSpc>
              <a:buNone/>
            </a:pPr>
            <a:r>
              <a:rPr lang="en-US" sz="1050" b="0" dirty="0">
                <a:solidFill>
                  <a:schemeClr val="tx2">
                    <a:lumMod val="75000"/>
                    <a:lumOff val="25000"/>
                  </a:schemeClr>
                </a:solidFill>
                <a:effectLst/>
                <a:latin typeface="Consolas" panose="020B0609020204030204" pitchFamily="49" charset="0"/>
              </a:rPr>
              <a:t>📉 Exit Put Position Rules</a:t>
            </a:r>
          </a:p>
          <a:p>
            <a:pPr>
              <a:lnSpc>
                <a:spcPts val="1425"/>
              </a:lnSpc>
              <a:buNone/>
            </a:pPr>
            <a:r>
              <a:rPr lang="en-US" sz="1050" b="0" dirty="0">
                <a:solidFill>
                  <a:schemeClr val="tx2">
                    <a:lumMod val="75000"/>
                    <a:lumOff val="25000"/>
                  </a:schemeClr>
                </a:solidFill>
                <a:effectLst/>
                <a:latin typeface="Consolas" panose="020B0609020204030204" pitchFamily="49" charset="0"/>
              </a:rPr>
              <a:t>|----------------------------|----------------|</a:t>
            </a:r>
          </a:p>
          <a:p>
            <a:pPr>
              <a:lnSpc>
                <a:spcPts val="1425"/>
              </a:lnSpc>
              <a:buNone/>
            </a:pPr>
            <a:r>
              <a:rPr lang="en-US" sz="1050" b="0" dirty="0">
                <a:solidFill>
                  <a:schemeClr val="tx2">
                    <a:lumMod val="75000"/>
                    <a:lumOff val="25000"/>
                  </a:schemeClr>
                </a:solidFill>
                <a:effectLst/>
                <a:latin typeface="Consolas" panose="020B0609020204030204" pitchFamily="49" charset="0"/>
              </a:rPr>
              <a:t>| Parameter                  | Value          |</a:t>
            </a:r>
          </a:p>
          <a:p>
            <a:pPr>
              <a:lnSpc>
                <a:spcPts val="1425"/>
              </a:lnSpc>
              <a:buNone/>
            </a:pPr>
            <a:r>
              <a:rPr lang="en-US" sz="1050" b="0" dirty="0">
                <a:solidFill>
                  <a:schemeClr val="tx2">
                    <a:lumMod val="75000"/>
                    <a:lumOff val="25000"/>
                  </a:schemeClr>
                </a:solidFill>
                <a:effectLst/>
                <a:latin typeface="Consolas" panose="020B0609020204030204" pitchFamily="49" charset="0"/>
              </a:rPr>
              <a:t>|----------------------------|----------------|</a:t>
            </a:r>
          </a:p>
          <a:p>
            <a:pPr>
              <a:lnSpc>
                <a:spcPts val="1425"/>
              </a:lnSpc>
              <a:buNone/>
            </a:pPr>
            <a:r>
              <a:rPr lang="en-US" sz="1050" b="0" dirty="0">
                <a:solidFill>
                  <a:schemeClr val="tx2">
                    <a:lumMod val="75000"/>
                    <a:lumOff val="25000"/>
                  </a:schemeClr>
                </a:solidFill>
                <a:effectLst/>
                <a:latin typeface="Consolas" panose="020B0609020204030204" pitchFamily="49" charset="0"/>
              </a:rPr>
              <a:t>| Position Stop Loss         |     9999.0000% |</a:t>
            </a:r>
          </a:p>
          <a:p>
            <a:pPr>
              <a:lnSpc>
                <a:spcPts val="1425"/>
              </a:lnSpc>
              <a:buNone/>
            </a:pPr>
            <a:r>
              <a:rPr lang="en-US" sz="1050" b="0" dirty="0">
                <a:solidFill>
                  <a:schemeClr val="tx2">
                    <a:lumMod val="75000"/>
                    <a:lumOff val="25000"/>
                  </a:schemeClr>
                </a:solidFill>
                <a:effectLst/>
                <a:latin typeface="Consolas" panose="020B0609020204030204" pitchFamily="49" charset="0"/>
              </a:rPr>
              <a:t>| Stock Below SMA150         |       17.8560% |</a:t>
            </a:r>
          </a:p>
          <a:p>
            <a:pPr>
              <a:lnSpc>
                <a:spcPts val="1425"/>
              </a:lnSpc>
              <a:buNone/>
            </a:pPr>
            <a:r>
              <a:rPr lang="en-US" sz="1050" b="0" dirty="0">
                <a:solidFill>
                  <a:schemeClr val="tx2">
                    <a:lumMod val="75000"/>
                    <a:lumOff val="25000"/>
                  </a:schemeClr>
                </a:solidFill>
                <a:effectLst/>
                <a:latin typeface="Consolas" panose="020B0609020204030204" pitchFamily="49" charset="0"/>
              </a:rPr>
              <a:t>| Stock Min Above Strike     |    -9999.0000% |</a:t>
            </a:r>
          </a:p>
          <a:p>
            <a:pPr>
              <a:lnSpc>
                <a:spcPts val="1425"/>
              </a:lnSpc>
              <a:buNone/>
            </a:pPr>
            <a:r>
              <a:rPr lang="en-US" sz="1050" b="0" dirty="0">
                <a:solidFill>
                  <a:schemeClr val="tx2">
                    <a:lumMod val="75000"/>
                    <a:lumOff val="25000"/>
                  </a:schemeClr>
                </a:solidFill>
                <a:effectLst/>
                <a:latin typeface="Consolas" panose="020B0609020204030204" pitchFamily="49" charset="0"/>
              </a:rPr>
              <a:t>| Stock Max Below Entry      |       26.6000% |</a:t>
            </a:r>
          </a:p>
          <a:p>
            <a:pPr>
              <a:lnSpc>
                <a:spcPts val="1425"/>
              </a:lnSpc>
              <a:buNone/>
            </a:pPr>
            <a:r>
              <a:rPr lang="en-US" sz="1050" b="0" dirty="0">
                <a:solidFill>
                  <a:schemeClr val="tx2">
                    <a:lumMod val="75000"/>
                    <a:lumOff val="25000"/>
                  </a:schemeClr>
                </a:solidFill>
                <a:effectLst/>
                <a:latin typeface="Consolas" panose="020B0609020204030204" pitchFamily="49" charset="0"/>
              </a:rPr>
              <a:t>| Min Gain to Take Profit    |     9999.0000% |</a:t>
            </a:r>
          </a:p>
          <a:p>
            <a:pPr>
              <a:lnSpc>
                <a:spcPts val="1425"/>
              </a:lnSpc>
              <a:buNone/>
            </a:pPr>
            <a:r>
              <a:rPr lang="en-US" sz="1050" b="0" dirty="0">
                <a:solidFill>
                  <a:schemeClr val="tx2">
                    <a:lumMod val="75000"/>
                    <a:lumOff val="25000"/>
                  </a:schemeClr>
                </a:solidFill>
                <a:effectLst/>
                <a:latin typeface="Consolas" panose="020B0609020204030204" pitchFamily="49" charset="0"/>
              </a:rPr>
              <a:t>|----------------------------|----------------|</a:t>
            </a:r>
          </a:p>
          <a:p>
            <a:pPr>
              <a:lnSpc>
                <a:spcPts val="1425"/>
              </a:lnSpc>
              <a:buNone/>
            </a:pPr>
            <a:br>
              <a:rPr lang="en-US" sz="1050" b="0" dirty="0">
                <a:solidFill>
                  <a:schemeClr val="tx2">
                    <a:lumMod val="75000"/>
                    <a:lumOff val="25000"/>
                  </a:schemeClr>
                </a:solidFill>
                <a:effectLst/>
                <a:latin typeface="Consolas" panose="020B0609020204030204" pitchFamily="49" charset="0"/>
              </a:rPr>
            </a:br>
            <a:endParaRPr lang="en-US" sz="1050" b="0" dirty="0">
              <a:solidFill>
                <a:schemeClr val="tx2">
                  <a:lumMod val="75000"/>
                  <a:lumOff val="25000"/>
                </a:schemeClr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ts val="1425"/>
              </a:lnSpc>
              <a:buNone/>
            </a:pPr>
            <a:r>
              <a:rPr lang="en-US" sz="1050" b="0" dirty="0">
                <a:solidFill>
                  <a:schemeClr val="tx2">
                    <a:lumMod val="75000"/>
                    <a:lumOff val="25000"/>
                  </a:schemeClr>
                </a:solidFill>
                <a:effectLst/>
                <a:latin typeface="Consolas" panose="020B0609020204030204" pitchFamily="49" charset="0"/>
              </a:rPr>
              <a:t>💰 Trading Parameters</a:t>
            </a:r>
          </a:p>
          <a:p>
            <a:pPr>
              <a:lnSpc>
                <a:spcPts val="1425"/>
              </a:lnSpc>
              <a:buNone/>
            </a:pPr>
            <a:r>
              <a:rPr lang="en-US" sz="1050" b="0" dirty="0">
                <a:solidFill>
                  <a:schemeClr val="tx2">
                    <a:lumMod val="75000"/>
                    <a:lumOff val="25000"/>
                  </a:schemeClr>
                </a:solidFill>
                <a:effectLst/>
                <a:latin typeface="Consolas" panose="020B0609020204030204" pitchFamily="49" charset="0"/>
              </a:rPr>
              <a:t>|----------------------------|----------------|</a:t>
            </a:r>
          </a:p>
          <a:p>
            <a:pPr>
              <a:lnSpc>
                <a:spcPts val="1425"/>
              </a:lnSpc>
              <a:buNone/>
            </a:pPr>
            <a:r>
              <a:rPr lang="en-US" sz="1050" b="0" dirty="0">
                <a:solidFill>
                  <a:schemeClr val="tx2">
                    <a:lumMod val="75000"/>
                    <a:lumOff val="25000"/>
                  </a:schemeClr>
                </a:solidFill>
                <a:effectLst/>
                <a:latin typeface="Consolas" panose="020B0609020204030204" pitchFamily="49" charset="0"/>
              </a:rPr>
              <a:t>| Parameter                  | Value          |</a:t>
            </a:r>
          </a:p>
          <a:p>
            <a:pPr>
              <a:lnSpc>
                <a:spcPts val="1425"/>
              </a:lnSpc>
              <a:buNone/>
            </a:pPr>
            <a:r>
              <a:rPr lang="en-US" sz="1050" b="0" dirty="0">
                <a:solidFill>
                  <a:schemeClr val="tx2">
                    <a:lumMod val="75000"/>
                    <a:lumOff val="25000"/>
                  </a:schemeClr>
                </a:solidFill>
                <a:effectLst/>
                <a:latin typeface="Consolas" panose="020B0609020204030204" pitchFamily="49" charset="0"/>
              </a:rPr>
              <a:t>|----------------------------|----------------|</a:t>
            </a:r>
          </a:p>
          <a:p>
            <a:pPr>
              <a:lnSpc>
                <a:spcPts val="1425"/>
              </a:lnSpc>
              <a:buNone/>
            </a:pPr>
            <a:r>
              <a:rPr lang="en-US" sz="1050" b="0" dirty="0">
                <a:solidFill>
                  <a:schemeClr val="tx2">
                    <a:lumMod val="75000"/>
                    <a:lumOff val="25000"/>
                  </a:schemeClr>
                </a:solidFill>
                <a:effectLst/>
                <a:latin typeface="Consolas" panose="020B0609020204030204" pitchFamily="49" charset="0"/>
              </a:rPr>
              <a:t>| Commission/Contract        | $       0.6700 |</a:t>
            </a:r>
          </a:p>
          <a:p>
            <a:pPr>
              <a:lnSpc>
                <a:spcPts val="1425"/>
              </a:lnSpc>
              <a:buNone/>
            </a:pPr>
            <a:r>
              <a:rPr lang="en-US" sz="1050" b="0" dirty="0">
                <a:solidFill>
                  <a:schemeClr val="tx2">
                    <a:lumMod val="75000"/>
                    <a:lumOff val="25000"/>
                  </a:schemeClr>
                </a:solidFill>
                <a:effectLst/>
                <a:latin typeface="Consolas" panose="020B0609020204030204" pitchFamily="49" charset="0"/>
              </a:rPr>
              <a:t>| Max Premium/Trade          | $   27777.7778 |</a:t>
            </a:r>
          </a:p>
          <a:p>
            <a:pPr>
              <a:lnSpc>
                <a:spcPts val="1425"/>
              </a:lnSpc>
              <a:buNone/>
            </a:pPr>
            <a:r>
              <a:rPr lang="en-US" sz="1050" b="0" dirty="0">
                <a:solidFill>
                  <a:schemeClr val="tx2">
                    <a:lumMod val="75000"/>
                    <a:lumOff val="25000"/>
                  </a:schemeClr>
                </a:solidFill>
                <a:effectLst/>
                <a:latin typeface="Consolas" panose="020B0609020204030204" pitchFamily="49" charset="0"/>
              </a:rPr>
              <a:t>|----------------------------|----------------|</a:t>
            </a:r>
          </a:p>
        </p:txBody>
      </p:sp>
    </p:spTree>
    <p:extLst>
      <p:ext uri="{BB962C8B-B14F-4D97-AF65-F5344CB8AC3E}">
        <p14:creationId xmlns:p14="http://schemas.microsoft.com/office/powerpoint/2010/main" val="1871439293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7EEB94B-5E33-7AAE-9BDE-63FFD20EF80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9501C2C-F98E-80A6-DAB9-8FAE6AF8B12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58365" y="171245"/>
            <a:ext cx="8342015" cy="469735"/>
          </a:xfrm>
        </p:spPr>
        <p:txBody>
          <a:bodyPr>
            <a:normAutofit fontScale="90000"/>
          </a:bodyPr>
          <a:lstStyle/>
          <a:p>
            <a:r>
              <a:rPr lang="en-US" b="1" noProof="1">
                <a:solidFill>
                  <a:srgbClr val="002060"/>
                </a:solidFill>
              </a:rPr>
              <a:t>Log file: Results</a:t>
            </a:r>
            <a:endParaRPr lang="en-US" b="1" dirty="0">
              <a:solidFill>
                <a:srgbClr val="002060"/>
              </a:solidFill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78942352-759A-D1EE-2D3D-2997EADAA49C}"/>
              </a:ext>
            </a:extLst>
          </p:cNvPr>
          <p:cNvSpPr txBox="1"/>
          <p:nvPr/>
        </p:nvSpPr>
        <p:spPr>
          <a:xfrm>
            <a:off x="422243" y="871103"/>
            <a:ext cx="11191580" cy="565924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ts val="1425"/>
              </a:lnSpc>
              <a:buNone/>
            </a:pPr>
            <a:r>
              <a:rPr lang="en-US" b="1" dirty="0">
                <a:solidFill>
                  <a:schemeClr val="tx2">
                    <a:lumMod val="75000"/>
                    <a:lumOff val="25000"/>
                  </a:schemeClr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  <a:t>--- YEARLY PORTFOLIO GAIN ---</a:t>
            </a:r>
            <a:br>
              <a:rPr lang="en-US" b="1" dirty="0">
                <a:solidFill>
                  <a:schemeClr val="tx2">
                    <a:lumMod val="75000"/>
                    <a:lumOff val="25000"/>
                  </a:schemeClr>
                </a:solidFill>
                <a:effectLst/>
                <a:highlight>
                  <a:srgbClr val="FFFF00"/>
                </a:highlight>
                <a:latin typeface="Consolas" panose="020B0609020204030204" pitchFamily="49" charset="0"/>
              </a:rPr>
            </a:br>
            <a:endParaRPr lang="en-US" b="1" dirty="0">
              <a:solidFill>
                <a:schemeClr val="tx2">
                  <a:lumMod val="75000"/>
                  <a:lumOff val="25000"/>
                </a:schemeClr>
              </a:solidFill>
              <a:effectLst/>
              <a:highlight>
                <a:srgbClr val="FFFF00"/>
              </a:highlight>
              <a:latin typeface="Consolas" panose="020B0609020204030204" pitchFamily="49" charset="0"/>
            </a:endParaRPr>
          </a:p>
          <a:p>
            <a:pPr>
              <a:lnSpc>
                <a:spcPts val="1425"/>
              </a:lnSpc>
              <a:buNone/>
            </a:pPr>
            <a:r>
              <a:rPr lang="en-US" sz="1400" b="0" dirty="0">
                <a:solidFill>
                  <a:schemeClr val="tx2">
                    <a:lumMod val="75000"/>
                    <a:lumOff val="25000"/>
                  </a:schemeClr>
                </a:solidFill>
                <a:effectLst/>
                <a:latin typeface="Consolas" panose="020B0609020204030204" pitchFamily="49" charset="0"/>
              </a:rPr>
              <a:t>| Year    | Total Value EOD    |     $ Total Gain     |  % Gain | % SPY Gain |</a:t>
            </a:r>
          </a:p>
          <a:p>
            <a:pPr>
              <a:lnSpc>
                <a:spcPts val="1425"/>
              </a:lnSpc>
              <a:buNone/>
            </a:pPr>
            <a:r>
              <a:rPr lang="en-US" sz="1400" b="0" dirty="0">
                <a:solidFill>
                  <a:schemeClr val="tx2">
                    <a:lumMod val="75000"/>
                    <a:lumOff val="25000"/>
                  </a:schemeClr>
                </a:solidFill>
                <a:effectLst/>
                <a:latin typeface="Consolas" panose="020B0609020204030204" pitchFamily="49" charset="0"/>
              </a:rPr>
              <a:t>|---------|--------------------|----------------------|---------|------------|</a:t>
            </a:r>
          </a:p>
          <a:p>
            <a:pPr>
              <a:lnSpc>
                <a:spcPts val="1425"/>
              </a:lnSpc>
              <a:buNone/>
            </a:pPr>
            <a:r>
              <a:rPr lang="en-US" sz="1400" b="0" dirty="0">
                <a:solidFill>
                  <a:schemeClr val="tx2">
                    <a:lumMod val="75000"/>
                    <a:lumOff val="25000"/>
                  </a:schemeClr>
                </a:solidFill>
                <a:effectLst/>
                <a:latin typeface="Consolas" panose="020B0609020204030204" pitchFamily="49" charset="0"/>
              </a:rPr>
              <a:t>| 2020    | $   1,966,294.73   | $         966,294.73 |  96.63% |     17.24% |</a:t>
            </a:r>
          </a:p>
          <a:p>
            <a:pPr>
              <a:lnSpc>
                <a:spcPts val="1425"/>
              </a:lnSpc>
              <a:buNone/>
            </a:pPr>
            <a:r>
              <a:rPr lang="en-US" sz="1400" b="0" dirty="0">
                <a:solidFill>
                  <a:schemeClr val="tx2">
                    <a:lumMod val="75000"/>
                    <a:lumOff val="25000"/>
                  </a:schemeClr>
                </a:solidFill>
                <a:effectLst/>
                <a:latin typeface="Consolas" panose="020B0609020204030204" pitchFamily="49" charset="0"/>
              </a:rPr>
              <a:t>| 2021    | $   6,009,637.25   | $       4,043,342.52 | 205.63% |     28.73% |</a:t>
            </a:r>
          </a:p>
          <a:p>
            <a:pPr>
              <a:lnSpc>
                <a:spcPts val="1425"/>
              </a:lnSpc>
              <a:buNone/>
            </a:pPr>
            <a:r>
              <a:rPr lang="en-US" sz="1400" b="0" dirty="0">
                <a:solidFill>
                  <a:schemeClr val="tx2">
                    <a:lumMod val="75000"/>
                    <a:lumOff val="25000"/>
                  </a:schemeClr>
                </a:solidFill>
                <a:effectLst/>
                <a:latin typeface="Consolas" panose="020B0609020204030204" pitchFamily="49" charset="0"/>
              </a:rPr>
              <a:t>| 2022    | $  10,758,445.11   | $       4,748,807.86 |  79.02% |    -18.18% |</a:t>
            </a:r>
          </a:p>
          <a:p>
            <a:pPr>
              <a:lnSpc>
                <a:spcPts val="1425"/>
              </a:lnSpc>
              <a:buNone/>
            </a:pPr>
            <a:r>
              <a:rPr lang="en-US" sz="1400" b="0" dirty="0">
                <a:solidFill>
                  <a:schemeClr val="tx2">
                    <a:lumMod val="75000"/>
                    <a:lumOff val="25000"/>
                  </a:schemeClr>
                </a:solidFill>
                <a:effectLst/>
                <a:latin typeface="Consolas" panose="020B0609020204030204" pitchFamily="49" charset="0"/>
              </a:rPr>
              <a:t>| 2023    | $  16,548,662.91   | $       5,790,217.80 |  53.82% |     26.18% |</a:t>
            </a:r>
          </a:p>
          <a:p>
            <a:pPr>
              <a:lnSpc>
                <a:spcPts val="1425"/>
              </a:lnSpc>
              <a:buNone/>
            </a:pPr>
            <a:r>
              <a:rPr lang="en-US" sz="1400" b="0" dirty="0">
                <a:solidFill>
                  <a:schemeClr val="tx2">
                    <a:lumMod val="75000"/>
                    <a:lumOff val="25000"/>
                  </a:schemeClr>
                </a:solidFill>
                <a:effectLst/>
                <a:latin typeface="Consolas" panose="020B0609020204030204" pitchFamily="49" charset="0"/>
              </a:rPr>
              <a:t>| 2024    | $  22,516,679.16   | $       5,968,016.25 |  36.06% |     24.89% |</a:t>
            </a:r>
          </a:p>
          <a:p>
            <a:pPr>
              <a:lnSpc>
                <a:spcPts val="1425"/>
              </a:lnSpc>
              <a:buNone/>
            </a:pPr>
            <a:r>
              <a:rPr lang="en-US" sz="1400" b="0" dirty="0">
                <a:solidFill>
                  <a:schemeClr val="tx2">
                    <a:lumMod val="75000"/>
                    <a:lumOff val="25000"/>
                  </a:schemeClr>
                </a:solidFill>
                <a:effectLst/>
                <a:latin typeface="Consolas" panose="020B0609020204030204" pitchFamily="49" charset="0"/>
              </a:rPr>
              <a:t>| 2025    | $  47,549,839.11   | $      25,033,159.95 | 111.18% |     18.26% |</a:t>
            </a:r>
          </a:p>
          <a:p>
            <a:pPr>
              <a:lnSpc>
                <a:spcPts val="1425"/>
              </a:lnSpc>
              <a:buNone/>
            </a:pPr>
            <a:r>
              <a:rPr lang="en-US" sz="1400" b="0" dirty="0">
                <a:solidFill>
                  <a:schemeClr val="tx2">
                    <a:lumMod val="75000"/>
                    <a:lumOff val="25000"/>
                  </a:schemeClr>
                </a:solidFill>
                <a:effectLst/>
                <a:latin typeface="Consolas" panose="020B0609020204030204" pitchFamily="49" charset="0"/>
              </a:rPr>
              <a:t>|---------|--------------------|----------------------|---------|------------|</a:t>
            </a:r>
          </a:p>
          <a:p>
            <a:pPr>
              <a:lnSpc>
                <a:spcPts val="1425"/>
              </a:lnSpc>
              <a:buNone/>
            </a:pPr>
            <a:r>
              <a:rPr lang="en-US" sz="1400" b="0" dirty="0">
                <a:solidFill>
                  <a:schemeClr val="tx2">
                    <a:lumMod val="75000"/>
                    <a:lumOff val="25000"/>
                  </a:schemeClr>
                </a:solidFill>
                <a:effectLst/>
                <a:latin typeface="Consolas" panose="020B0609020204030204" pitchFamily="49" charset="0"/>
              </a:rPr>
              <a:t>| TOTAL (Years)                | $      46,549,839.11 | </a:t>
            </a:r>
          </a:p>
          <a:p>
            <a:pPr>
              <a:lnSpc>
                <a:spcPts val="1425"/>
              </a:lnSpc>
              <a:buNone/>
            </a:pPr>
            <a:br>
              <a:rPr lang="en-US" sz="1400" b="0" dirty="0">
                <a:solidFill>
                  <a:schemeClr val="tx2">
                    <a:lumMod val="75000"/>
                    <a:lumOff val="25000"/>
                  </a:schemeClr>
                </a:solidFill>
                <a:effectLst/>
                <a:latin typeface="Consolas" panose="020B0609020204030204" pitchFamily="49" charset="0"/>
              </a:rPr>
            </a:br>
            <a:endParaRPr lang="en-US" sz="1400" b="0" dirty="0">
              <a:solidFill>
                <a:schemeClr val="tx2">
                  <a:lumMod val="75000"/>
                  <a:lumOff val="25000"/>
                </a:schemeClr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ts val="1425"/>
              </a:lnSpc>
              <a:buNone/>
            </a:pPr>
            <a:endParaRPr lang="en-US" sz="1400" dirty="0">
              <a:solidFill>
                <a:schemeClr val="tx2">
                  <a:lumMod val="75000"/>
                  <a:lumOff val="25000"/>
                </a:schemeClr>
              </a:solidFill>
              <a:latin typeface="Consolas" panose="020B0609020204030204" pitchFamily="49" charset="0"/>
            </a:endParaRPr>
          </a:p>
          <a:p>
            <a:pPr>
              <a:lnSpc>
                <a:spcPts val="1425"/>
              </a:lnSpc>
              <a:buNone/>
            </a:pPr>
            <a:br>
              <a:rPr lang="en-US" sz="1400" b="0" dirty="0">
                <a:solidFill>
                  <a:schemeClr val="tx2">
                    <a:lumMod val="75000"/>
                    <a:lumOff val="25000"/>
                  </a:schemeClr>
                </a:solidFill>
                <a:effectLst/>
                <a:latin typeface="Consolas" panose="020B0609020204030204" pitchFamily="49" charset="0"/>
              </a:rPr>
            </a:br>
            <a:endParaRPr lang="en-US" sz="1400" b="0" dirty="0">
              <a:solidFill>
                <a:schemeClr val="tx2">
                  <a:lumMod val="75000"/>
                  <a:lumOff val="25000"/>
                </a:schemeClr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ts val="1425"/>
              </a:lnSpc>
              <a:buNone/>
            </a:pPr>
            <a:r>
              <a:rPr lang="en-US" b="1" dirty="0">
                <a:solidFill>
                  <a:schemeClr val="tx2">
                    <a:lumMod val="75000"/>
                    <a:lumOff val="25000"/>
                  </a:schemeClr>
                </a:solidFill>
                <a:highlight>
                  <a:srgbClr val="FFFF00"/>
                </a:highlight>
                <a:latin typeface="Consolas" panose="020B0609020204030204" pitchFamily="49" charset="0"/>
              </a:rPr>
              <a:t>--- TRADE EXIT STATISTICS (by Trade Event Count) ---</a:t>
            </a:r>
            <a:br>
              <a:rPr lang="en-US" b="1" dirty="0">
                <a:solidFill>
                  <a:schemeClr val="tx2">
                    <a:lumMod val="75000"/>
                    <a:lumOff val="25000"/>
                  </a:schemeClr>
                </a:solidFill>
                <a:highlight>
                  <a:srgbClr val="FFFF00"/>
                </a:highlight>
                <a:latin typeface="Consolas" panose="020B0609020204030204" pitchFamily="49" charset="0"/>
              </a:rPr>
            </a:br>
            <a:endParaRPr lang="en-US" b="1" dirty="0">
              <a:solidFill>
                <a:schemeClr val="tx2">
                  <a:lumMod val="75000"/>
                  <a:lumOff val="25000"/>
                </a:schemeClr>
              </a:solidFill>
              <a:highlight>
                <a:srgbClr val="FFFF00"/>
              </a:highlight>
              <a:latin typeface="Consolas" panose="020B0609020204030204" pitchFamily="49" charset="0"/>
            </a:endParaRPr>
          </a:p>
          <a:p>
            <a:pPr>
              <a:lnSpc>
                <a:spcPts val="1425"/>
              </a:lnSpc>
              <a:buNone/>
            </a:pPr>
            <a:r>
              <a:rPr lang="en-US" sz="1400" b="0" dirty="0">
                <a:solidFill>
                  <a:schemeClr val="tx2">
                    <a:lumMod val="75000"/>
                    <a:lumOff val="25000"/>
                  </a:schemeClr>
                </a:solidFill>
                <a:effectLst/>
                <a:latin typeface="Consolas" panose="020B0609020204030204" pitchFamily="49" charset="0"/>
              </a:rPr>
              <a:t>| Exit Reason                          | Exit Events  |  % of Total | Total Gain $      | Net Gain % |</a:t>
            </a:r>
          </a:p>
          <a:p>
            <a:pPr>
              <a:lnSpc>
                <a:spcPts val="1425"/>
              </a:lnSpc>
              <a:buNone/>
            </a:pPr>
            <a:r>
              <a:rPr lang="en-US" sz="1400" b="0" dirty="0">
                <a:solidFill>
                  <a:schemeClr val="tx2">
                    <a:lumMod val="75000"/>
                    <a:lumOff val="25000"/>
                  </a:schemeClr>
                </a:solidFill>
                <a:effectLst/>
                <a:latin typeface="Consolas" panose="020B0609020204030204" pitchFamily="49" charset="0"/>
              </a:rPr>
              <a:t>|--------------------------------------|--------------|-------------|-------------------|------------|</a:t>
            </a:r>
          </a:p>
          <a:p>
            <a:pPr>
              <a:lnSpc>
                <a:spcPts val="1425"/>
              </a:lnSpc>
              <a:buNone/>
            </a:pPr>
            <a:r>
              <a:rPr lang="en-US" sz="1400" b="0" dirty="0">
                <a:solidFill>
                  <a:schemeClr val="tx2">
                    <a:lumMod val="75000"/>
                    <a:lumOff val="25000"/>
                  </a:schemeClr>
                </a:solidFill>
                <a:effectLst/>
                <a:latin typeface="Consolas" panose="020B0609020204030204" pitchFamily="49" charset="0"/>
              </a:rPr>
              <a:t>| Expiration (ITM/Assigned)            |            0 |       0.00% | $            0.00 |      0.00% |</a:t>
            </a:r>
          </a:p>
          <a:p>
            <a:pPr>
              <a:lnSpc>
                <a:spcPts val="1425"/>
              </a:lnSpc>
              <a:buNone/>
            </a:pPr>
            <a:r>
              <a:rPr lang="en-US" sz="1400" b="0" dirty="0">
                <a:solidFill>
                  <a:schemeClr val="tx2">
                    <a:lumMod val="75000"/>
                    <a:lumOff val="25000"/>
                  </a:schemeClr>
                </a:solidFill>
                <a:effectLst/>
                <a:latin typeface="Consolas" panose="020B0609020204030204" pitchFamily="49" charset="0"/>
              </a:rPr>
              <a:t>| Expiration (OTM/Max Profit)          |          160 |      57.14% | $   24,457,686.35 |     99.89% |</a:t>
            </a:r>
          </a:p>
          <a:p>
            <a:pPr>
              <a:lnSpc>
                <a:spcPts val="1425"/>
              </a:lnSpc>
              <a:buNone/>
            </a:pPr>
            <a:r>
              <a:rPr lang="en-US" sz="1400" b="0" dirty="0">
                <a:solidFill>
                  <a:schemeClr val="tx2">
                    <a:lumMod val="75000"/>
                    <a:lumOff val="25000"/>
                  </a:schemeClr>
                </a:solidFill>
                <a:effectLst/>
                <a:latin typeface="Consolas" panose="020B0609020204030204" pitchFamily="49" charset="0"/>
              </a:rPr>
              <a:t>| Last day liquidation                 |           35 |      12.50% | $   19,618,100.30 |      0.00% |</a:t>
            </a:r>
          </a:p>
          <a:p>
            <a:pPr>
              <a:lnSpc>
                <a:spcPts val="1425"/>
              </a:lnSpc>
              <a:buNone/>
            </a:pPr>
            <a:r>
              <a:rPr lang="en-US" sz="1400" b="0" dirty="0">
                <a:solidFill>
                  <a:schemeClr val="tx2">
                    <a:lumMod val="75000"/>
                    <a:lumOff val="25000"/>
                  </a:schemeClr>
                </a:solidFill>
                <a:effectLst/>
                <a:latin typeface="Consolas" panose="020B0609020204030204" pitchFamily="49" charset="0"/>
              </a:rPr>
              <a:t>| </a:t>
            </a:r>
            <a:r>
              <a:rPr lang="en-US" sz="1400" b="0" noProof="1">
                <a:solidFill>
                  <a:schemeClr val="tx2">
                    <a:lumMod val="75000"/>
                    <a:lumOff val="25000"/>
                  </a:schemeClr>
                </a:solidFill>
                <a:effectLst/>
                <a:latin typeface="Consolas" panose="020B0609020204030204" pitchFamily="49" charset="0"/>
              </a:rPr>
              <a:t>StopLoss</a:t>
            </a:r>
            <a:r>
              <a:rPr lang="en-US" sz="1400" b="0" dirty="0">
                <a:solidFill>
                  <a:schemeClr val="tx2">
                    <a:lumMod val="75000"/>
                    <a:lumOff val="25000"/>
                  </a:schemeClr>
                </a:solidFill>
                <a:effectLst/>
                <a:latin typeface="Consolas" panose="020B0609020204030204" pitchFamily="49" charset="0"/>
              </a:rPr>
              <a:t>: Stock Below Entry </a:t>
            </a:r>
            <a:r>
              <a:rPr lang="en-US" sz="1400" b="0" noProof="1">
                <a:solidFill>
                  <a:schemeClr val="tx2">
                    <a:lumMod val="75000"/>
                    <a:lumOff val="25000"/>
                  </a:schemeClr>
                </a:solidFill>
                <a:effectLst/>
                <a:latin typeface="Consolas" panose="020B0609020204030204" pitchFamily="49" charset="0"/>
              </a:rPr>
              <a:t>Thres</a:t>
            </a:r>
            <a:r>
              <a:rPr lang="en-US" sz="1400" b="0" dirty="0">
                <a:solidFill>
                  <a:schemeClr val="tx2">
                    <a:lumMod val="75000"/>
                    <a:lumOff val="25000"/>
                  </a:schemeClr>
                </a:solidFill>
                <a:effectLst/>
                <a:latin typeface="Consolas" panose="020B0609020204030204" pitchFamily="49" charset="0"/>
              </a:rPr>
              <a:t>... |           22 |       7.86% | $   -1,338,885.94 |     -5.68% |</a:t>
            </a:r>
          </a:p>
          <a:p>
            <a:pPr>
              <a:lnSpc>
                <a:spcPts val="1425"/>
              </a:lnSpc>
              <a:buNone/>
            </a:pPr>
            <a:r>
              <a:rPr lang="en-US" sz="1400" b="0" dirty="0">
                <a:solidFill>
                  <a:schemeClr val="tx2">
                    <a:lumMod val="75000"/>
                    <a:lumOff val="25000"/>
                  </a:schemeClr>
                </a:solidFill>
                <a:effectLst/>
                <a:latin typeface="Consolas" panose="020B0609020204030204" pitchFamily="49" charset="0"/>
              </a:rPr>
              <a:t>| </a:t>
            </a:r>
            <a:r>
              <a:rPr lang="en-US" sz="1400" b="0" noProof="1">
                <a:solidFill>
                  <a:schemeClr val="tx2">
                    <a:lumMod val="75000"/>
                    <a:lumOff val="25000"/>
                  </a:schemeClr>
                </a:solidFill>
                <a:effectLst/>
                <a:latin typeface="Consolas" panose="020B0609020204030204" pitchFamily="49" charset="0"/>
              </a:rPr>
              <a:t>StopLoss</a:t>
            </a:r>
            <a:r>
              <a:rPr lang="en-US" sz="1400" b="0" dirty="0">
                <a:solidFill>
                  <a:schemeClr val="tx2">
                    <a:lumMod val="75000"/>
                    <a:lumOff val="25000"/>
                  </a:schemeClr>
                </a:solidFill>
                <a:effectLst/>
                <a:latin typeface="Consolas" panose="020B0609020204030204" pitchFamily="49" charset="0"/>
              </a:rPr>
              <a:t>: Stock Below SMA150         |           63 |      22.50% | $    3,812,938.40 |     16.18% |</a:t>
            </a:r>
          </a:p>
          <a:p>
            <a:pPr>
              <a:lnSpc>
                <a:spcPts val="1425"/>
              </a:lnSpc>
              <a:buNone/>
            </a:pPr>
            <a:r>
              <a:rPr lang="en-US" sz="1400" b="0" dirty="0">
                <a:solidFill>
                  <a:schemeClr val="tx2">
                    <a:lumMod val="75000"/>
                    <a:lumOff val="25000"/>
                  </a:schemeClr>
                </a:solidFill>
                <a:effectLst/>
                <a:latin typeface="Consolas" panose="020B0609020204030204" pitchFamily="49" charset="0"/>
              </a:rPr>
              <a:t>|--------------------------------------|--------------|-------------|-------------------|------------|</a:t>
            </a:r>
          </a:p>
          <a:p>
            <a:pPr>
              <a:lnSpc>
                <a:spcPts val="1425"/>
              </a:lnSpc>
              <a:buNone/>
            </a:pPr>
            <a:r>
              <a:rPr lang="en-US" sz="1400" b="0" dirty="0">
                <a:solidFill>
                  <a:schemeClr val="tx2">
                    <a:lumMod val="75000"/>
                    <a:lumOff val="25000"/>
                  </a:schemeClr>
                </a:solidFill>
                <a:effectLst/>
                <a:latin typeface="Consolas" panose="020B0609020204030204" pitchFamily="49" charset="0"/>
              </a:rPr>
              <a:t>| Total Exit Trades Closed             |          280 |     100.00% | $   46,549,839.11 |        N/A |</a:t>
            </a:r>
          </a:p>
          <a:p>
            <a:pPr>
              <a:lnSpc>
                <a:spcPts val="1425"/>
              </a:lnSpc>
              <a:buNone/>
            </a:pPr>
            <a:r>
              <a:rPr lang="en-US" sz="1400" b="0" dirty="0">
                <a:solidFill>
                  <a:schemeClr val="tx2">
                    <a:lumMod val="75000"/>
                    <a:lumOff val="25000"/>
                  </a:schemeClr>
                </a:solidFill>
                <a:effectLst/>
                <a:latin typeface="Consolas" panose="020B0609020204030204" pitchFamily="49" charset="0"/>
              </a:rPr>
              <a:t>|--------------------------------------|--------------|-------------|-------------------|------------|</a:t>
            </a:r>
          </a:p>
          <a:p>
            <a:pPr>
              <a:lnSpc>
                <a:spcPts val="1425"/>
              </a:lnSpc>
              <a:buNone/>
            </a:pPr>
            <a:r>
              <a:rPr lang="en-US" sz="1400" b="0" dirty="0">
                <a:solidFill>
                  <a:schemeClr val="tx2">
                    <a:lumMod val="75000"/>
                    <a:lumOff val="25000"/>
                  </a:schemeClr>
                </a:solidFill>
                <a:effectLst/>
                <a:latin typeface="Consolas" panose="020B0609020204030204" pitchFamily="49" charset="0"/>
              </a:rPr>
              <a:t>| Total Entry Events                   |          280 |</a:t>
            </a:r>
          </a:p>
        </p:txBody>
      </p:sp>
    </p:spTree>
    <p:extLst>
      <p:ext uri="{BB962C8B-B14F-4D97-AF65-F5344CB8AC3E}">
        <p14:creationId xmlns:p14="http://schemas.microsoft.com/office/powerpoint/2010/main" val="617332635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3445</TotalTime>
  <Words>3932</Words>
  <Application>Microsoft Office PowerPoint</Application>
  <PresentationFormat>Widescreen</PresentationFormat>
  <Paragraphs>442</Paragraphs>
  <Slides>17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6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17</vt:i4>
      </vt:variant>
    </vt:vector>
  </HeadingPairs>
  <TitlesOfParts>
    <vt:vector size="24" baseType="lpstr">
      <vt:lpstr>Aptos</vt:lpstr>
      <vt:lpstr>Aptos Display</vt:lpstr>
      <vt:lpstr>Aptos Narrow</vt:lpstr>
      <vt:lpstr>Arial</vt:lpstr>
      <vt:lpstr>Consolas</vt:lpstr>
      <vt:lpstr>Wingdings</vt:lpstr>
      <vt:lpstr>Office Theme</vt:lpstr>
      <vt:lpstr>Option Trading</vt:lpstr>
      <vt:lpstr>ORATS Data</vt:lpstr>
      <vt:lpstr>ORATS Data is downloaded as Zip:</vt:lpstr>
      <vt:lpstr>ORATS Data Header (1 of 3)</vt:lpstr>
      <vt:lpstr>ORATS Data Header (2 of 3)</vt:lpstr>
      <vt:lpstr>ORATS Data Header (3 of 3)</vt:lpstr>
      <vt:lpstr>Etay’s notes</vt:lpstr>
      <vt:lpstr>ORATS  json</vt:lpstr>
      <vt:lpstr>Yahoo.py</vt:lpstr>
      <vt:lpstr>Stock_history.json</vt:lpstr>
      <vt:lpstr>rules.json</vt:lpstr>
      <vt:lpstr>rules.json</vt:lpstr>
      <vt:lpstr>simulate_yuda.py</vt:lpstr>
      <vt:lpstr>sim_wraper.py</vt:lpstr>
      <vt:lpstr>Summary.xlsm</vt:lpstr>
      <vt:lpstr>Log file: Rules</vt:lpstr>
      <vt:lpstr>Log file: Results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Yuda Luz</dc:creator>
  <cp:lastModifiedBy>Yuda Luz</cp:lastModifiedBy>
  <cp:revision>35</cp:revision>
  <dcterms:created xsi:type="dcterms:W3CDTF">2025-11-24T20:05:00Z</dcterms:created>
  <dcterms:modified xsi:type="dcterms:W3CDTF">2025-12-01T00:46:14Z</dcterms:modified>
</cp:coreProperties>
</file>