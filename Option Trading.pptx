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  <p:sldId id="261" r:id="rId6"/>
    <p:sldId id="262" r:id="rId7"/>
    <p:sldId id="263" r:id="rId8"/>
    <p:sldId id="264" r:id="rId9"/>
    <p:sldId id="27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500"/>
    <a:srgbClr val="FFF5E5"/>
    <a:srgbClr val="FFC000"/>
    <a:srgbClr val="FF9D00"/>
    <a:srgbClr val="4D14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3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12/26/2025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12-10-2025</a:t>
            </a:r>
          </a:p>
          <a:p>
            <a:endParaRPr lang="en-US" dirty="0"/>
          </a:p>
          <a:p>
            <a:r>
              <a:rPr lang="en-US" dirty="0"/>
              <a:t>Microsoft Visual </a:t>
            </a:r>
            <a:r>
              <a:rPr lang="en-US"/>
              <a:t>Code studio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AutoNum type="arabicPeriod"/>
              <a:tabLst>
                <a:tab pos="285750" algn="l"/>
              </a:tabLst>
            </a:pPr>
            <a:r>
              <a:rPr lang="en-US" sz="1200" dirty="0"/>
              <a:t>Install Python 3.14 from https://www.python.org/downloads/  before VSC</a:t>
            </a:r>
          </a:p>
          <a:p>
            <a:pPr marL="285750" indent="-285750">
              <a:buAutoNum type="arabicPeriod"/>
              <a:tabLst>
                <a:tab pos="285750" algn="l"/>
              </a:tabLst>
            </a:pPr>
            <a:r>
              <a:rPr lang="en-US" sz="1200" dirty="0"/>
              <a:t>Download Visual Studio Code (VSC) from </a:t>
            </a:r>
            <a:r>
              <a:rPr lang="en-US" sz="1200" dirty="0">
                <a:hlinkClick r:id="rId2"/>
              </a:rPr>
              <a:t>https://code.visualstudio.com/download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AutoNum type="arabicPeriod"/>
              <a:tabLst>
                <a:tab pos="285750" algn="l"/>
              </a:tabLst>
            </a:pPr>
            <a:r>
              <a:rPr lang="en-US" sz="1200" dirty="0"/>
              <a:t>If "import </a:t>
            </a:r>
            <a:r>
              <a:rPr lang="en-US" sz="1200" noProof="1"/>
              <a:t>orjson</a:t>
            </a:r>
            <a:r>
              <a:rPr lang="en-US" sz="1200" dirty="0"/>
              <a:t>" has problems, use: </a:t>
            </a:r>
            <a:r>
              <a:rPr lang="en-US" sz="1200" dirty="0">
                <a:highlight>
                  <a:srgbClr val="FFFF00"/>
                </a:highlight>
              </a:rPr>
              <a:t>python.exe -m pip install </a:t>
            </a:r>
            <a:r>
              <a:rPr lang="en-US" sz="1200" noProof="1">
                <a:highlight>
                  <a:srgbClr val="FFFF00"/>
                </a:highlight>
              </a:rPr>
              <a:t>orjson</a:t>
            </a:r>
            <a:r>
              <a:rPr lang="en-US" sz="1200" dirty="0">
                <a:highlight>
                  <a:srgbClr val="FFFF00"/>
                </a:highlight>
              </a:rPr>
              <a:t>.</a:t>
            </a:r>
            <a:r>
              <a:rPr lang="en-US" sz="1200" dirty="0"/>
              <a:t>  This may be the reason that Desktop10 is 3 times slower than Desktop12n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4.	Optional: Connect source control with </a:t>
            </a:r>
            <a:r>
              <a:rPr lang="en-US" sz="1200" noProof="1"/>
              <a:t>Etay's</a:t>
            </a:r>
            <a:r>
              <a:rPr lang="en-US" sz="1200" dirty="0"/>
              <a:t> </a:t>
            </a:r>
            <a:r>
              <a:rPr lang="en-US" sz="1200" noProof="1"/>
              <a:t>Github</a:t>
            </a:r>
            <a:r>
              <a:rPr lang="en-US" sz="1200" dirty="0"/>
              <a:t> to c:\option_trading</a:t>
            </a:r>
          </a:p>
          <a:p>
            <a:pPr marL="285750" indent="-285750">
              <a:buNone/>
              <a:tabLst>
                <a:tab pos="285750" algn="l"/>
              </a:tabLst>
            </a:pPr>
            <a:r>
              <a:rPr lang="en-US" sz="1200" dirty="0"/>
              <a:t>5. 	Use </a:t>
            </a:r>
            <a:r>
              <a:rPr lang="en-US" sz="1200" noProof="1"/>
              <a:t>FileZila</a:t>
            </a:r>
            <a:r>
              <a:rPr lang="en-US" sz="1200" dirty="0"/>
              <a:t> to download ORATS zip files 2007 - 2025 to c:\option_trading\ORATS_zip </a:t>
            </a:r>
          </a:p>
          <a:p>
            <a:pPr marL="285750" indent="-285750">
              <a:buNone/>
              <a:tabLst>
                <a:tab pos="285750" algn="l"/>
              </a:tabLst>
            </a:pPr>
            <a:r>
              <a:rPr lang="en-US" sz="1200" dirty="0">
                <a:ea typeface="+mn-lt"/>
                <a:cs typeface="+mn-lt"/>
              </a:rPr>
              <a:t>6. 	Run extract_zip.py (zip --&gt; csv under c:\option_trading\ORATS_csv)</a:t>
            </a:r>
            <a:endParaRPr lang="en-US" sz="2000" dirty="0"/>
          </a:p>
          <a:p>
            <a:pPr marL="285750" indent="-285750">
              <a:buNone/>
              <a:tabLst>
                <a:tab pos="285750" algn="l"/>
              </a:tabLst>
            </a:pPr>
            <a:r>
              <a:rPr lang="en-US" sz="1200" dirty="0">
                <a:ea typeface="+mn-lt"/>
                <a:cs typeface="+mn-lt"/>
              </a:rPr>
              <a:t>   Note: The new files will not go to c:\option_trading\ORATS_csv\2025</a:t>
            </a:r>
            <a:endParaRPr lang="en-US" sz="2000" dirty="0"/>
          </a:p>
          <a:p>
            <a:pPr marL="285750" indent="-285750">
              <a:buNone/>
              <a:tabLst>
                <a:tab pos="285750" algn="l"/>
              </a:tabLst>
            </a:pPr>
            <a:r>
              <a:rPr lang="en-US" sz="1200" dirty="0">
                <a:ea typeface="+mn-lt"/>
                <a:cs typeface="+mn-lt"/>
              </a:rPr>
              <a:t>   but it is OK since make_data.py will find them anywhere.</a:t>
            </a:r>
            <a:endParaRPr lang="en-US" sz="2000" dirty="0"/>
          </a:p>
          <a:p>
            <a:pPr marL="285750" indent="-285750">
              <a:buNone/>
              <a:tabLst>
                <a:tab pos="285750" algn="l"/>
              </a:tabLst>
            </a:pPr>
            <a:r>
              <a:rPr lang="en-US" sz="1200" dirty="0">
                <a:ea typeface="+mn-lt"/>
                <a:cs typeface="+mn-lt"/>
              </a:rPr>
              <a:t>7. 	Run make_data.py (c:\option_trading\ORATS_csv --&gt; c:\option_trading\ORATS_json).   This will keep only: "</a:t>
            </a:r>
            <a:r>
              <a:rPr lang="en-US" sz="1200" noProof="1">
                <a:ea typeface="+mn-lt"/>
                <a:cs typeface="+mn-lt"/>
              </a:rPr>
              <a:t>expirDate</a:t>
            </a:r>
            <a:r>
              <a:rPr lang="en-US" sz="1200" dirty="0">
                <a:ea typeface="+mn-lt"/>
                <a:cs typeface="+mn-lt"/>
              </a:rPr>
              <a:t>", "strike", "</a:t>
            </a:r>
            <a:r>
              <a:rPr lang="en-US" sz="1200" noProof="1">
                <a:ea typeface="+mn-lt"/>
                <a:cs typeface="+mn-lt"/>
              </a:rPr>
              <a:t>pBidPx</a:t>
            </a:r>
            <a:r>
              <a:rPr lang="en-US" sz="1200" dirty="0">
                <a:ea typeface="+mn-lt"/>
                <a:cs typeface="+mn-lt"/>
              </a:rPr>
              <a:t>", "</a:t>
            </a:r>
            <a:r>
              <a:rPr lang="en-US" sz="1200" noProof="1">
                <a:ea typeface="+mn-lt"/>
                <a:cs typeface="+mn-lt"/>
              </a:rPr>
              <a:t>pAskPx</a:t>
            </a:r>
            <a:r>
              <a:rPr lang="en-US" sz="1200" dirty="0">
                <a:ea typeface="+mn-lt"/>
                <a:cs typeface="+mn-lt"/>
              </a:rPr>
              <a:t>" and "</a:t>
            </a:r>
            <a:r>
              <a:rPr lang="en-US" sz="1200" noProof="1">
                <a:ea typeface="+mn-lt"/>
                <a:cs typeface="+mn-lt"/>
              </a:rPr>
              <a:t>putDelta</a:t>
            </a:r>
            <a:r>
              <a:rPr lang="en-US" sz="1200" dirty="0">
                <a:ea typeface="+mn-lt"/>
                <a:cs typeface="+mn-lt"/>
              </a:rPr>
              <a:t>"</a:t>
            </a:r>
            <a:endParaRPr lang="en-US" sz="2000" dirty="0"/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8. 	Open terminal and run these command: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	     pip install </a:t>
            </a:r>
            <a:r>
              <a:rPr lang="en-US" sz="1200" noProof="1"/>
              <a:t>yfinance</a:t>
            </a:r>
            <a:endParaRPr lang="en-US" sz="1200" dirty="0"/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	     git config --global </a:t>
            </a:r>
            <a:r>
              <a:rPr lang="en-US" sz="1200" noProof="1"/>
              <a:t>user.email </a:t>
            </a:r>
            <a:r>
              <a:rPr lang="en-US" sz="1200" dirty="0"/>
              <a:t>etayluz@gmail.com </a:t>
            </a:r>
            <a:r>
              <a:rPr lang="en-US" sz="1200" dirty="0">
                <a:sym typeface="Wingdings" panose="05000000000000000000" pitchFamily="2" charset="2"/>
              </a:rPr>
              <a:t> yuda.luz@gmail.com</a:t>
            </a:r>
            <a:endParaRPr lang="en-US" sz="1200" dirty="0"/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	     git config --global user.name "</a:t>
            </a:r>
            <a:r>
              <a:rPr lang="en-US" sz="1200" noProof="1"/>
              <a:t>Etay</a:t>
            </a:r>
            <a:r>
              <a:rPr lang="en-US" sz="1200" dirty="0"/>
              <a:t> Luz“ </a:t>
            </a:r>
            <a:r>
              <a:rPr lang="en-US" sz="1200" dirty="0">
                <a:sym typeface="Wingdings" panose="05000000000000000000" pitchFamily="2" charset="2"/>
              </a:rPr>
              <a:t> “</a:t>
            </a:r>
            <a:r>
              <a:rPr lang="en-US" sz="1200" noProof="1">
                <a:sym typeface="Wingdings" panose="05000000000000000000" pitchFamily="2" charset="2"/>
              </a:rPr>
              <a:t>yudaluz</a:t>
            </a:r>
            <a:r>
              <a:rPr lang="en-US" sz="1200" dirty="0">
                <a:sym typeface="Wingdings" panose="05000000000000000000" pitchFamily="2" charset="2"/>
              </a:rPr>
              <a:t>”</a:t>
            </a:r>
            <a:endParaRPr lang="en-US" sz="1200" dirty="0"/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9. 	Run yahoo.py (download csv files from Yahoo.com to c:\option_trading\ticker_data\AAPL.csv)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10.	Run get_stock_history.py (</a:t>
            </a:r>
            <a:r>
              <a:rPr lang="en-US" sz="1200" noProof="1"/>
              <a:t>ticker_data</a:t>
            </a:r>
            <a:r>
              <a:rPr lang="en-US" sz="1200" dirty="0"/>
              <a:t>\ --&gt; c:\option_trading\stock_history.json)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11.	Check visually the rules in </a:t>
            </a:r>
            <a:r>
              <a:rPr lang="en-US" sz="1200" noProof="1"/>
              <a:t>rules.json</a:t>
            </a:r>
            <a:r>
              <a:rPr lang="en-US" sz="1200" dirty="0"/>
              <a:t>, validate that you are happy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12.	Run sumulate_yuda.py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13.	Check the results in the latest log.txt under c:\option_trading\logs </a:t>
            </a:r>
          </a:p>
          <a:p>
            <a:pPr marL="285750" indent="-285750" defTabSz="230188">
              <a:buNone/>
              <a:tabLst>
                <a:tab pos="285750" algn="l"/>
              </a:tabLst>
            </a:pPr>
            <a:r>
              <a:rPr lang="en-US" sz="1200" dirty="0"/>
              <a:t>14.	Run sim_wraper.py to optimize the rules.</a:t>
            </a:r>
            <a:r>
              <a:rPr lang="en-US" sz="1200" noProof="1"/>
              <a:t>json</a:t>
            </a:r>
            <a:r>
              <a:rPr lang="en-US" sz="12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BE74D-8BC3-B3BE-8888-C8C9C9A9D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4305-0400-0D12-115E-801A35446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Yahoo.py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80BE7-F916-DF03-A2D3-BF18C186C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Run yahoo.py (download csv files from Yahoo.com to c:\option_trading\ticker_data\TQQQ.csv)</a:t>
            </a:r>
          </a:p>
          <a:p>
            <a:r>
              <a:rPr lang="en-US" sz="1600" dirty="0"/>
              <a:t>Yahoo Finance original format includes</a:t>
            </a:r>
            <a:br>
              <a:rPr lang="en-US" sz="1600" dirty="0"/>
            </a:br>
            <a:r>
              <a:rPr lang="en-US" sz="1600" dirty="0"/>
              <a:t>splits:</a:t>
            </a:r>
          </a:p>
          <a:p>
            <a:r>
              <a:rPr lang="en-US" sz="1600" dirty="0"/>
              <a:t>Their close is our Adjusted Close (AC)</a:t>
            </a:r>
          </a:p>
          <a:p>
            <a:r>
              <a:rPr lang="en-US" sz="1600" dirty="0"/>
              <a:t>To find the split impact on the unadjusted close (UAC), on the split day recalculate the unadjusted close of all the prior dates:</a:t>
            </a:r>
            <a:br>
              <a:rPr lang="en-US" sz="1600" dirty="0"/>
            </a:br>
            <a:r>
              <a:rPr lang="en-US" sz="1600" dirty="0"/>
              <a:t>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 </a:t>
            </a:r>
            <a:r>
              <a:rPr lang="en-US" sz="1600" dirty="0"/>
              <a:t>= AC x 2 where 2 is the split ratio, and 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is any date prior to the split date.</a:t>
            </a:r>
          </a:p>
          <a:p>
            <a:endParaRPr lang="en-US" sz="1600" dirty="0"/>
          </a:p>
          <a:p>
            <a:r>
              <a:rPr lang="en-US" sz="1600" dirty="0"/>
              <a:t>Yahoo also provides “$ Dividends”:</a:t>
            </a:r>
          </a:p>
          <a:p>
            <a:endParaRPr lang="en-US" sz="1600" dirty="0"/>
          </a:p>
          <a:p>
            <a:r>
              <a:rPr lang="en-US" sz="1600" dirty="0"/>
              <a:t>To find the impact of the dividend on the unadjusted close (UAC), on the dividend day recalculate the unadjusted close of all the prior dates:</a:t>
            </a:r>
            <a:br>
              <a:rPr lang="en-US" sz="1600" dirty="0"/>
            </a:br>
            <a:r>
              <a:rPr lang="en-US" sz="1600" noProof="1"/>
              <a:t>DivRatio = (Close_price_before_dividend - Dividend_amount) / Close_price_before_dividend.</a:t>
            </a:r>
            <a:br>
              <a:rPr lang="en-US" sz="1600" noProof="1"/>
            </a:br>
            <a:r>
              <a:rPr lang="en-US" sz="1600" noProof="1"/>
              <a:t>= (51.256 – 0.049) / 51.256 = 0.999044.</a:t>
            </a:r>
            <a:br>
              <a:rPr lang="en-US" sz="1600" dirty="0"/>
            </a:br>
            <a:r>
              <a:rPr lang="en-US" sz="1600" dirty="0"/>
              <a:t>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= AC / </a:t>
            </a:r>
            <a:r>
              <a:rPr lang="en-US" sz="1600" noProof="1"/>
              <a:t>DivRatio</a:t>
            </a:r>
            <a:r>
              <a:rPr lang="en-US" sz="1600" dirty="0"/>
              <a:t> where </a:t>
            </a:r>
            <a:r>
              <a:rPr lang="en-US" sz="1600" noProof="1"/>
              <a:t>DivRatio</a:t>
            </a:r>
            <a:r>
              <a:rPr lang="en-US" sz="1600" dirty="0"/>
              <a:t> is the dividend ratio, and 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is any date prior to the dividend date.</a:t>
            </a:r>
            <a:br>
              <a:rPr lang="en-US" sz="1600" dirty="0"/>
            </a:br>
            <a:r>
              <a:rPr lang="en-US" sz="1600" dirty="0"/>
              <a:t>If later, at 11/20/2025, the 2:1 split will change the 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 again.</a:t>
            </a:r>
          </a:p>
          <a:p>
            <a:r>
              <a:rPr lang="en-US" sz="1600" dirty="0"/>
              <a:t>The resulted TQQQ.csv will be:</a:t>
            </a:r>
            <a:br>
              <a:rPr lang="en-US" sz="1600" dirty="0"/>
            </a:br>
            <a:r>
              <a:rPr lang="en-US" sz="1600" dirty="0"/>
              <a:t>Notice that the Close above:</a:t>
            </a:r>
            <a:br>
              <a:rPr lang="en-US" sz="1600" dirty="0"/>
            </a:br>
            <a:r>
              <a:rPr lang="en-US" sz="1600" dirty="0"/>
              <a:t>(50.025, 46.45, 47.48)</a:t>
            </a:r>
            <a:br>
              <a:rPr lang="en-US" sz="1600" dirty="0"/>
            </a:br>
            <a:r>
              <a:rPr lang="en-US" sz="1600" dirty="0"/>
              <a:t>Is saved as </a:t>
            </a:r>
            <a:r>
              <a:rPr lang="en-US" sz="1600" noProof="1"/>
              <a:t>Adj_Close</a:t>
            </a:r>
            <a:r>
              <a:rPr lang="en-US" sz="1600" dirty="0"/>
              <a:t>:</a:t>
            </a:r>
            <a:br>
              <a:rPr lang="en-US" sz="1600" dirty="0"/>
            </a:br>
            <a:r>
              <a:rPr lang="en-US" sz="1600" dirty="0"/>
              <a:t> </a:t>
            </a:r>
            <a:br>
              <a:rPr lang="en-US" sz="1600" dirty="0"/>
            </a:b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FDFA99-C6EB-778D-1F21-6BF59DCF9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41420"/>
              </p:ext>
            </p:extLst>
          </p:nvPr>
        </p:nvGraphicFramePr>
        <p:xfrm>
          <a:off x="4484914" y="1149532"/>
          <a:ext cx="5974080" cy="7219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33242664"/>
                    </a:ext>
                  </a:extLst>
                </a:gridCol>
                <a:gridCol w="768610">
                  <a:extLst>
                    <a:ext uri="{9D8B030D-6E8A-4147-A177-3AD203B41FA5}">
                      <a16:colId xmlns:a16="http://schemas.microsoft.com/office/drawing/2014/main" val="26872205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112399319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223638450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467624918"/>
                    </a:ext>
                  </a:extLst>
                </a:gridCol>
                <a:gridCol w="707419">
                  <a:extLst>
                    <a:ext uri="{9D8B030D-6E8A-4147-A177-3AD203B41FA5}">
                      <a16:colId xmlns:a16="http://schemas.microsoft.com/office/drawing/2014/main" val="15327948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165107490"/>
                    </a:ext>
                  </a:extLst>
                </a:gridCol>
                <a:gridCol w="1115580">
                  <a:extLst>
                    <a:ext uri="{9D8B030D-6E8A-4147-A177-3AD203B41FA5}">
                      <a16:colId xmlns:a16="http://schemas.microsoft.com/office/drawing/2014/main" val="228965592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Volume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Stock Splits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9400880"/>
                  </a:ext>
                </a:extLst>
              </a:tr>
              <a:tr h="3543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11/19/2025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49.325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51.575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48.715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50.025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184263600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65193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11/20/2025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52.95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53.54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46.45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178246300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4049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11/21/2025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46.85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49.1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45.24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179618600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141602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605412-17D3-F21B-32CE-F98B05CEA7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494039"/>
              </p:ext>
            </p:extLst>
          </p:nvPr>
        </p:nvGraphicFramePr>
        <p:xfrm>
          <a:off x="4484914" y="2707005"/>
          <a:ext cx="5974080" cy="7219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33242664"/>
                    </a:ext>
                  </a:extLst>
                </a:gridCol>
                <a:gridCol w="768610">
                  <a:extLst>
                    <a:ext uri="{9D8B030D-6E8A-4147-A177-3AD203B41FA5}">
                      <a16:colId xmlns:a16="http://schemas.microsoft.com/office/drawing/2014/main" val="26872205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112399319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223638450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467624918"/>
                    </a:ext>
                  </a:extLst>
                </a:gridCol>
                <a:gridCol w="707419">
                  <a:extLst>
                    <a:ext uri="{9D8B030D-6E8A-4147-A177-3AD203B41FA5}">
                      <a16:colId xmlns:a16="http://schemas.microsoft.com/office/drawing/2014/main" val="15327948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165107490"/>
                    </a:ext>
                  </a:extLst>
                </a:gridCol>
                <a:gridCol w="1115580">
                  <a:extLst>
                    <a:ext uri="{9D8B030D-6E8A-4147-A177-3AD203B41FA5}">
                      <a16:colId xmlns:a16="http://schemas.microsoft.com/office/drawing/2014/main" val="228965592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Volume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Stock Splits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9400880"/>
                  </a:ext>
                </a:extLst>
              </a:tr>
              <a:tr h="3543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9/23/2025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52.34496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52.39991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50.9413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51.256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99930600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65193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9/24/2025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51.605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51.68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49.995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50.705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101055600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0.049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4049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9/25/2025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49.7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50.435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48.75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122820600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141602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4725A1D-5073-F967-7CD8-979A8F23B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468100"/>
              </p:ext>
            </p:extLst>
          </p:nvPr>
        </p:nvGraphicFramePr>
        <p:xfrm>
          <a:off x="4484914" y="5695471"/>
          <a:ext cx="5852160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370773121"/>
                    </a:ext>
                  </a:extLst>
                </a:gridCol>
                <a:gridCol w="705032">
                  <a:extLst>
                    <a:ext uri="{9D8B030D-6E8A-4147-A177-3AD203B41FA5}">
                      <a16:colId xmlns:a16="http://schemas.microsoft.com/office/drawing/2014/main" val="2603356998"/>
                    </a:ext>
                  </a:extLst>
                </a:gridCol>
                <a:gridCol w="775063">
                  <a:extLst>
                    <a:ext uri="{9D8B030D-6E8A-4147-A177-3AD203B41FA5}">
                      <a16:colId xmlns:a16="http://schemas.microsoft.com/office/drawing/2014/main" val="3873826684"/>
                    </a:ext>
                  </a:extLst>
                </a:gridCol>
                <a:gridCol w="661851">
                  <a:extLst>
                    <a:ext uri="{9D8B030D-6E8A-4147-A177-3AD203B41FA5}">
                      <a16:colId xmlns:a16="http://schemas.microsoft.com/office/drawing/2014/main" val="367885362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314770450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2725232399"/>
                    </a:ext>
                  </a:extLst>
                </a:gridCol>
                <a:gridCol w="722812">
                  <a:extLst>
                    <a:ext uri="{9D8B030D-6E8A-4147-A177-3AD203B41FA5}">
                      <a16:colId xmlns:a16="http://schemas.microsoft.com/office/drawing/2014/main" val="3547895199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394321905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Adj_Close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Split_Ratio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44134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11/19/2025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103.15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97.43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98.65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62212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11/20/2025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46.45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46.45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53.54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52.95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1" u="none" strike="noStrike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14487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11/21/2025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47.48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45.24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46.85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026227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912EC54-7285-4D2B-C50A-27860264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502488"/>
              </p:ext>
            </p:extLst>
          </p:nvPr>
        </p:nvGraphicFramePr>
        <p:xfrm>
          <a:off x="4484914" y="4872578"/>
          <a:ext cx="5852160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370773121"/>
                    </a:ext>
                  </a:extLst>
                </a:gridCol>
                <a:gridCol w="705032">
                  <a:extLst>
                    <a:ext uri="{9D8B030D-6E8A-4147-A177-3AD203B41FA5}">
                      <a16:colId xmlns:a16="http://schemas.microsoft.com/office/drawing/2014/main" val="2603356998"/>
                    </a:ext>
                  </a:extLst>
                </a:gridCol>
                <a:gridCol w="775063">
                  <a:extLst>
                    <a:ext uri="{9D8B030D-6E8A-4147-A177-3AD203B41FA5}">
                      <a16:colId xmlns:a16="http://schemas.microsoft.com/office/drawing/2014/main" val="3873826684"/>
                    </a:ext>
                  </a:extLst>
                </a:gridCol>
                <a:gridCol w="661851">
                  <a:extLst>
                    <a:ext uri="{9D8B030D-6E8A-4147-A177-3AD203B41FA5}">
                      <a16:colId xmlns:a16="http://schemas.microsoft.com/office/drawing/2014/main" val="367885362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314770450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2725232399"/>
                    </a:ext>
                  </a:extLst>
                </a:gridCol>
                <a:gridCol w="722812">
                  <a:extLst>
                    <a:ext uri="{9D8B030D-6E8A-4147-A177-3AD203B41FA5}">
                      <a16:colId xmlns:a16="http://schemas.microsoft.com/office/drawing/2014/main" val="3547895199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394321905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Adj_Close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Split_Ratio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44134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9/23/2025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102.561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104.8499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101.9313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104.74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62212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9/24/2025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50.705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101.41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103.36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99.99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103.21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effectLst/>
                          <a:highlight>
                            <a:srgbClr val="FFFF00"/>
                          </a:highlight>
                        </a:rPr>
                        <a:t>0.049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14487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9/25/2025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97.5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99.4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0262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6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4873043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48730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48730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BC1B82-0687-15BC-CF09-CDE9CB12F3B4}"/>
              </a:ext>
            </a:extLst>
          </p:cNvPr>
          <p:cNvSpPr/>
          <p:nvPr/>
        </p:nvSpPr>
        <p:spPr>
          <a:xfrm rot="1914748">
            <a:off x="3523746" y="4920703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F609DC-A8BD-26B7-617F-E23B21522299}"/>
              </a:ext>
            </a:extLst>
          </p:cNvPr>
          <p:cNvSpPr/>
          <p:nvPr/>
        </p:nvSpPr>
        <p:spPr>
          <a:xfrm rot="1908593">
            <a:off x="2902804" y="5271697"/>
            <a:ext cx="572593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4117AF-E051-DC24-7D72-C5CB169B20F1}"/>
              </a:ext>
            </a:extLst>
          </p:cNvPr>
          <p:cNvSpPr/>
          <p:nvPr/>
        </p:nvSpPr>
        <p:spPr>
          <a:xfrm rot="1914748">
            <a:off x="2990655" y="4606643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F17661-180C-9E90-EE2D-9E48E0631BCA}"/>
              </a:ext>
            </a:extLst>
          </p:cNvPr>
          <p:cNvSpPr/>
          <p:nvPr/>
        </p:nvSpPr>
        <p:spPr>
          <a:xfrm rot="1914748">
            <a:off x="3162454" y="4331638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807673-C20D-BDE2-F4BC-5BE91C5A9E69}"/>
              </a:ext>
            </a:extLst>
          </p:cNvPr>
          <p:cNvSpPr/>
          <p:nvPr/>
        </p:nvSpPr>
        <p:spPr>
          <a:xfrm rot="1914748">
            <a:off x="3162454" y="3995564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8327A5-3F61-541B-7049-8CCB533E8EA8}"/>
              </a:ext>
            </a:extLst>
          </p:cNvPr>
          <p:cNvSpPr/>
          <p:nvPr/>
        </p:nvSpPr>
        <p:spPr>
          <a:xfrm rot="1908593">
            <a:off x="7358034" y="3206692"/>
            <a:ext cx="57259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</a:t>
            </a:r>
            <a:b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8B901E-4582-1B08-AED5-77376428DF6E}"/>
              </a:ext>
            </a:extLst>
          </p:cNvPr>
          <p:cNvSpPr/>
          <p:nvPr/>
        </p:nvSpPr>
        <p:spPr>
          <a:xfrm rot="1914748">
            <a:off x="11217770" y="1668051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CEA58A-0577-7B6A-DA37-7ADA543FA0CC}"/>
              </a:ext>
            </a:extLst>
          </p:cNvPr>
          <p:cNvSpPr/>
          <p:nvPr/>
        </p:nvSpPr>
        <p:spPr>
          <a:xfrm rot="1908593">
            <a:off x="11111906" y="2219059"/>
            <a:ext cx="611194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Close,</a:t>
            </a:r>
            <a:b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</a:t>
            </a:r>
            <a:b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8EDC44-E628-75D1-01D8-0CA61A12BE50}"/>
              </a:ext>
            </a:extLst>
          </p:cNvPr>
          <p:cNvSpPr/>
          <p:nvPr/>
        </p:nvSpPr>
        <p:spPr>
          <a:xfrm rot="1908593">
            <a:off x="11231040" y="3272816"/>
            <a:ext cx="572593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68D899-7D85-5050-3BC9-F501F4ED986E}"/>
              </a:ext>
            </a:extLst>
          </p:cNvPr>
          <p:cNvSpPr/>
          <p:nvPr/>
        </p:nvSpPr>
        <p:spPr>
          <a:xfrm rot="1914748">
            <a:off x="11217769" y="4218714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4ED320-0C75-2A18-C488-4690A41A8D07}"/>
              </a:ext>
            </a:extLst>
          </p:cNvPr>
          <p:cNvSpPr/>
          <p:nvPr/>
        </p:nvSpPr>
        <p:spPr>
          <a:xfrm>
            <a:off x="468425" y="5852100"/>
            <a:ext cx="2404376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 : Adjusted Price</a:t>
            </a:r>
          </a:p>
          <a:p>
            <a:r>
              <a:rPr lang="en-US" sz="120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 Adj: SMA150</a:t>
            </a:r>
            <a:endParaRPr lang="en-US" sz="1200" b="0" cap="none" spc="0" dirty="0">
              <a:ln w="0"/>
              <a:solidFill>
                <a:schemeClr val="accent2">
                  <a:lumMod val="7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en-US" sz="120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Close:  Real Close price</a:t>
            </a:r>
          </a:p>
          <a:p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 Close = Avg Adj x (Close / Adj)</a:t>
            </a: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5"/>
            <a:ext cx="10646790" cy="2092750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815689"/>
          </a:xfrm>
        </p:spPr>
        <p:txBody>
          <a:bodyPr>
            <a:no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 5% is part of </a:t>
            </a:r>
            <a:r>
              <a:rPr lang="da-DK" sz="1600" dirty="0"/>
              <a:t>[0.3, 2, 3, 5, 8, 12, 16, 20, 24, 28, 32, 36, 40, 45, 50]</a:t>
            </a:r>
            <a:endParaRPr lang="en-US" sz="1600" dirty="0"/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1600" dirty="0"/>
              <a:t>For each run, sim_wraper.py will calculate a </a:t>
            </a:r>
            <a:r>
              <a:rPr lang="en-US" sz="16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1600" dirty="0"/>
              <a:t>sim_wraper.py will select the best score of the triplet and will update the rule parameter in rules.</a:t>
            </a:r>
            <a:r>
              <a:rPr lang="en-US" sz="16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16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1600" dirty="0"/>
              <a:t>At the end it will generate a log file “optimizer </a:t>
            </a:r>
            <a:r>
              <a:rPr lang="en-US" sz="1600" noProof="1"/>
              <a:t>yyyy-mm-dd</a:t>
            </a:r>
            <a:r>
              <a:rPr lang="en-US" sz="1600" dirty="0"/>
              <a:t> hh-mm.log” with the optimization results. The best results are at “optimize 2025_14_11 08_36.log”.</a:t>
            </a:r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r>
              <a:rPr lang="da-DK" sz="1600" dirty="0"/>
              <a:t>Wrapper tries all the set wrapper_sweep_pct_set = [0.3, 2, 3, 5, 8, 12, 16, 20, 24, 28, 32, 36, 40, 45, 50] </a:t>
            </a: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339725" indent="-339725">
              <a:tabLst>
                <a:tab pos="519113" algn="l"/>
              </a:tabLst>
            </a:pPr>
            <a:endParaRPr lang="en-US" sz="1600" dirty="0"/>
          </a:p>
          <a:p>
            <a:pPr marL="0" indent="0">
              <a:buNone/>
              <a:tabLst>
                <a:tab pos="519113" algn="l"/>
              </a:tabLst>
            </a:pPr>
            <a:br>
              <a:rPr lang="en-US" sz="1600" dirty="0"/>
            </a:br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FE5A50-CB93-98CB-50E9-9460CF4D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825" y="2858866"/>
            <a:ext cx="5613289" cy="190882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C0FA6E-98D5-8ABF-1A74-D613A3228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37" y="2858866"/>
            <a:ext cx="5613289" cy="3736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br>
              <a:rPr lang="en-US" sz="1600" dirty="0"/>
            </a:br>
            <a:r>
              <a:rPr lang="en-US" sz="2000" dirty="0"/>
              <a:t>logs/2025-11-27 09-36.log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691" y="1811286"/>
            <a:ext cx="1409524" cy="3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590BA2-BC98-E220-1E17-D952B3BBF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825" y="4686205"/>
            <a:ext cx="5613289" cy="190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9EE3B-252E-2BFA-DE30-1FB81B1C5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5A90E-5EE0-4127-1E41-72789DF2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963" y="171245"/>
            <a:ext cx="8483417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</a:t>
            </a:r>
            <a:endParaRPr 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0D65EDD-5DCE-E019-03BB-9029C6218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577967"/>
              </p:ext>
            </p:extLst>
          </p:nvPr>
        </p:nvGraphicFramePr>
        <p:xfrm>
          <a:off x="3695499" y="1054372"/>
          <a:ext cx="3805332" cy="5539783"/>
        </p:xfrm>
        <a:graphic>
          <a:graphicData uri="http://schemas.openxmlformats.org/drawingml/2006/table">
            <a:tbl>
              <a:tblPr/>
              <a:tblGrid>
                <a:gridCol w="1066387">
                  <a:extLst>
                    <a:ext uri="{9D8B030D-6E8A-4147-A177-3AD203B41FA5}">
                      <a16:colId xmlns:a16="http://schemas.microsoft.com/office/drawing/2014/main" val="3506562916"/>
                    </a:ext>
                  </a:extLst>
                </a:gridCol>
                <a:gridCol w="1593589">
                  <a:extLst>
                    <a:ext uri="{9D8B030D-6E8A-4147-A177-3AD203B41FA5}">
                      <a16:colId xmlns:a16="http://schemas.microsoft.com/office/drawing/2014/main" val="2276144076"/>
                    </a:ext>
                  </a:extLst>
                </a:gridCol>
                <a:gridCol w="1145356">
                  <a:extLst>
                    <a:ext uri="{9D8B030D-6E8A-4147-A177-3AD203B41FA5}">
                      <a16:colId xmlns:a16="http://schemas.microsoft.com/office/drawing/2014/main" val="1924272788"/>
                    </a:ext>
                  </a:extLst>
                </a:gridCol>
              </a:tblGrid>
              <a:tr h="167640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📊 Account Rules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Start Date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1/1/2017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758246"/>
                  </a:ext>
                </a:extLst>
              </a:tr>
              <a:tr h="172047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End Date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10/28/2025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877853"/>
                  </a:ext>
                </a:extLst>
              </a:tr>
              <a:tr h="157710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Initial Cash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$1,000,000.00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840999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Puts/Account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2326693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Puts/Stock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56828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Puts/Day</a:t>
                      </a:r>
                    </a:p>
                  </a:txBody>
                  <a:tcPr marL="0" marR="5067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478083"/>
                  </a:ext>
                </a:extLst>
              </a:tr>
              <a:tr h="197138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Wrapper Sweep Pct</a:t>
                      </a:r>
                    </a:p>
                  </a:txBody>
                  <a:tcPr marL="0" marR="5067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32.00%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376629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Drawdown Goal</a:t>
                      </a:r>
                    </a:p>
                  </a:txBody>
                  <a:tcPr marL="0" marR="5067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9947884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6A6A6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🧩 Stock Rules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5-Day Rise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-9.9570%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7438356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Above SMA150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-15.3990%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130963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Above SMA150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42.4830%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2991367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10-Day Avg up-Slope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-0.1950%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374649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Stock Price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$46.7600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268010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6A6A6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📈 Entry Rules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DTE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2164968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DTE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103827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Put Bid Price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$2.0757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59026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Put Delta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-41.7920%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659388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Put Delta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-0.0970%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476044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 Bid-Ask Spread</a:t>
                      </a:r>
                    </a:p>
                  </a:txBody>
                  <a:tcPr marL="0" marR="50679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217.0760%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921181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SMA150 Above Strike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-42.6700%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0453196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Risk/Reward Ratio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-9.0233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575226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sv-SE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Ann Risk/Rewrd Ratio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-218.3074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737704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sv-SE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Ann Reverse RR Ratio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-22.7724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05738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Expected Profit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-94.7620%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032008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Rank by risk reward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FALSE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0791500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Rank by annual risk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FALSE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52954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Rank by rev annual risk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TRUE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1073171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Rank by expectedprofit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FALSE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963185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6A6A6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📉 Exit Rules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Position Put Stop Loss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115.7580%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874867"/>
                  </a:ext>
                </a:extLst>
              </a:tr>
              <a:tr h="166671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Stock max Below MA150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49.6720%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6346162"/>
                  </a:ext>
                </a:extLst>
              </a:tr>
              <a:tr h="157710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       </a:t>
                      </a:r>
                      <a:r>
                        <a:rPr lang="en-US" sz="1050" b="1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CloseSMA</a:t>
                      </a:r>
                      <a:endParaRPr lang="en-US" sz="1050" b="0" i="0" u="none" strike="noStrike">
                        <a:solidFill>
                          <a:srgbClr val="80808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Stock Min Above Strike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808080"/>
                          </a:solidFill>
                          <a:effectLst/>
                          <a:latin typeface="Aptos Narrow" panose="020B0004020202020204" pitchFamily="34" charset="0"/>
                        </a:rPr>
                        <a:t>-9999%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270301"/>
                  </a:ext>
                </a:extLst>
              </a:tr>
              <a:tr h="170256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Stock Max Below Entry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14.2970%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1806710"/>
                  </a:ext>
                </a:extLst>
              </a:tr>
              <a:tr h="179216">
                <a:tc>
                  <a:txBody>
                    <a:bodyPr/>
                    <a:lstStyle/>
                    <a:p>
                      <a:pPr algn="l" fontAlgn="b"/>
                      <a:r>
                        <a:rPr lang="en-US" sz="105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Min Gain to Take Profit</a:t>
                      </a:r>
                    </a:p>
                  </a:txBody>
                  <a:tcPr marL="0" marR="50679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174.5760%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19744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1F80098-0086-24B7-098B-58442260F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760966"/>
              </p:ext>
            </p:extLst>
          </p:nvPr>
        </p:nvGraphicFramePr>
        <p:xfrm>
          <a:off x="7645209" y="1054372"/>
          <a:ext cx="4203456" cy="5544196"/>
        </p:xfrm>
        <a:graphic>
          <a:graphicData uri="http://schemas.openxmlformats.org/drawingml/2006/table">
            <a:tbl>
              <a:tblPr/>
              <a:tblGrid>
                <a:gridCol w="1207146">
                  <a:extLst>
                    <a:ext uri="{9D8B030D-6E8A-4147-A177-3AD203B41FA5}">
                      <a16:colId xmlns:a16="http://schemas.microsoft.com/office/drawing/2014/main" val="1793519906"/>
                    </a:ext>
                  </a:extLst>
                </a:gridCol>
                <a:gridCol w="1864610">
                  <a:extLst>
                    <a:ext uri="{9D8B030D-6E8A-4147-A177-3AD203B41FA5}">
                      <a16:colId xmlns:a16="http://schemas.microsoft.com/office/drawing/2014/main" val="582020686"/>
                    </a:ext>
                  </a:extLst>
                </a:gridCol>
                <a:gridCol w="1131700">
                  <a:extLst>
                    <a:ext uri="{9D8B030D-6E8A-4147-A177-3AD203B41FA5}">
                      <a16:colId xmlns:a16="http://schemas.microsoft.com/office/drawing/2014/main" val="1285032209"/>
                    </a:ext>
                  </a:extLst>
                </a:gridCol>
              </a:tblGrid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24</a:t>
                      </a:r>
                      <a:r>
                        <a:rPr lang="en-US" sz="1100" b="1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 📉 Low Put Mode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Min Puts to Set Low Mode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4060015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Max Puts to Set High Mode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2042447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Puts/Account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8985749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Puts/Stock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022660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Puts/Day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604722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29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5-Day Rise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-19.1700%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751864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Above SMA150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-2.3340%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6775431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Above SMA150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16.6150%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9741515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10-Day Avg up-Slope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-0.0420%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216964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Stock Price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$5.0900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6809695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DTE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137139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Put Bid Price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$3.6378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8203773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Put Delta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-73.4480%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588253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37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Put Delta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-0.2760%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541125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38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Max Bid-Ask Spread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17.8020%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213481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39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Risk/Reward Ratio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-32.2195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8346501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Ann Risk/Rewrd Ratio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-8.0044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853390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Ann Reverse RR Ratio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-2.0495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204383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Expected Profit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-71.0280%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4219664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Position Put Stop Loss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23.3330%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378979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Stock max Below MA150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196.5260%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3510179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45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Stock Max Below Entry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18.5380%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4565317"/>
                  </a:ext>
                </a:extLst>
              </a:tr>
              <a:tr h="241052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ADADAD"/>
                          </a:solidFill>
                          <a:effectLst/>
                          <a:latin typeface="Aptos Narrow" panose="020B0004020202020204" pitchFamily="34" charset="0"/>
                        </a:rPr>
                        <a:t>46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3333FF"/>
                          </a:solidFill>
                          <a:effectLst/>
                          <a:latin typeface="Aptos Narrow" panose="020B0004020202020204" pitchFamily="34" charset="0"/>
                        </a:rPr>
                        <a:t>Low Min Gain to Take Profit</a:t>
                      </a:r>
                    </a:p>
                  </a:txBody>
                  <a:tcPr marL="0" marR="68108" marT="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60.1490%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1136110"/>
                  </a:ext>
                </a:extLst>
              </a:tr>
            </a:tbl>
          </a:graphicData>
        </a:graphic>
      </p:graphicFrame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E6AAC998-1194-6F5B-38F8-38511095A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387" y="787117"/>
            <a:ext cx="3038834" cy="5807038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If number of open put positions &lt;= 5 set “Low Puts Mode”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If number of open put positions &gt;= 7 set “High Puts Mode”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In “Low Puts Mode” replace the rules with the low rules</a:t>
            </a:r>
            <a:endParaRPr lang="en-US" sz="1600" b="1" dirty="0"/>
          </a:p>
          <a:p>
            <a:pPr>
              <a:tabLst>
                <a:tab pos="519113" algn="l"/>
              </a:tabLst>
            </a:pPr>
            <a:r>
              <a:rPr lang="en-US" sz="1600" dirty="0"/>
              <a:t> In “High Puts Mode” ignore the low rules completely.</a:t>
            </a:r>
          </a:p>
          <a:p>
            <a:pPr>
              <a:tabLst>
                <a:tab pos="519113" algn="l"/>
              </a:tabLst>
            </a:pPr>
            <a:endParaRPr lang="en-US" sz="1600" b="1" dirty="0"/>
          </a:p>
          <a:p>
            <a:pPr>
              <a:tabLst>
                <a:tab pos="519113" algn="l"/>
              </a:tabLst>
            </a:pPr>
            <a:r>
              <a:rPr lang="en-US" sz="1600" b="1" dirty="0"/>
              <a:t>This allows to adapt the rules to the market. If no good put candidates are found, relax to rules to allow new entries.  </a:t>
            </a:r>
          </a:p>
        </p:txBody>
      </p:sp>
    </p:spTree>
    <p:extLst>
      <p:ext uri="{BB962C8B-B14F-4D97-AF65-F5344CB8AC3E}">
        <p14:creationId xmlns:p14="http://schemas.microsoft.com/office/powerpoint/2010/main" val="1871439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EB94B-5E33-7AAE-9BDE-63FFD20E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01C2C-F98E-80A6-DAB9-8FAE6AF8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Results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942352-759A-D1EE-2D3D-2997EADAA49C}"/>
              </a:ext>
            </a:extLst>
          </p:cNvPr>
          <p:cNvSpPr txBox="1"/>
          <p:nvPr/>
        </p:nvSpPr>
        <p:spPr>
          <a:xfrm>
            <a:off x="422243" y="871103"/>
            <a:ext cx="11191580" cy="5659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--- YEARLY PORTFOLIO GAIN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Year    | Total Value EOD    |     $ Total Gain     |  % Gain | % SPY Gain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2020    | $   1,966,294.73   | $         966,294.73 |  96.63% |     17.24%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2021    | $   6,009,637.25   | $       4,043,342.52 | 205.63% |     28.73%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2022    | $  10,758,445.11   | $       4,748,807.86 |  79.02% |    -18.18%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2023    | $  16,548,662.91   | $       5,790,217.80 |  53.82% |     26.18%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2024    | $  22,516,679.16   | $       5,968,016.25 |  36.06% |     24.89%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2025    | $  47,549,839.11   | $      25,033,159.95 | 111.18% |     18.26%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(Years)                | $      46,549,839.11 | </a:t>
            </a: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--- TRADE EXIT STATISTICS (by Trade Event Count)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Exit Reason                          | Exit Events  |  % of Total | Total Gain $      | Net Gain 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(ITM/Assigned)            |            0 |       0.00% | $            0.00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(OTM/Max Profit)          |          160 |      57.14% | $   24,457,686.35 |     99.89%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Last day liquidation                 |           35 |      12.50% | $   19,618,100.30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Entry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Thres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... |           22 |       7.86% | $   -1,338,885.94 |     -5.68%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SMA150         |           63 |      22.50% | $    3,812,938.40 |     16.18%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Exit Trades Closed             |          280 |     100.00% | $   46,549,839.11 |        N/A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Entry Events                   |          280 |</a:t>
            </a:r>
          </a:p>
        </p:txBody>
      </p:sp>
    </p:spTree>
    <p:extLst>
      <p:ext uri="{BB962C8B-B14F-4D97-AF65-F5344CB8AC3E}">
        <p14:creationId xmlns:p14="http://schemas.microsoft.com/office/powerpoint/2010/main" val="617332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13F49-3A02-8720-FC9D-FD5AF6CF6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3F633-2DC2-F720-047C-DCD56366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Naked Put ITM versus OOM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FC58B67A-C17B-A9F3-8A93-94FE3C885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3057272"/>
            <a:ext cx="3914774" cy="2019823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 lnSpcReduction="10000"/>
          </a:bodyPr>
          <a:lstStyle/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EEB500"/>
                </a:solidFill>
              </a:rPr>
              <a:t>Stike 	110</a:t>
            </a:r>
          </a:p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EEB500"/>
                </a:solidFill>
              </a:rPr>
              <a:t>ITM Delta 	-75%</a:t>
            </a:r>
          </a:p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EEB500"/>
                </a:solidFill>
              </a:rPr>
              <a:t>Premium 	10.03</a:t>
            </a:r>
          </a:p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EEB500"/>
                </a:solidFill>
              </a:rPr>
              <a:t>Max Profit 	10.03</a:t>
            </a:r>
          </a:p>
          <a:p>
            <a:pPr defTabSz="1203325"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EEB500"/>
                </a:solidFill>
              </a:rPr>
              <a:t>Max Loss	110 – 10.3 = 99.97</a:t>
            </a:r>
          </a:p>
          <a:p>
            <a:pPr defTabSz="1203325"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EEB500"/>
                </a:solidFill>
              </a:rPr>
              <a:t>Risk/Reward	10:1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ECF9D7-CA7D-2CF5-5FB4-33FB537CB1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42" t="6916" r="8533" b="2746"/>
          <a:stretch/>
        </p:blipFill>
        <p:spPr>
          <a:xfrm>
            <a:off x="4943260" y="789768"/>
            <a:ext cx="7007902" cy="4333176"/>
          </a:xfrm>
          <a:prstGeom prst="rect">
            <a:avLst/>
          </a:prstGeom>
        </p:spPr>
      </p:pic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1BFF062C-20EE-423B-7B8A-FCB10F3ABC32}"/>
              </a:ext>
            </a:extLst>
          </p:cNvPr>
          <p:cNvSpPr txBox="1">
            <a:spLocks/>
          </p:cNvSpPr>
          <p:nvPr/>
        </p:nvSpPr>
        <p:spPr>
          <a:xfrm>
            <a:off x="358365" y="1046696"/>
            <a:ext cx="3914774" cy="194401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4D14EC"/>
                </a:solidFill>
              </a:rPr>
              <a:t>Stike 	90</a:t>
            </a:r>
          </a:p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4D14EC"/>
                </a:solidFill>
              </a:rPr>
              <a:t>OTM Delta 	-25%</a:t>
            </a:r>
          </a:p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4D14EC"/>
                </a:solidFill>
              </a:rPr>
              <a:t>Premium 	0.65</a:t>
            </a:r>
          </a:p>
          <a:p>
            <a:pPr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4D14EC"/>
                </a:solidFill>
              </a:rPr>
              <a:t>Max Profit 	0.65</a:t>
            </a:r>
          </a:p>
          <a:p>
            <a:pPr defTabSz="1203325"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4D14EC"/>
                </a:solidFill>
              </a:rPr>
              <a:t>Max Loss	90 – 0.65 = 89.35</a:t>
            </a:r>
          </a:p>
          <a:p>
            <a:pPr defTabSz="1203325">
              <a:tabLst>
                <a:tab pos="1374775" algn="l"/>
                <a:tab pos="1539875" algn="l"/>
              </a:tabLst>
            </a:pPr>
            <a:r>
              <a:rPr lang="en-US" sz="1600" dirty="0">
                <a:solidFill>
                  <a:srgbClr val="4D14EC"/>
                </a:solidFill>
              </a:rPr>
              <a:t>Risk/Reward	137:1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4F28F9DB-68AD-A551-5963-7CD9FB7AAF0D}"/>
              </a:ext>
            </a:extLst>
          </p:cNvPr>
          <p:cNvSpPr txBox="1">
            <a:spLocks/>
          </p:cNvSpPr>
          <p:nvPr/>
        </p:nvSpPr>
        <p:spPr>
          <a:xfrm>
            <a:off x="358365" y="5306083"/>
            <a:ext cx="5409917" cy="1380672"/>
          </a:xfrm>
          <a:prstGeom prst="rect">
            <a:avLst/>
          </a:prstGeom>
          <a:solidFill>
            <a:srgbClr val="FFF5E5"/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tabLst>
                <a:tab pos="519113" algn="l"/>
              </a:tabLst>
            </a:pPr>
            <a:r>
              <a:rPr lang="en-US" sz="1600" dirty="0"/>
              <a:t>Why should a seller invest in 110-Stirke put?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The seller is very bullish, he wants the stock to rise to 110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It is very expensive to buy the stock.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The 90-strike put is too risky (137:1)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The 110-strike will make max profit $10.03 gain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60C6611-6C1D-2928-A901-7720BA2220EC}"/>
              </a:ext>
            </a:extLst>
          </p:cNvPr>
          <p:cNvSpPr txBox="1">
            <a:spLocks/>
          </p:cNvSpPr>
          <p:nvPr/>
        </p:nvSpPr>
        <p:spPr>
          <a:xfrm>
            <a:off x="6338923" y="5306083"/>
            <a:ext cx="5494711" cy="1380672"/>
          </a:xfrm>
          <a:prstGeom prst="rect">
            <a:avLst/>
          </a:prstGeom>
          <a:solidFill>
            <a:srgbClr val="FFF5E5"/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tabLst>
                <a:tab pos="519113" algn="l"/>
              </a:tabLst>
            </a:pPr>
            <a:r>
              <a:rPr lang="en-US" sz="1600" dirty="0"/>
              <a:t>Why should a buyer invest in 110-Stirke put?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The buyer is very bearish, he wants the stock to drop to 90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It is very risky to short the stock. It has unlimited risk 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The 90-strike put will not give him any profit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The 110-strike will give him 110 - 90 – 10.03 = $9.97 gain</a:t>
            </a:r>
          </a:p>
        </p:txBody>
      </p:sp>
    </p:spTree>
    <p:extLst>
      <p:ext uri="{BB962C8B-B14F-4D97-AF65-F5344CB8AC3E}">
        <p14:creationId xmlns:p14="http://schemas.microsoft.com/office/powerpoint/2010/main" val="3476049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ce46077-c084-46ce-a700-e522340c27a8}" enabled="1" method="Standard" siteId="{c921337c-1160-432a-b079-805f5911284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5575</TotalTime>
  <Words>4397</Words>
  <Application>Microsoft Office PowerPoint</Application>
  <PresentationFormat>Widescreen</PresentationFormat>
  <Paragraphs>589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Aptos Narrow</vt:lpstr>
      <vt:lpstr>Arial</vt:lpstr>
      <vt:lpstr>Consolas</vt:lpstr>
      <vt:lpstr>Wingdings</vt:lpstr>
      <vt:lpstr>Office Theme</vt:lpstr>
      <vt:lpstr>Option Trading</vt:lpstr>
      <vt:lpstr>Etay’s notes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ORATS  json</vt:lpstr>
      <vt:lpstr>Yahoo.py</vt:lpstr>
      <vt:lpstr>Stock_history.json</vt:lpstr>
      <vt:lpstr>rules.json</vt:lpstr>
      <vt:lpstr>rules.json</vt:lpstr>
      <vt:lpstr>simulate_yuda.py</vt:lpstr>
      <vt:lpstr>sim_wrapper.py</vt:lpstr>
      <vt:lpstr>Summary.xlsm</vt:lpstr>
      <vt:lpstr>Rules</vt:lpstr>
      <vt:lpstr>Log file: Results</vt:lpstr>
      <vt:lpstr>Naked Put ITM versus OOM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Luz, Yuda Y</cp:lastModifiedBy>
  <cp:revision>49</cp:revision>
  <dcterms:created xsi:type="dcterms:W3CDTF">2025-11-24T20:05:00Z</dcterms:created>
  <dcterms:modified xsi:type="dcterms:W3CDTF">2025-12-28T08:33:40Z</dcterms:modified>
</cp:coreProperties>
</file>