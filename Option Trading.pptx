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  <p:sldId id="264" r:id="rId9"/>
    <p:sldId id="27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87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A257-7866-6B9F-5F1D-8AF8018C0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B1CA-68E2-924D-D323-1B39F22B57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A9BEB-4423-FDFC-A767-37D21C2AB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9058C-17B6-2410-5C84-D2683A0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A418-D385-B1BC-8F22-3209D891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B507-3775-0E6F-F57A-F5105294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EAFD-634B-6EDC-CC07-7B1CFF87F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B69CC-1DC6-E9AC-020A-F4FCCED6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EC203-0D23-ADD6-7FCB-8EAF6D4D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4294-19EA-19A6-8476-0583EB18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711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410E0-0C31-19BA-D2C5-0BB59F9D8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9CF94-188F-8905-B668-AC21CCF6C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79E19-7D05-2ADA-FC61-6FEEE3D12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79CB-12A6-2F99-3CD6-CF0FD108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378F-0C0F-4B7F-504E-E4BFC5B4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454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C7B0-5EBC-AE21-93B9-269A75A6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CBD9-681F-772F-48DF-46FF4A26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1375A-5419-B7BA-1839-5E5F4898F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C02E-1E05-8A27-32B1-25959A0B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9A96E-AD1F-8237-A3AE-3247764D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FC824-6C59-181A-8AB5-E0C8C125F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29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71FF-2CB5-DD92-26CF-389231A7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4E167-1BDF-6386-1C31-317E51D1E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9F69C-5495-492B-EFF5-D138BAD54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12ED8-C8BC-12C3-FBE1-944343054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7DA03-7D10-62A9-9E7B-FC93E31D4B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79038-BA2E-8B1F-B7DE-CFAA7DAA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D58CC-350F-E71D-AE79-5836DF89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477D63-3A6F-49FB-4BC7-E7C511A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80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86C6-3169-7451-C605-BEF883E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127D0A-E152-A69B-A49E-E9E538FF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FF54D-7554-4528-7F03-4FA10056B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EBC2B8-9C55-C2D0-3F06-E79964C9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B8AEF-AA86-04D9-6DB8-C137A2FB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6D707-49A7-D9A4-DE7F-941A9A4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10079-F432-FD79-6EC7-87A99569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3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03A6-7EE1-A77C-0078-C638E1BC7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62DF-31C9-CF54-EE4B-6270AD3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FFF39-5684-ED30-882C-0426FB180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47FA-8619-3E45-F97C-CDDE644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5306F7-CBFF-853A-958F-752731BC9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BD023-3D9C-ACC1-EF56-337A88BC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12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088C-B075-919B-AD67-6CB4AF7F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4B9D64-89D3-50DD-3BAD-627D5DAA9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CF880-FB26-AE6E-58DA-4C00A98FF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28B1C-E410-91BC-2255-845136FD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5261A-C281-8A8C-C0F7-02821E078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BA49-2C33-4B7C-B5E9-30414904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1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55F7A-371D-66A6-9664-A98710B3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3B76A-4DA8-6999-322C-0B6011164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BB919-F4F3-58B9-3356-E30E5C6E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7C365-4010-E0CC-4CBC-0DFC5EE8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E4801-F17D-0504-ACF7-701672AE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00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323F-A354-1F48-F46B-FD169267A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341C2-381C-BC08-5429-C0BBB5B49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6AB5E-8821-639E-17C6-760341435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05E6D-B116-865C-BAB4-85D9E3A7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98F6B-D983-229C-116F-34682552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36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E7093-2D26-9CBC-F791-5BECAE95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CEB8E-7E6C-DFBB-55D2-EFE2D4202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1BCF-D9FB-B5F9-F35A-844E5850E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26835-8A8E-FE36-3B50-F52CB603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1DB2-9BDE-24DF-21EC-63341581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91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hyperlink" Target="mailto:yuda.luz@gmail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DF4AB-4C13-D905-C16D-40929AD2B0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Option Trading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188DE-83D2-C9CA-48AE-5764ACB3E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Simulate Naked Put</a:t>
            </a:r>
          </a:p>
          <a:p>
            <a:r>
              <a:rPr lang="en-US" dirty="0"/>
              <a:t>11-24-2025</a:t>
            </a:r>
          </a:p>
          <a:p>
            <a:endParaRPr lang="en-US" dirty="0"/>
          </a:p>
          <a:p>
            <a:r>
              <a:rPr lang="en-US" dirty="0"/>
              <a:t>Microsoft Visual Code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9D590-CEB4-193C-2231-ED75A9804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7" y="145557"/>
            <a:ext cx="1371393" cy="100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08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4D6C-AC54-EC10-F95C-E0E12A69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54" y="171245"/>
            <a:ext cx="10819646" cy="1325563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ORATS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D743F-8394-7671-CEED-F2B2D440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839" y="1475715"/>
            <a:ext cx="5397165" cy="4943192"/>
          </a:xfrm>
        </p:spPr>
        <p:txBody>
          <a:bodyPr>
            <a:normAutofit/>
          </a:bodyPr>
          <a:lstStyle/>
          <a:p>
            <a:r>
              <a:rPr lang="en-US" sz="2400" noProof="1"/>
              <a:t>Etay</a:t>
            </a:r>
            <a:r>
              <a:rPr lang="en-US" sz="2400" dirty="0"/>
              <a:t> helped me to download 15 minutes before the close daily data</a:t>
            </a:r>
          </a:p>
          <a:p>
            <a:r>
              <a:rPr lang="en-US" sz="2400" dirty="0"/>
              <a:t>Data includes Stocks and Options</a:t>
            </a:r>
          </a:p>
          <a:p>
            <a:r>
              <a:rPr lang="en-US" sz="2400" dirty="0"/>
              <a:t>$599 license for 10 years</a:t>
            </a:r>
          </a:p>
          <a:p>
            <a:r>
              <a:rPr lang="en-US" sz="2400" dirty="0"/>
              <a:t>Hosted FTP: orats.hostedftp.com</a:t>
            </a:r>
          </a:p>
          <a:p>
            <a:r>
              <a:rPr lang="en-US" sz="2400" dirty="0"/>
              <a:t>User: </a:t>
            </a:r>
            <a:r>
              <a:rPr lang="en-US" sz="2400" dirty="0">
                <a:hlinkClick r:id="rId2"/>
              </a:rPr>
              <a:t>yuda.luz@gmail.com</a:t>
            </a:r>
            <a:endParaRPr lang="en-US" sz="2400" dirty="0"/>
          </a:p>
          <a:p>
            <a:r>
              <a:rPr lang="en-US" sz="2400" dirty="0"/>
              <a:t>Password: HM1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1DD5D2-5414-1092-14DE-328E3E472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878" y="365125"/>
            <a:ext cx="5875283" cy="587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84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FBEF-F5CE-E125-D299-3607D93C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3F54-74D7-7C5D-6B13-4B6AFEDE5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is downloaded as Zip: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BCF44-42CF-520D-2CBF-DF0C84AD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br>
              <a:rPr lang="en-US" sz="600" dirty="0"/>
            </a:br>
            <a:r>
              <a:rPr lang="en-US" sz="600" dirty="0"/>
              <a:t>ticker,cOpra,pOpra,stkPx,expirDate,yte,strike,cVolu,cOi,pVolu,pOi,cBidPx,cValue,cAskPx,pBidPx,pValue,pAskPx,cBidIv,cMidIv,cAskIv,smoothSmvVol,pBidIv,pMidIv,pAskIv,iRate,divRate,residualRateData,delta,gamma,theta,vega,rho,phi,driftlessTheta,extVol,extCTheo,extPTheo,spot_px,trade_date</a:t>
            </a:r>
          </a:p>
          <a:p>
            <a:pPr marL="0" indent="0">
              <a:buNone/>
            </a:pPr>
            <a:r>
              <a:rPr lang="en-US" sz="600" dirty="0"/>
              <a:t>A,A250221C00065000,A250221P00065000,152.46,2/21/2025,0.07945,65.00,0,0,0,0,85.80,87.68,88.70,0.00,0.00,1.30,0.000000,0.91716,1.834321,0.292869,0.000000,0.96525,1.930494,0.0436,0,0.000000,1.00000000,-0.00000000,0.00000000,0.00001000,0.05148244,-0.12117320,-0.00000027,0.40124231576919556,87.82001495361328,6.654162719896511e-16,0.00,1/23/2025</a:t>
            </a:r>
          </a:p>
          <a:p>
            <a:pPr marL="0" indent="0">
              <a:buNone/>
            </a:pPr>
            <a:r>
              <a:rPr lang="en-US" sz="600" dirty="0"/>
              <a:t>A,A250221C00070000,A250221P00070000,152.46,2/21/2025,0.07945,70.00,0,0,0,0,80.70,82.70,84.10,0.00,0.00,1.20,0.000000,0.90560,1.811199,0.292869,0.000000,0.87603,1.752053,0.0436,0,0.000000,1.00000000,-0.00000000,-0.00000000,0.00001000,0.05544263,-0.12117320,-0.00000029,0.4001282751560211,82.84735107421875,0.00000000000025600544904455513,0.00,1/23/2025</a:t>
            </a:r>
          </a:p>
          <a:p>
            <a:pPr marL="0" indent="0">
              <a:buNone/>
            </a:pPr>
            <a:r>
              <a:rPr lang="en-US" sz="600" dirty="0"/>
              <a:t>A,A250221C00075000,A250221P00075000,152.46,2/21/2025,0.07945,75.00,0,0,0,0,75.70,77.72,79.00,0.00,0.00,1.25,0.000000,0.81940,1.638797,0.292440,0.000000,0.81489,1.629770,0.0436,0,0.000000,1.00000000,-0.00000000,-0.00000000,0.00001000,0.05940282,-0.12117320,-0.00000031,0.3969932794570923,77.87393188476562,0.000000000029689029013013624,0.00,1/23/2025</a:t>
            </a:r>
          </a:p>
          <a:p>
            <a:pPr marL="0" indent="0">
              <a:buNone/>
            </a:pPr>
            <a:r>
              <a:rPr lang="en-US" sz="600" dirty="0"/>
              <a:t>A,A250221C00080000,A250221P00080000,152.46,2/21/2025,0.07945,80.00,0,0,0,3,70.70,72.74,74.00,0.00,0.00,1.25,0.000000,0.75300,1.506010,0.292074,0.000000,0.75103,1.502064,0.0436,0,0.000000,1.00000000,-0.00000000,-0.00000000,0.00001000,0.06336300,-0.12117321,-0.00000033,0.3943053185939789,72.90052795410156,0.0000000014965503281061387,0.00,1/23/2025</a:t>
            </a:r>
          </a:p>
          <a:p>
            <a:pPr marL="0" indent="0">
              <a:buNone/>
            </a:pPr>
            <a:r>
              <a:rPr lang="en-US" sz="600" dirty="0"/>
              <a:t>A,A250221C00085000,A250221P00085000,152.46,2/21/2025,0.07945,85.00,0,0,0,1,65.80,67.75,69.10,0.00,0.00,1.30,0.000000,0.70287,1.405744,0.291546,0.000000,0.69744,1.394882,0.0436,0,0.000000,1.00000000,0.00000000,-0.00000000,0.00001000,0.06732319,-0.12117321,-0.00000035,0.3904106914997101,67.9265365600586,0.00000004237214312752258,0.00,1/23/2025</a:t>
            </a:r>
          </a:p>
          <a:p>
            <a:pPr marL="0" indent="0">
              <a:buNone/>
            </a:pPr>
            <a:r>
              <a:rPr lang="en-US" sz="600" dirty="0"/>
              <a:t>A,A250221C00090000,A250221P00090000,152.46,2/21/2025,0.07945,90.00,0,0,0,3,60.80,62.77,64.00,0.00,0.00,0.30,0.000000,0.63172,1.263434,0.294502,0.000000,0.48163,0.963251,0.0436,0,0.000000,1.00000000,0.00000000,-0.00000000,0.00001000,0.07128338,-0.12117320,-0.00000037,0.41193652153015137,62.96293640136719,0.000004160307071288116,0.00,1/23/2025</a:t>
            </a:r>
          </a:p>
          <a:p>
            <a:pPr marL="0" indent="0">
              <a:buNone/>
            </a:pPr>
            <a:r>
              <a:rPr lang="en-US" sz="600" dirty="0"/>
              <a:t>A,A250221C00095000,A250221P00095000,152.46,2/21/2025,0.07945,95.00,0,1,0,3,55.80,57.79,58.90,0.00,0.00,0.30,0.000000,0.56462,1.129249,0.294299,0.000000,0.43837,0.876733,0.0436,0,0.000000,1.00000000,0.00000000,-0.00000000,0.00001000,0.07524356,-0.12117320,-0.00000039,0.4104810059070587,57.990272521972656,0.00004056164834764786,0.00,1/23/2025</a:t>
            </a:r>
          </a:p>
          <a:p>
            <a:pPr marL="0" indent="0">
              <a:buNone/>
            </a:pPr>
            <a:r>
              <a:rPr lang="en-US" sz="600" dirty="0"/>
              <a:t>A,A250221C00100000,A250221P00100000,152.46,2/21/2025,0.07945,100.00,0,0,0,3,50.80,52.81,54.00,0.00,0.00,1.30,0.000000,0.52224,1.044490,0.290065,0.000000,0.53325,1.066507,0.0436,0,0.000000,1.00000000,0.00000002,-0.00000009,0.00001011,0.07920375,-0.12117320,-0.00000046,0.3827526867389679,53.003841400146484,0.0000912984469323419,0.00,1/23/2025</a:t>
            </a:r>
          </a:p>
          <a:p>
            <a:pPr marL="0" indent="0">
              <a:buNone/>
            </a:pPr>
            <a:r>
              <a:rPr lang="en-US" sz="600" dirty="0"/>
              <a:t>A,A250221C00105000,A250221P00105000,152.46,2/21/2025,0.07945,105.00,0,6,0,3,45.80,47.82,49.40,0.00,0.00,1.30,0.000000,0.50765,1.015293,0.289354,0.000000,0.48273,0.965456,0.0436,0,0.000000,0.99999900,0.00000042,-0.00000271,0.00001273,0.08316381,-0.12117308,-0.00000154,0.38003209233283997,48.0289192199707,0.0005974145606160164,0.00,1/23/2025</a:t>
            </a:r>
          </a:p>
          <a:p>
            <a:pPr marL="0" indent="0">
              <a:buNone/>
            </a:pPr>
            <a:r>
              <a:rPr lang="en-US" sz="600" dirty="0"/>
              <a:t>A,A250221C00110000,A250221P00110000,152.46,2/21/2025,0.07945,110.00,0,1,0,115,40.90,42.84,44.40,0.00,0.00,0.35,0.000000,0.45620,0.912395,0.292865,0.000000,0.32757,0.655146,0.0436,0,0.000000,0.99997800,0.00000733,-0.00006261,0.00005290,0.08712146,-0.12117059,-0.00002046,0.40010157227516174,43.074974060058594,0.0063209389336407185,0.00,1/23/2025</a:t>
            </a:r>
          </a:p>
          <a:p>
            <a:pPr marL="0" indent="0">
              <a:buNone/>
            </a:pPr>
            <a:r>
              <a:rPr lang="en-US" sz="600" dirty="0"/>
              <a:t>A,A250221C00115000,A250221P00115000,152.46,2/21/2025,0.07945,115.00,0,25,0,375,36.30,37.86,39.40,0.00,0.00,1.35,0.000000,0.40674,0.813480,0.287596,0.000000,0.39215,0.784306,0.0436,0,0.000000,0.99984200,0.00004886,-0.00049644,0.00032057,0.09106480,-0.12115408,-0.00012915,0.3732060492038727,38.087825775146484,0.012611806392669678,0.00,1/23/2025</a:t>
            </a:r>
          </a:p>
          <a:p>
            <a:pPr marL="0" indent="0">
              <a:buNone/>
            </a:pPr>
            <a:r>
              <a:rPr lang="en-US" sz="600" dirty="0"/>
              <a:t>A,A250221C00120000,A250221P00120000,152.46,2/21/2025,0.07945,120.00,0,14,0,61,31.10,32.88,33.50,0.00,0.00,0.35,0.000000,0.28612,0.572232,0.292256,0.000000,0.25339,0.506787,0.0436,0,0.000000,0.99870100,0.00033974,-0.00477107,0.00168297,0.09488333,-0.12101582,-0.00092450,0.3956475257873535,33.19465637207031,0.07345303893089294,0.00,1/23/2025</a:t>
            </a:r>
          </a:p>
          <a:p>
            <a:pPr marL="0" indent="0">
              <a:buNone/>
            </a:pPr>
            <a:r>
              <a:rPr lang="en-US" sz="600" dirty="0"/>
              <a:t>A,A250221C00125000,A250221P00125000,152.46,2/21/2025,0.07945,125.00,1,37,3,320,26.80,27.92,28.40,0.00,0.03,0.30,0.000000,0.23571,0.471427,0.292125,0.000000,0.21110,0.422197,0.0436,0,0.000000,0.99394500,0.00136504,-0.01847627,0.00693081,0.09825091,-0.12043951,-0.00370970,0.394680917263031,28.34673500061035,0.1992729902267456,0.00,1/23/2025</a:t>
            </a:r>
          </a:p>
          <a:p>
            <a:pPr marL="0" indent="0">
              <a:buNone/>
            </a:pPr>
            <a:r>
              <a:rPr lang="en-US" sz="600" dirty="0"/>
              <a:t>A,A250221C00130000,A250221P00130000,152.46,2/21/2025,0.07945,130.00,0,88,9,177,22.50,23.27,23.80,0.15,0.29,0.35,0.000000,0.21045,0.420896,0.292273,0.313982,0.34122,0.368448,0.0436,0,-0.025872,0.97973200,0.00390136,-0.03461343,0.02072033,0.10022038,-0.11871724,-0.01061289,0.39576831459999084,23.65744400024414,0.48340120911598206,0.00,1/23/2025</a:t>
            </a:r>
          </a:p>
          <a:p>
            <a:pPr marL="0" indent="0">
              <a:buNone/>
            </a:pPr>
            <a:r>
              <a:rPr lang="en-US" sz="600" dirty="0"/>
              <a:t>A,A250221C00135000,A250221P00135000,152.46,2/21/2025,0.07945,135.00,0,234,3,260,17.60,18.47,19.30,0.40,0.54,0.70,0.000000,0.20391,0.407816,0.287705,0.308564,0.33186,0.355156,0.0436,0,-0.023845,0.94635600,0.00884754,-0.04656699,0.04393973,0.09999172,-0.11467300,-0.02331993,0.373634397983551,19.01883888244629,0.8413873910903931,0.00,1/23/2025</a:t>
            </a:r>
          </a:p>
          <a:p>
            <a:pPr marL="0" indent="0">
              <a:buNone/>
            </a:pPr>
            <a:r>
              <a:rPr lang="en-US" sz="600" dirty="0"/>
              <a:t>A,A250221C00140000,A250221P00140000,152.46,2/21/2025,0.07945,140.00,3,335,9,886,13.50,13.93,14.50,0.70,0.90,1.00,0.224471,0.28337,0.342263,0.282641,0.277051,0.29348,0.309900,0.0436,0,-0.021544,0.88025600,0.01649753,-0.06343182,0.08824737,0.09559539,-0.10666346,-0.04196500,0.3566887676715851,14.65780258178711,1.485109806060791,0.00,1/23/2025</a:t>
            </a:r>
          </a:p>
          <a:p>
            <a:pPr marL="0" indent="0">
              <a:buNone/>
            </a:pPr>
            <a:r>
              <a:rPr lang="en-US" sz="600" dirty="0"/>
              <a:t>A,A250221C00145000,A250221P00145000,152.46,2/21/2025,0.07945,145.00,3,171,4,124,9.40,9.77,10.20,1.40,1.66,1.85,0.245312,0.27616,0.307009,0.273406,0.256822,0.27409,0.291359,0.0436,0,-0.016754,0.77392600,0.02568334,-0.07902852,0.12970854,0.08602687,-0.09377906,-0.06113072,0.332904577255249,10.560271263122559,2.425650119781494,0.00,1/23/2025</a:t>
            </a:r>
          </a:p>
          <a:p>
            <a:pPr marL="0" indent="0">
              <a:buNone/>
            </a:pPr>
            <a:r>
              <a:rPr lang="en-US" sz="600" dirty="0"/>
              <a:t>A,A250221C00150000,A250221P00150000,152.46,2/21/2025,0.07945,150.00,21,307,26,37,5.90,6.17,6.40,2.90,3.11,3.30,0.245729,0.26113,0.276537,0.262123,0.249381,0.26167,0.273966,0.0436,0,-0.009348,0.62320500,0.03385080,-0.08694632,0.16233000,0.07061525,-0.07551577,-0.07405771,0.317505419254303,7.076486587524414,4.019585132598877,0.00,1/23/2025</a:t>
            </a:r>
          </a:p>
          <a:p>
            <a:pPr marL="0" indent="0">
              <a:buNone/>
            </a:pPr>
            <a:r>
              <a:rPr lang="en-US" sz="600" dirty="0"/>
              <a:t>A,A250221C00155000,A250221P00155000,152.46,2/21/2025,0.07945,155.00,173,755,9,32,3.30,3.44,3.60,5.30,5.50,5.70,0.244532,0.25340,0.262270,0.252941,0.241274,0.25317,0.265064,0.0436,0,-0.000438,0.44141900,0.03644031,-0.08193996,0.16914371,0.05075230,-0.05348815,-0.07423555,0.305181086063385,4.328240871429443,6.377379417419434,0.00,1/23/2025</a:t>
            </a:r>
          </a:p>
          <a:p>
            <a:pPr marL="0" indent="0">
              <a:buNone/>
            </a:pPr>
            <a:r>
              <a:rPr lang="en-US" sz="600" dirty="0"/>
              <a:t>A,A250221C00160000,A250221P00160000,152.46,2/21/2025,0.07945,160.00,288,149,1,0,1.60,1.68,1.80,8.50,8.90,9.30,0.241418,0.24841,0.255403,0.248785,0.220672,0.24965,0.278624,0.0436,0,0.008065,0.26933500,0.03100207,-0.06489331,0.14610337,0.03128211,-0.03263593,-0.06105992,0.29999828338623047,2.4611451625823975,9.617050170898438,0.00,1/23/2025</a:t>
            </a:r>
          </a:p>
          <a:p>
            <a:pPr marL="0" indent="0">
              <a:buNone/>
            </a:pPr>
            <a:r>
              <a:rPr lang="en-US" sz="600" dirty="0"/>
              <a:t>A,A250221C00165000,A250221P00165000,152.46,2/21/2025,0.07945,165.00,13,79,0,0,0.65,0.74,0.80,12.60,13.04,13.80,0.236224,0.24405,0.251878,0.248581,0.183634,0.25173,0.319828,0.0436,0,0.014511,0.14399200,0.02128075,-0.04352944,0.09568863,0.01683697,-0.01744773,-0.04182341,0.3002042770385742,1.3299633264541626,13.570833206176758,0.00,1/23/2025</a:t>
            </a:r>
          </a:p>
          <a:p>
            <a:pPr marL="0" indent="0">
              <a:buNone/>
            </a:pPr>
            <a:r>
              <a:rPr lang="en-US" sz="600" dirty="0"/>
              <a:t>A,A250221C00170000,A250221P00170000,152.46,2/21/2025,0.07945,170.00,4,31,0,0,0.20,0.35,0.40,16.60,17.66,18.80,0.226994,0.24526,0.263536,0.249599,0.000000,0.19451,0.389025,0.0436,0,0.018029,0.06838400,0.01230524,-0.02510294,0.05705531,0.00803479,-0.00828618,-0.02437538,0.3019524812698364,0.6812849044799805,17.983173370361328,0.00,1/23/2025</a:t>
            </a:r>
          </a:p>
          <a:p>
            <a:pPr marL="0" indent="0">
              <a:buNone/>
            </a:pPr>
            <a:r>
              <a:rPr lang="en-US" sz="600" dirty="0"/>
              <a:t>A,A250221C00175000,A250221P00175000,152.46,2/21/2025,0.07945,175.00,0,33,0,0,0.00,0.12,0.45,21.80,22.54,24.50,0.000000,0.16092,0.321846,0.249042,0.000000,0.26408,0.528158,0.0436,0,0.000000,0.02958200,0.00628344,-0.01293327,0.03021722,0.00348894,-0.00358456,-0.01240890,0.3009861707687378,0.3192826509475708,22.65927505493164,0.00,1/23/2025</a:t>
            </a:r>
          </a:p>
          <a:p>
            <a:pPr marL="0" indent="0">
              <a:buNone/>
            </a:pPr>
            <a:r>
              <a:rPr lang="en-US" sz="600" dirty="0"/>
              <a:t>A,A250221C00180000,A250221P00180000,152.46,2/21/2025,0.07945,180.00,0,18,0,0,0.05,0.04,1.35,26.40,27.54,29.30,0.258821,0.37656,0.494293,0.249549,0.000000,0.28250,0.564993,0.0436,0,0.016874,0.01051200,0.00259111,-0.00525084,0.01254989,0.00124365,-0.00127379,-0.00513113,0.30187663435935974,0.14315110445022583,27.55128288269043,0.00,1/23/2025</a:t>
            </a:r>
          </a:p>
          <a:p>
            <a:pPr marL="0" indent="0">
              <a:buNone/>
            </a:pPr>
            <a:r>
              <a:rPr lang="en-US" sz="600" dirty="0"/>
              <a:t>A,A250221C00185000,A250221P00185000,152.46,2/21/2025,0.07945,185.00,0,1,0,0,0.00,0.01,1.30,31.50,32.54,33.90,0.000000,0.27049,0.540980,0.248719,0.000000,0.29775,0.595506,0.0436,0,0.000000,0.00353400,0.00098828,-0.00200965,0.00482474,0.00041912,-0.00042824,-0.00194666,0.30048123002052307,0.05695677921175957,32.540000915527344,0.00,1/23/2025</a:t>
            </a:r>
          </a:p>
        </p:txBody>
      </p:sp>
    </p:spTree>
    <p:extLst>
      <p:ext uri="{BB962C8B-B14F-4D97-AF65-F5344CB8AC3E}">
        <p14:creationId xmlns:p14="http://schemas.microsoft.com/office/powerpoint/2010/main" val="565333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DE-E21E-3604-C772-D3F6C9EB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C91A-9B41-BA7B-D314-31A18442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(1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28483-0E00-D9F3-2D83-DAD87DCC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ticker: The symbol for the underlying stock or asset (e.g., AAPL, SPY).</a:t>
            </a:r>
          </a:p>
          <a:p>
            <a:pPr marL="0" indent="0">
              <a:buNone/>
            </a:pPr>
            <a:r>
              <a:rPr lang="en-US" sz="1400" dirty="0"/>
              <a:t>stkPx: The price of the underlying stock/asset at the time the options data was recorded.</a:t>
            </a:r>
          </a:p>
          <a:p>
            <a:pPr marL="0" indent="0">
              <a:buNone/>
            </a:pPr>
            <a:r>
              <a:rPr lang="en-US" sz="1400" dirty="0"/>
              <a:t>expirDate: The expiration date of the options contract.</a:t>
            </a:r>
          </a:p>
          <a:p>
            <a:pPr marL="0" indent="0">
              <a:buNone/>
            </a:pPr>
            <a:r>
              <a:rPr lang="en-US" sz="1400" dirty="0"/>
              <a:t>strike: The predetermined price at which the underlying asset can be bought (call) or sold (put) if the option is exercised.</a:t>
            </a:r>
          </a:p>
          <a:p>
            <a:pPr marL="0" indent="0">
              <a:buNone/>
            </a:pPr>
            <a:r>
              <a:rPr lang="en-US" sz="1400" dirty="0"/>
              <a:t>trade_date: The date on which the options data was recorded or the trade occurred. </a:t>
            </a:r>
          </a:p>
          <a:p>
            <a:pPr marL="0" indent="0">
              <a:buNone/>
            </a:pPr>
            <a:r>
              <a:rPr lang="en-US" sz="1400" dirty="0"/>
              <a:t>Volume and Open Interest</a:t>
            </a:r>
          </a:p>
          <a:p>
            <a:pPr marL="0" indent="0">
              <a:buNone/>
            </a:pPr>
            <a:r>
              <a:rPr lang="en-US" sz="1400" dirty="0"/>
              <a:t>cVolu: Volume traded for the call option on that specific trade date.</a:t>
            </a:r>
          </a:p>
          <a:p>
            <a:pPr marL="0" indent="0">
              <a:buNone/>
            </a:pPr>
            <a:r>
              <a:rPr lang="en-US" sz="1400" dirty="0"/>
              <a:t>cOi: Open interest for the call option (total number of outstanding contracts).</a:t>
            </a:r>
          </a:p>
          <a:p>
            <a:pPr marL="0" indent="0">
              <a:buNone/>
            </a:pPr>
            <a:r>
              <a:rPr lang="en-US" sz="1400" dirty="0"/>
              <a:t>pVolu: Volume traded for the put option on that specific trade date.</a:t>
            </a:r>
          </a:p>
          <a:p>
            <a:pPr marL="0" indent="0">
              <a:buNone/>
            </a:pPr>
            <a:r>
              <a:rPr lang="en-US" sz="1400" dirty="0"/>
              <a:t>pOi: Open interest for the put option (total number of outstanding contracts). </a:t>
            </a:r>
          </a:p>
          <a:p>
            <a:pPr marL="0" indent="0">
              <a:buNone/>
            </a:pPr>
            <a:r>
              <a:rPr lang="en-US" sz="1400" dirty="0"/>
              <a:t>Pricing Information</a:t>
            </a:r>
          </a:p>
          <a:p>
            <a:pPr marL="0" indent="0">
              <a:buNone/>
            </a:pPr>
            <a:r>
              <a:rPr lang="en-US" sz="1400" dirty="0"/>
              <a:t>cBidPx: The highest price a buyer is willing to pay for the call option (bid price).</a:t>
            </a:r>
          </a:p>
          <a:p>
            <a:pPr marL="0" indent="0">
              <a:buNone/>
            </a:pPr>
            <a:r>
              <a:rPr lang="en-US" sz="1400" dirty="0"/>
              <a:t>cValue: The current price or value of the call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cAskPx: The lowest price a seller is willing to accept for the call option (ask price).</a:t>
            </a:r>
          </a:p>
          <a:p>
            <a:pPr marL="0" indent="0">
              <a:buNone/>
            </a:pPr>
            <a:r>
              <a:rPr lang="en-US" sz="1400" dirty="0"/>
              <a:t>pBidPx: The highest price a buyer is willing to pay for the put option (bid price).</a:t>
            </a:r>
          </a:p>
          <a:p>
            <a:pPr marL="0" indent="0">
              <a:buNone/>
            </a:pPr>
            <a:r>
              <a:rPr lang="en-US" sz="1400" dirty="0"/>
              <a:t>pValue: The current price or value of the put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pAskPx: The lowest price a seller is willing to accept for the put option (ask price).</a:t>
            </a:r>
          </a:p>
        </p:txBody>
      </p:sp>
    </p:spTree>
    <p:extLst>
      <p:ext uri="{BB962C8B-B14F-4D97-AF65-F5344CB8AC3E}">
        <p14:creationId xmlns:p14="http://schemas.microsoft.com/office/powerpoint/2010/main" val="2802762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02E6-6C00-556A-6273-7CC903EB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4674-42C3-8360-A0CE-744C63163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(2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8878B-B5AE-B2F7-D36C-BCFDD0791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/>
              <a:t>cBidIv: Implied volatility derived from the call option's bid price.</a:t>
            </a:r>
          </a:p>
          <a:p>
            <a:pPr marL="0" indent="0">
              <a:buNone/>
            </a:pPr>
            <a:r>
              <a:rPr lang="en-US" sz="1400" dirty="0"/>
              <a:t>cMidIv: Implied volatility derived from the call option's mid-price.</a:t>
            </a:r>
          </a:p>
          <a:p>
            <a:pPr marL="0" indent="0">
              <a:buNone/>
            </a:pPr>
            <a:r>
              <a:rPr lang="en-US" sz="1400" dirty="0"/>
              <a:t>cAskIv: Implied volatility derived from the call option's ask price.</a:t>
            </a:r>
          </a:p>
          <a:p>
            <a:pPr marL="0" indent="0">
              <a:buNone/>
            </a:pPr>
            <a:r>
              <a:rPr lang="en-US" sz="1400" dirty="0"/>
              <a:t>smoothSmvVol: Smoothed options market value (SMV) implied volatility, which is often a proprietary, </a:t>
            </a:r>
            <a:br>
              <a:rPr lang="en-US" sz="1400" dirty="0"/>
            </a:br>
            <a:r>
              <a:rPr lang="en-US" sz="1400" dirty="0"/>
              <a:t>                                  high-quality volatility measure used for consistent pricing across the entire options chain.</a:t>
            </a:r>
          </a:p>
          <a:p>
            <a:pPr marL="0" indent="0">
              <a:buNone/>
            </a:pPr>
            <a:r>
              <a:rPr lang="en-US" sz="1400" dirty="0"/>
              <a:t>pBidIv: Implied volatility derived from the put option's bid price.</a:t>
            </a:r>
          </a:p>
          <a:p>
            <a:pPr marL="0" indent="0">
              <a:buNone/>
            </a:pPr>
            <a:r>
              <a:rPr lang="en-US" sz="1400" dirty="0"/>
              <a:t>pMidIv: Implied volatility derived from the put option's mid-price.</a:t>
            </a:r>
          </a:p>
          <a:p>
            <a:pPr marL="0" indent="0">
              <a:buNone/>
            </a:pPr>
            <a:r>
              <a:rPr lang="en-US" sz="1400" dirty="0"/>
              <a:t>pAskIv: Implied volatility derived from the put option's ask price.</a:t>
            </a:r>
          </a:p>
          <a:p>
            <a:pPr marL="0" indent="0">
              <a:buNone/>
            </a:pPr>
            <a:r>
              <a:rPr lang="en-US" sz="1400" dirty="0"/>
              <a:t>iRate: The interest rate assumption used in the options pricing model (e.g., risk-free rate).</a:t>
            </a:r>
          </a:p>
          <a:p>
            <a:pPr marL="0" indent="0">
              <a:buNone/>
            </a:pPr>
            <a:r>
              <a:rPr lang="en-US" sz="1400" dirty="0"/>
              <a:t>divRate: The dividend rate assumption for the underlying stock.</a:t>
            </a:r>
          </a:p>
          <a:p>
            <a:pPr marL="0" indent="0">
              <a:buNone/>
            </a:pPr>
            <a:r>
              <a:rPr lang="en-US" sz="1400" dirty="0"/>
              <a:t>residualRateData: Additional or specific rate data used in the model. </a:t>
            </a:r>
          </a:p>
          <a:p>
            <a:pPr marL="0" indent="0">
              <a:buNone/>
            </a:pPr>
            <a:r>
              <a:rPr lang="en-US" sz="1400" dirty="0"/>
              <a:t>delta: Measures the sensitivity of the option's price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gamma: Measures the rate of change of delta relative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theta: Measures the option's price sensitivity to the passage of time (time decay).</a:t>
            </a:r>
          </a:p>
          <a:p>
            <a:pPr marL="0" indent="0">
              <a:buNone/>
            </a:pPr>
            <a:r>
              <a:rPr lang="en-US" sz="1400" dirty="0"/>
              <a:t>vega: Measures the option's price sensitivity to a 1% change in the underlying asset's implied volatility.</a:t>
            </a:r>
          </a:p>
          <a:p>
            <a:pPr marL="0" indent="0">
              <a:buNone/>
            </a:pPr>
            <a:r>
              <a:rPr lang="en-US" sz="1400" dirty="0"/>
              <a:t>rho: Measures the option's price sensitivity to a change in interest rates.</a:t>
            </a:r>
          </a:p>
          <a:p>
            <a:pPr marL="0" indent="0">
              <a:buNone/>
            </a:pPr>
            <a:r>
              <a:rPr lang="en-US" sz="1400" dirty="0"/>
              <a:t>phi: Likely another option Greek or analytical measure, possibly related to the sensitivity to dividend yield changes.</a:t>
            </a:r>
          </a:p>
          <a:p>
            <a:pPr marL="0" indent="0">
              <a:buNone/>
            </a:pPr>
            <a:r>
              <a:rPr lang="en-US" sz="1400" dirty="0"/>
              <a:t>driftlessTheta: An adjusted theta measure, likely part of specific analytics provided by the data source.</a:t>
            </a:r>
          </a:p>
        </p:txBody>
      </p:sp>
    </p:spTree>
    <p:extLst>
      <p:ext uri="{BB962C8B-B14F-4D97-AF65-F5344CB8AC3E}">
        <p14:creationId xmlns:p14="http://schemas.microsoft.com/office/powerpoint/2010/main" val="274889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B489-5E3E-4671-0BE4-0D913901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0362-CDE4-BAB1-E7D1-CA0E1AE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(3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46B9-EE4A-6B1B-663B-FE26A4DF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extVol: External or specific volatility measure used in theoretical calculations.</a:t>
            </a:r>
          </a:p>
          <a:p>
            <a:pPr marL="0" indent="0">
              <a:buNone/>
            </a:pPr>
            <a:r>
              <a:rPr lang="en-US" sz="1400" dirty="0"/>
              <a:t>extCTheo: External/specific theoretical value for the call option.</a:t>
            </a:r>
          </a:p>
          <a:p>
            <a:pPr marL="0" indent="0">
              <a:buNone/>
            </a:pPr>
            <a:r>
              <a:rPr lang="en-US" sz="1400" dirty="0"/>
              <a:t>extPTheo: External/specific theoretical value for the put option.</a:t>
            </a:r>
          </a:p>
          <a:p>
            <a:pPr marL="0" indent="0">
              <a:buNone/>
            </a:pPr>
            <a:r>
              <a:rPr lang="en-US" sz="1400" dirty="0"/>
              <a:t>spot_px: The spot price of the underlying asset, likely the same as stkPx.</a:t>
            </a:r>
          </a:p>
          <a:p>
            <a:pPr marL="0" indent="0">
              <a:buNone/>
            </a:pPr>
            <a:r>
              <a:rPr lang="en-US" sz="1400" dirty="0"/>
              <a:t>cOpra: Call option price reporting authority data (likely the raw price data as reported to OPRA - Options Price Reporting Authority).</a:t>
            </a:r>
          </a:p>
          <a:p>
            <a:pPr marL="0" indent="0">
              <a:buNone/>
            </a:pPr>
            <a:r>
              <a:rPr lang="en-US" sz="1400" dirty="0"/>
              <a:t>pOpra: Put option price reporting authority data (raw price data as reported to OPRA).</a:t>
            </a:r>
          </a:p>
          <a:p>
            <a:pPr marL="0" indent="0">
              <a:buNone/>
            </a:pPr>
            <a:r>
              <a:rPr lang="en-US" sz="1400" dirty="0"/>
              <a:t>yte: Years to expiration, a measure of time remaining until the contract expires.</a:t>
            </a:r>
          </a:p>
        </p:txBody>
      </p:sp>
    </p:spTree>
    <p:extLst>
      <p:ext uri="{BB962C8B-B14F-4D97-AF65-F5344CB8AC3E}">
        <p14:creationId xmlns:p14="http://schemas.microsoft.com/office/powerpoint/2010/main" val="2822258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3841-4C4E-117F-9A3E-FB71E3DC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CC86-52B6-1F99-972A-29F5E8B3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Etay’s</a:t>
            </a:r>
            <a:r>
              <a:rPr lang="en-US" b="1" dirty="0">
                <a:solidFill>
                  <a:srgbClr val="002060"/>
                </a:solidFill>
              </a:rPr>
              <a:t>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C0BC2-D2F9-B9DF-3097-420CD80F9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6947782" cy="588099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400" dirty="0"/>
              <a:t>1. Download Visual Studio Code (VSC) </a:t>
            </a:r>
          </a:p>
          <a:p>
            <a:pPr marL="0" indent="0">
              <a:buNone/>
            </a:pPr>
            <a:r>
              <a:rPr lang="en-US" sz="1400" dirty="0"/>
              <a:t>2. Connect source control with </a:t>
            </a:r>
            <a:r>
              <a:rPr lang="en-US" sz="1400" noProof="1"/>
              <a:t>Etay's</a:t>
            </a:r>
            <a:r>
              <a:rPr lang="en-US" sz="1400" dirty="0"/>
              <a:t> </a:t>
            </a:r>
            <a:r>
              <a:rPr lang="en-US" sz="1400" noProof="1"/>
              <a:t>Github</a:t>
            </a:r>
            <a:r>
              <a:rPr lang="en-US" sz="1400" dirty="0"/>
              <a:t> to c:\option_trading</a:t>
            </a:r>
          </a:p>
          <a:p>
            <a:pPr marL="0" indent="0">
              <a:buNone/>
            </a:pPr>
            <a:r>
              <a:rPr lang="en-US" sz="1400" dirty="0"/>
              <a:t>3. Use </a:t>
            </a:r>
            <a:r>
              <a:rPr lang="en-US" sz="1400" noProof="1"/>
              <a:t>FileZila</a:t>
            </a:r>
            <a:r>
              <a:rPr lang="en-US" sz="1400" dirty="0"/>
              <a:t> to download ORATS zip files 2007 - 2025 to c:\option_trading\ORATS_zip </a:t>
            </a:r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4. Run extract_zip.py (zip --&gt; csv under c:\option_trading\ORATS_csv)</a:t>
            </a:r>
            <a:endParaRPr lang="en-US" sz="2400" dirty="0"/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   Note: The new files will not go to c:\option_trading\ORATS_csv\2025</a:t>
            </a:r>
            <a:endParaRPr lang="en-US" sz="2400" dirty="0"/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   but it is OK since make_data.py will find them anywhere.</a:t>
            </a:r>
            <a:endParaRPr lang="en-US" sz="2400" dirty="0"/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5. Run make_data.py (c:\option_trading\ORATS_csv --&gt; c:\option_trading\ORATS_json).   This will keep only: "</a:t>
            </a:r>
            <a:r>
              <a:rPr lang="en-US" sz="1400" dirty="0" err="1">
                <a:ea typeface="+mn-lt"/>
                <a:cs typeface="+mn-lt"/>
              </a:rPr>
              <a:t>expirDate</a:t>
            </a:r>
            <a:r>
              <a:rPr lang="en-US" sz="1400" dirty="0">
                <a:ea typeface="+mn-lt"/>
                <a:cs typeface="+mn-lt"/>
              </a:rPr>
              <a:t>", "strike", "</a:t>
            </a:r>
            <a:r>
              <a:rPr lang="en-US" sz="1400" dirty="0" err="1">
                <a:ea typeface="+mn-lt"/>
                <a:cs typeface="+mn-lt"/>
              </a:rPr>
              <a:t>pBidPx</a:t>
            </a:r>
            <a:r>
              <a:rPr lang="en-US" sz="1400" dirty="0">
                <a:ea typeface="+mn-lt"/>
                <a:cs typeface="+mn-lt"/>
              </a:rPr>
              <a:t>", "</a:t>
            </a:r>
            <a:r>
              <a:rPr lang="en-US" sz="1400" dirty="0" err="1">
                <a:ea typeface="+mn-lt"/>
                <a:cs typeface="+mn-lt"/>
              </a:rPr>
              <a:t>pAskPx</a:t>
            </a:r>
            <a:r>
              <a:rPr lang="en-US" sz="1400" dirty="0">
                <a:ea typeface="+mn-lt"/>
                <a:cs typeface="+mn-lt"/>
              </a:rPr>
              <a:t>" and "</a:t>
            </a:r>
            <a:r>
              <a:rPr lang="en-US" sz="1400" dirty="0" err="1">
                <a:ea typeface="+mn-lt"/>
                <a:cs typeface="+mn-lt"/>
              </a:rPr>
              <a:t>putDelta</a:t>
            </a:r>
            <a:r>
              <a:rPr lang="en-US" sz="1400" dirty="0">
                <a:ea typeface="+mn-lt"/>
                <a:cs typeface="+mn-lt"/>
              </a:rPr>
              <a:t>"</a:t>
            </a:r>
            <a:endParaRPr lang="en-US" sz="2400" dirty="0"/>
          </a:p>
          <a:p>
            <a:pPr marL="0" indent="0">
              <a:buNone/>
            </a:pPr>
            <a:r>
              <a:rPr lang="en-US" sz="1400" dirty="0"/>
              <a:t>6. Open terminal and run these command:</a:t>
            </a:r>
          </a:p>
          <a:p>
            <a:pPr marL="0" indent="0">
              <a:buNone/>
            </a:pPr>
            <a:r>
              <a:rPr lang="en-US" sz="1400" dirty="0"/>
              <a:t>   pip install </a:t>
            </a:r>
            <a:r>
              <a:rPr lang="en-US" sz="1400" noProof="1"/>
              <a:t>yfinance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   git config --global </a:t>
            </a:r>
            <a:r>
              <a:rPr lang="en-US" sz="1400" noProof="1"/>
              <a:t>user.email </a:t>
            </a:r>
            <a:r>
              <a:rPr lang="en-US" sz="1400" dirty="0"/>
              <a:t>"etayluz@gmail.com"</a:t>
            </a:r>
          </a:p>
          <a:p>
            <a:pPr marL="0" indent="0">
              <a:buNone/>
            </a:pPr>
            <a:r>
              <a:rPr lang="en-US" sz="1400" dirty="0"/>
              <a:t>   git config --global user.name "</a:t>
            </a:r>
            <a:r>
              <a:rPr lang="en-US" sz="1400" noProof="1"/>
              <a:t>Etay</a:t>
            </a:r>
            <a:r>
              <a:rPr lang="en-US" sz="1400" dirty="0"/>
              <a:t> Luz"</a:t>
            </a:r>
          </a:p>
          <a:p>
            <a:pPr marL="0" indent="0">
              <a:buNone/>
            </a:pPr>
            <a:r>
              <a:rPr lang="en-US" sz="1400" dirty="0"/>
              <a:t>7. Run yahoo.py (download csv files from Yahoo.com to c:\option_trading\ticker_data\AAPL.csv)</a:t>
            </a:r>
          </a:p>
          <a:p>
            <a:pPr marL="0" indent="0">
              <a:buNone/>
            </a:pPr>
            <a:r>
              <a:rPr lang="en-US" sz="1400" dirty="0"/>
              <a:t>8. Run get_stock_history.py (</a:t>
            </a:r>
            <a:r>
              <a:rPr lang="en-US" sz="1400" noProof="1"/>
              <a:t>ticker_data</a:t>
            </a:r>
            <a:r>
              <a:rPr lang="en-US" sz="1400" dirty="0"/>
              <a:t>\ --&gt; c:\option_trading\stock_history.json)</a:t>
            </a:r>
          </a:p>
          <a:p>
            <a:pPr marL="0" indent="0">
              <a:buNone/>
            </a:pPr>
            <a:r>
              <a:rPr lang="en-US" sz="1400" dirty="0"/>
              <a:t>9. Check visually the rules in </a:t>
            </a:r>
            <a:r>
              <a:rPr lang="en-US" sz="1400" noProof="1"/>
              <a:t>rules.json</a:t>
            </a:r>
            <a:r>
              <a:rPr lang="en-US" sz="1400" dirty="0"/>
              <a:t>, validate that you are happy</a:t>
            </a:r>
          </a:p>
          <a:p>
            <a:pPr marL="0" indent="0">
              <a:buNone/>
            </a:pPr>
            <a:r>
              <a:rPr lang="en-US" sz="1400" dirty="0"/>
              <a:t>10. Run sumulate_yuda.py</a:t>
            </a:r>
          </a:p>
          <a:p>
            <a:pPr marL="0" indent="0">
              <a:buNone/>
            </a:pPr>
            <a:r>
              <a:rPr lang="en-US" sz="1400" dirty="0"/>
              <a:t>11. Check the results in the latest log.txt under c:\option_trading\logs </a:t>
            </a:r>
          </a:p>
          <a:p>
            <a:pPr marL="0" indent="0">
              <a:buNone/>
            </a:pPr>
            <a:r>
              <a:rPr lang="en-US" sz="1400" dirty="0"/>
              <a:t>12. Run sim_wraper.py to optimize the rules.</a:t>
            </a:r>
            <a:r>
              <a:rPr lang="en-US" sz="1400" noProof="1"/>
              <a:t>json</a:t>
            </a:r>
            <a:r>
              <a:rPr lang="en-US" sz="1400" dirty="0"/>
              <a:t> with better score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DB2BC-860C-B3A5-44A3-B10E08FC828D}"/>
              </a:ext>
            </a:extLst>
          </p:cNvPr>
          <p:cNvSpPr txBox="1">
            <a:spLocks/>
          </p:cNvSpPr>
          <p:nvPr/>
        </p:nvSpPr>
        <p:spPr>
          <a:xfrm>
            <a:off x="7569443" y="773163"/>
            <a:ext cx="4409038" cy="5311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SOURCE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folder icon on the top left to see the project source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3rd button from the top to see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Anything modified under changes you may want to stage for saving click on + 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Commit button to save the staged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To switch to Graph changes, click on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Use Up arrow button to push to the cloud (</a:t>
            </a:r>
            <a:r>
              <a:rPr lang="en-US" sz="1500" noProof="1"/>
              <a:t>Github</a:t>
            </a:r>
            <a:r>
              <a:rPr lang="en-US" sz="15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From another machine, use Down arrow button to pull latest changes</a:t>
            </a:r>
          </a:p>
        </p:txBody>
      </p:sp>
    </p:spTree>
    <p:extLst>
      <p:ext uri="{BB962C8B-B14F-4D97-AF65-F5344CB8AC3E}">
        <p14:creationId xmlns:p14="http://schemas.microsoft.com/office/powerpoint/2010/main" val="54194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699C8-19B8-AB08-ECDF-43BA6ED8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D165-4626-517B-BF27-A1E977A40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ORATS  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1D14-04D4-485B-AED9-C8EE43A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Download Folder: c:\option_trading\ORATS_zip </a:t>
            </a:r>
          </a:p>
          <a:p>
            <a:r>
              <a:rPr lang="en-US" sz="1600" dirty="0"/>
              <a:t>Csv folder after extract_zip.py 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(zip --&gt; csv under c:\ORATS_csv)</a:t>
            </a:r>
          </a:p>
          <a:p>
            <a:r>
              <a:rPr lang="en-US" sz="1600" dirty="0"/>
              <a:t>Json Folder after make_data.py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 c:\option_trading\</a:t>
            </a:r>
            <a:r>
              <a:rPr lang="en-US" sz="1600" noProof="1"/>
              <a:t>ORATS</a:t>
            </a:r>
            <a:r>
              <a:rPr lang="en-US" sz="1600" dirty="0"/>
              <a:t>_</a:t>
            </a:r>
            <a:r>
              <a:rPr lang="en-US" sz="1600" noProof="1"/>
              <a:t>json</a:t>
            </a:r>
            <a:br>
              <a:rPr lang="en-US" sz="1600" dirty="0"/>
            </a:br>
            <a:r>
              <a:rPr lang="en-US" sz="1600" dirty="0"/>
              <a:t>This folder includes 4748 </a:t>
            </a:r>
            <a:r>
              <a:rPr lang="en-US" sz="1600" noProof="1"/>
              <a:t>json</a:t>
            </a:r>
            <a:r>
              <a:rPr lang="en-US" sz="1600" dirty="0"/>
              <a:t> files: </a:t>
            </a:r>
            <a:br>
              <a:rPr lang="en-US" sz="1600" dirty="0"/>
            </a:br>
            <a:r>
              <a:rPr lang="en-US" sz="1600" dirty="0"/>
              <a:t>2007-01-03.json, 2007-01-04.json, … 2007-11-11.json</a:t>
            </a:r>
          </a:p>
          <a:p>
            <a:r>
              <a:rPr lang="en-US" sz="1600" dirty="0"/>
              <a:t>Each </a:t>
            </a:r>
            <a:r>
              <a:rPr lang="en-US" sz="1600" noProof="1"/>
              <a:t>json</a:t>
            </a:r>
            <a:r>
              <a:rPr lang="en-US" sz="1600" dirty="0"/>
              <a:t> file is for one day, including all the put options for that day</a:t>
            </a:r>
          </a:p>
          <a:p>
            <a:r>
              <a:rPr lang="en-US" sz="1600" dirty="0"/>
              <a:t>Each file is about 10 Mbyte in size (cleaned of spaces)</a:t>
            </a:r>
          </a:p>
          <a:p>
            <a:r>
              <a:rPr lang="en-US" sz="1600" dirty="0"/>
              <a:t>The data includes stock symbol=“A”, E</a:t>
            </a:r>
            <a:r>
              <a:rPr lang="en-US" sz="1600" noProof="1"/>
              <a:t>xpirDate=12/19/2025</a:t>
            </a:r>
            <a:r>
              <a:rPr lang="en-US" sz="1600" dirty="0"/>
              <a:t>,</a:t>
            </a:r>
            <a:br>
              <a:rPr lang="en-US" sz="1600" dirty="0"/>
            </a:br>
            <a:r>
              <a:rPr lang="en-US" sz="1600" dirty="0"/>
              <a:t> DTE=57, Strike=110, </a:t>
            </a:r>
            <a:r>
              <a:rPr lang="en-US" sz="1600" noProof="1"/>
              <a:t>Bid=0.1</a:t>
            </a:r>
            <a:r>
              <a:rPr lang="en-US" sz="1600" dirty="0"/>
              <a:t>, A</a:t>
            </a:r>
            <a:r>
              <a:rPr lang="en-US" sz="1600" noProof="1"/>
              <a:t>sk=0.75, Delta=-2.89%</a:t>
            </a:r>
            <a:br>
              <a:rPr lang="en-US" sz="1600" dirty="0"/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{"A":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{"12/19/2025":”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{"days_interval":57,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"options":[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{"strike":110.0,"pBidPx":"0.10","pAskPx":"0.75","putDelta":"-2.89%"},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{"strike":115.0,"pBidPx":"0.35","pAskPx":"1.00","putDelta":"-4.81%"},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{"strike":120.0,"pBidPx":"0.60","pAskPx":"1.35","putDelta":"-7.65%"},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{"strike":125.0,"pBidPx":"0.95","pAskPx":"1.70","putDelta":"-11.60%"}</a:t>
            </a:r>
            <a:endParaRPr lang="en-US" sz="1600" dirty="0"/>
          </a:p>
          <a:p>
            <a:r>
              <a:rPr lang="en-US" sz="1600" dirty="0"/>
              <a:t>New daily data is always available on ORATS server</a:t>
            </a:r>
          </a:p>
          <a:p>
            <a:r>
              <a:rPr lang="en-US" sz="1600" dirty="0"/>
              <a:t>The simulation runs from the earliest day (Start Date) to the most recent date (End Date). </a:t>
            </a:r>
            <a:br>
              <a:rPr lang="en-US" sz="1600" dirty="0"/>
            </a:br>
            <a:r>
              <a:rPr lang="en-US" sz="1600" dirty="0"/>
              <a:t>Both are defined in rules.json</a:t>
            </a:r>
          </a:p>
          <a:p>
            <a:r>
              <a:rPr lang="en-US" sz="1600" dirty="0"/>
              <a:t>When sim is running, each date it will read the </a:t>
            </a:r>
            <a:r>
              <a:rPr lang="en-US" sz="1600" noProof="1"/>
              <a:t>json</a:t>
            </a:r>
            <a:r>
              <a:rPr lang="en-US" sz="1600" dirty="0"/>
              <a:t> file of that date.</a:t>
            </a:r>
          </a:p>
          <a:p>
            <a:r>
              <a:rPr lang="en-US" sz="1600" dirty="0"/>
              <a:t>The next day the old data is overwritten (discard).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898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BE74D-8BC3-B3BE-8888-C8C9C9A9D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64305-0400-0D12-115E-801A35446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Yahoo.py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80BE7-F916-DF03-A2D3-BF18C186C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Run yahoo.py (download csv files from Yahoo.com to c:\option_trading\ticker_data\TQQQ.csv)</a:t>
            </a:r>
          </a:p>
          <a:p>
            <a:r>
              <a:rPr lang="en-US" sz="1600" dirty="0"/>
              <a:t>Yahoo Finance original format includes</a:t>
            </a:r>
            <a:br>
              <a:rPr lang="en-US" sz="1600" dirty="0"/>
            </a:br>
            <a:r>
              <a:rPr lang="en-US" sz="1600" dirty="0"/>
              <a:t>splits:</a:t>
            </a:r>
          </a:p>
          <a:p>
            <a:r>
              <a:rPr lang="en-US" sz="1600" dirty="0"/>
              <a:t>Their close is our Adjusted Close (AC)</a:t>
            </a:r>
          </a:p>
          <a:p>
            <a:r>
              <a:rPr lang="en-US" sz="1600" dirty="0"/>
              <a:t>To find the split impact on the unadjusted close (UAC), on the split day recalculate the unadjusted close of all the prior dates:</a:t>
            </a:r>
            <a:br>
              <a:rPr lang="en-US" sz="1600" dirty="0"/>
            </a:br>
            <a:r>
              <a:rPr lang="en-US" sz="1600" dirty="0"/>
              <a:t>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 </a:t>
            </a:r>
            <a:r>
              <a:rPr lang="en-US" sz="1600" dirty="0"/>
              <a:t>= AC x 2 where 2 is the split ratio, and 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is any date prior to the split date.</a:t>
            </a:r>
          </a:p>
          <a:p>
            <a:endParaRPr lang="en-US" sz="1600" dirty="0"/>
          </a:p>
          <a:p>
            <a:r>
              <a:rPr lang="en-US" sz="1600" dirty="0"/>
              <a:t>Yahoo also provides “$ Dividends”:</a:t>
            </a:r>
          </a:p>
          <a:p>
            <a:endParaRPr lang="en-US" sz="1600" dirty="0"/>
          </a:p>
          <a:p>
            <a:r>
              <a:rPr lang="en-US" sz="1600" dirty="0"/>
              <a:t>To find the impact of the </a:t>
            </a:r>
            <a:r>
              <a:rPr lang="en-US" sz="1600"/>
              <a:t>dividend on the </a:t>
            </a:r>
            <a:r>
              <a:rPr lang="en-US" sz="1600" dirty="0"/>
              <a:t>unadjusted close (UAC), on the dividend day recalculate the unadjusted close of all the prior dates:</a:t>
            </a:r>
            <a:br>
              <a:rPr lang="en-US" sz="1600" dirty="0"/>
            </a:br>
            <a:r>
              <a:rPr lang="en-US" sz="1600" noProof="1"/>
              <a:t>DivRatio = (Close_price_before_dividend - Dividend_amount) / Close_price_before_dividend.</a:t>
            </a:r>
            <a:br>
              <a:rPr lang="en-US" sz="1600" noProof="1"/>
            </a:br>
            <a:r>
              <a:rPr lang="en-US" sz="1600" noProof="1"/>
              <a:t>= (51.256 – 0.049) / 51.256 = 0.999044.</a:t>
            </a:r>
            <a:br>
              <a:rPr lang="en-US" sz="1600" dirty="0"/>
            </a:br>
            <a:r>
              <a:rPr lang="en-US" sz="1600" dirty="0"/>
              <a:t>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= AC / </a:t>
            </a:r>
            <a:r>
              <a:rPr lang="en-US" sz="1600" noProof="1"/>
              <a:t>DivRatio</a:t>
            </a:r>
            <a:r>
              <a:rPr lang="en-US" sz="1600" dirty="0"/>
              <a:t> where </a:t>
            </a:r>
            <a:r>
              <a:rPr lang="en-US" sz="1600" noProof="1"/>
              <a:t>DivRatio</a:t>
            </a:r>
            <a:r>
              <a:rPr lang="en-US" sz="1600" dirty="0"/>
              <a:t> is the dividend ratio, and 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is any date prior to the dividend date.</a:t>
            </a:r>
            <a:br>
              <a:rPr lang="en-US" sz="1600" dirty="0"/>
            </a:br>
            <a:r>
              <a:rPr lang="en-US" sz="1600" dirty="0"/>
              <a:t>If later, at 11/20/2025, the 2:1 split will change the 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 again.</a:t>
            </a:r>
          </a:p>
          <a:p>
            <a:r>
              <a:rPr lang="en-US" sz="1600" dirty="0"/>
              <a:t>The resulted TQQQ.csv will be:</a:t>
            </a:r>
            <a:br>
              <a:rPr lang="en-US" sz="1600" dirty="0"/>
            </a:br>
            <a:r>
              <a:rPr lang="en-US" sz="1600" dirty="0"/>
              <a:t>Notice that the Close above:</a:t>
            </a:r>
            <a:br>
              <a:rPr lang="en-US" sz="1600" dirty="0"/>
            </a:br>
            <a:r>
              <a:rPr lang="en-US" sz="1600" dirty="0"/>
              <a:t>(50.025, 46.45, 47.48)</a:t>
            </a:r>
            <a:br>
              <a:rPr lang="en-US" sz="1600" dirty="0"/>
            </a:br>
            <a:r>
              <a:rPr lang="en-US" sz="1600" dirty="0"/>
              <a:t>Is saved as </a:t>
            </a:r>
            <a:r>
              <a:rPr lang="en-US" sz="1600" noProof="1"/>
              <a:t>Adj_Close</a:t>
            </a:r>
            <a:r>
              <a:rPr lang="en-US" sz="1600" dirty="0"/>
              <a:t>:</a:t>
            </a:r>
            <a:br>
              <a:rPr lang="en-US" sz="1600" dirty="0"/>
            </a:br>
            <a:r>
              <a:rPr lang="en-US" sz="1600" dirty="0"/>
              <a:t> </a:t>
            </a:r>
            <a:br>
              <a:rPr lang="en-US" sz="1600" dirty="0"/>
            </a:b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FDFA99-C6EB-778D-1F21-6BF59DCF9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641420"/>
              </p:ext>
            </p:extLst>
          </p:nvPr>
        </p:nvGraphicFramePr>
        <p:xfrm>
          <a:off x="4484914" y="1149532"/>
          <a:ext cx="5974080" cy="7219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6355">
                  <a:extLst>
                    <a:ext uri="{9D8B030D-6E8A-4147-A177-3AD203B41FA5}">
                      <a16:colId xmlns:a16="http://schemas.microsoft.com/office/drawing/2014/main" val="2033242664"/>
                    </a:ext>
                  </a:extLst>
                </a:gridCol>
                <a:gridCol w="768610">
                  <a:extLst>
                    <a:ext uri="{9D8B030D-6E8A-4147-A177-3AD203B41FA5}">
                      <a16:colId xmlns:a16="http://schemas.microsoft.com/office/drawing/2014/main" val="26872205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112399319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223638450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467624918"/>
                    </a:ext>
                  </a:extLst>
                </a:gridCol>
                <a:gridCol w="707419">
                  <a:extLst>
                    <a:ext uri="{9D8B030D-6E8A-4147-A177-3AD203B41FA5}">
                      <a16:colId xmlns:a16="http://schemas.microsoft.com/office/drawing/2014/main" val="15327948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165107490"/>
                    </a:ext>
                  </a:extLst>
                </a:gridCol>
                <a:gridCol w="1115580">
                  <a:extLst>
                    <a:ext uri="{9D8B030D-6E8A-4147-A177-3AD203B41FA5}">
                      <a16:colId xmlns:a16="http://schemas.microsoft.com/office/drawing/2014/main" val="228965592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Volume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Stock Splits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9400880"/>
                  </a:ext>
                </a:extLst>
              </a:tr>
              <a:tr h="3543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11/19/2025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49.325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51.575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48.715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50.025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184263600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651933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11/20/2025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52.95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53.54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46.23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46.45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178246300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4049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11/21/2025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46.85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49.1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45.24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179618600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141602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F605412-17D3-F21B-32CE-F98B05CEA7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7494039"/>
              </p:ext>
            </p:extLst>
          </p:nvPr>
        </p:nvGraphicFramePr>
        <p:xfrm>
          <a:off x="4484914" y="2707005"/>
          <a:ext cx="5974080" cy="7219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6355">
                  <a:extLst>
                    <a:ext uri="{9D8B030D-6E8A-4147-A177-3AD203B41FA5}">
                      <a16:colId xmlns:a16="http://schemas.microsoft.com/office/drawing/2014/main" val="2033242664"/>
                    </a:ext>
                  </a:extLst>
                </a:gridCol>
                <a:gridCol w="768610">
                  <a:extLst>
                    <a:ext uri="{9D8B030D-6E8A-4147-A177-3AD203B41FA5}">
                      <a16:colId xmlns:a16="http://schemas.microsoft.com/office/drawing/2014/main" val="26872205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112399319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223638450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467624918"/>
                    </a:ext>
                  </a:extLst>
                </a:gridCol>
                <a:gridCol w="707419">
                  <a:extLst>
                    <a:ext uri="{9D8B030D-6E8A-4147-A177-3AD203B41FA5}">
                      <a16:colId xmlns:a16="http://schemas.microsoft.com/office/drawing/2014/main" val="15327948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165107490"/>
                    </a:ext>
                  </a:extLst>
                </a:gridCol>
                <a:gridCol w="1115580">
                  <a:extLst>
                    <a:ext uri="{9D8B030D-6E8A-4147-A177-3AD203B41FA5}">
                      <a16:colId xmlns:a16="http://schemas.microsoft.com/office/drawing/2014/main" val="228965592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Volume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Stock Splits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9400880"/>
                  </a:ext>
                </a:extLst>
              </a:tr>
              <a:tr h="3543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9/23/2025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52.34496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52.39991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50.9413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51.256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99930600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651933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9/24/2025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51.605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51.68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49.995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50.705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101055600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0.049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4049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9/25/2025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49.7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50.435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48.75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122820600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141602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4725A1D-5073-F967-7CD8-979A8F23B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468100"/>
              </p:ext>
            </p:extLst>
          </p:nvPr>
        </p:nvGraphicFramePr>
        <p:xfrm>
          <a:off x="4484914" y="5695471"/>
          <a:ext cx="5852160" cy="76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2370773121"/>
                    </a:ext>
                  </a:extLst>
                </a:gridCol>
                <a:gridCol w="705032">
                  <a:extLst>
                    <a:ext uri="{9D8B030D-6E8A-4147-A177-3AD203B41FA5}">
                      <a16:colId xmlns:a16="http://schemas.microsoft.com/office/drawing/2014/main" val="2603356998"/>
                    </a:ext>
                  </a:extLst>
                </a:gridCol>
                <a:gridCol w="775063">
                  <a:extLst>
                    <a:ext uri="{9D8B030D-6E8A-4147-A177-3AD203B41FA5}">
                      <a16:colId xmlns:a16="http://schemas.microsoft.com/office/drawing/2014/main" val="3873826684"/>
                    </a:ext>
                  </a:extLst>
                </a:gridCol>
                <a:gridCol w="661851">
                  <a:extLst>
                    <a:ext uri="{9D8B030D-6E8A-4147-A177-3AD203B41FA5}">
                      <a16:colId xmlns:a16="http://schemas.microsoft.com/office/drawing/2014/main" val="367885362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314770450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2725232399"/>
                    </a:ext>
                  </a:extLst>
                </a:gridCol>
                <a:gridCol w="722812">
                  <a:extLst>
                    <a:ext uri="{9D8B030D-6E8A-4147-A177-3AD203B41FA5}">
                      <a16:colId xmlns:a16="http://schemas.microsoft.com/office/drawing/2014/main" val="3547895199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394321905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Adj_Close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Split_Ratio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44134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11/19/2025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103.15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97.43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98.65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162212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11/20/2025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46.45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46.45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53.54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46.23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52.95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1" u="none" strike="noStrike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14487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11/21/2025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47.48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45.24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46.85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026227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912EC54-7285-4D2B-C50A-27860264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502488"/>
              </p:ext>
            </p:extLst>
          </p:nvPr>
        </p:nvGraphicFramePr>
        <p:xfrm>
          <a:off x="4484914" y="4872578"/>
          <a:ext cx="5852160" cy="76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2370773121"/>
                    </a:ext>
                  </a:extLst>
                </a:gridCol>
                <a:gridCol w="705032">
                  <a:extLst>
                    <a:ext uri="{9D8B030D-6E8A-4147-A177-3AD203B41FA5}">
                      <a16:colId xmlns:a16="http://schemas.microsoft.com/office/drawing/2014/main" val="2603356998"/>
                    </a:ext>
                  </a:extLst>
                </a:gridCol>
                <a:gridCol w="775063">
                  <a:extLst>
                    <a:ext uri="{9D8B030D-6E8A-4147-A177-3AD203B41FA5}">
                      <a16:colId xmlns:a16="http://schemas.microsoft.com/office/drawing/2014/main" val="3873826684"/>
                    </a:ext>
                  </a:extLst>
                </a:gridCol>
                <a:gridCol w="661851">
                  <a:extLst>
                    <a:ext uri="{9D8B030D-6E8A-4147-A177-3AD203B41FA5}">
                      <a16:colId xmlns:a16="http://schemas.microsoft.com/office/drawing/2014/main" val="367885362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314770450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2725232399"/>
                    </a:ext>
                  </a:extLst>
                </a:gridCol>
                <a:gridCol w="722812">
                  <a:extLst>
                    <a:ext uri="{9D8B030D-6E8A-4147-A177-3AD203B41FA5}">
                      <a16:colId xmlns:a16="http://schemas.microsoft.com/office/drawing/2014/main" val="3547895199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394321905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Adj_Close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Split_Ratio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44134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9/23/2025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102.561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104.8499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101.9313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104.74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162212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9/24/2025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50.705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101.41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103.36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99.99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103.21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effectLst/>
                          <a:highlight>
                            <a:srgbClr val="FFFF00"/>
                          </a:highlight>
                        </a:rPr>
                        <a:t>0.049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14487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9/25/2025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97.5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99.4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0262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659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E4BA8-60AB-CDC9-BCD5-3A0C04046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0F7D-1FB7-5B10-EAA1-2A84C25E1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Stock_history.json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84ECA-0EB5-40AC-D0F9-1A6EEE3E7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11574102" cy="5880996"/>
          </a:xfrm>
        </p:spPr>
        <p:txBody>
          <a:bodyPr wrap="square">
            <a:noAutofit/>
          </a:bodyPr>
          <a:lstStyle/>
          <a:p>
            <a:r>
              <a:rPr lang="en-US" sz="1600" dirty="0"/>
              <a:t>This file is 1.6 </a:t>
            </a:r>
            <a:r>
              <a:rPr lang="en-US" sz="1600" noProof="1"/>
              <a:t>Gbyte</a:t>
            </a:r>
            <a:r>
              <a:rPr lang="en-US" sz="1600" dirty="0"/>
              <a:t> in size. </a:t>
            </a:r>
          </a:p>
          <a:p>
            <a:r>
              <a:rPr lang="en-US" sz="1600" dirty="0"/>
              <a:t>It is created by:</a:t>
            </a:r>
            <a:br>
              <a:rPr lang="en-US" sz="1600" dirty="0"/>
            </a:br>
            <a:r>
              <a:rPr lang="en-US" sz="1600" dirty="0"/>
              <a:t>7.  Run yahoo.py (download csv files from Yahoo.com to c:\option_trading\ticker_data\AAPL.csv)</a:t>
            </a:r>
            <a:br>
              <a:rPr lang="en-US" sz="1600" dirty="0"/>
            </a:br>
            <a:r>
              <a:rPr lang="en-US" sz="1600" dirty="0"/>
              <a:t>8.  Run get_stock_history.py (</a:t>
            </a:r>
            <a:r>
              <a:rPr lang="en-US" sz="1600" noProof="1"/>
              <a:t>ticker_data</a:t>
            </a:r>
            <a:r>
              <a:rPr lang="en-US" sz="1600" dirty="0"/>
              <a:t>\ --&gt; c:\option_trading\stock_history.json)</a:t>
            </a:r>
          </a:p>
          <a:p>
            <a:r>
              <a:rPr lang="en-US" sz="1600" dirty="0"/>
              <a:t>The simulator reads this file once, at the very beginning. </a:t>
            </a:r>
          </a:p>
          <a:p>
            <a:r>
              <a:rPr lang="en-US" sz="1600" dirty="0"/>
              <a:t>This file includes all the history of the stocks and ETF, but no put option data.</a:t>
            </a:r>
          </a:p>
          <a:p>
            <a:r>
              <a:rPr lang="en-US" sz="1600" dirty="0"/>
              <a:t>The list of the stocks + etfs per day is defined in SP500_history.csv from 1/3/2007 until 7/9/25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If new simulation is required, this file must be updated with new dates</a:t>
            </a: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474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FBB4-ED80-23D3-A9D7-1A5E39FF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1521-AB48-787E-947E-C64D4666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F9E-0F03-C104-791E-53A7F309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3824336" cy="5880996"/>
          </a:xfr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"account_simaulation":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"start_date": "01/01/2020",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"end_date": "10/28/2025",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"initial_cash": "1000000",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"max_puts_per_account": "37",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"max_puts_per_stock": "7",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"max_puts_per_day": "5",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"Minimal_Print_Out": true },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"underlying_stock":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"min_5_day_rise_pct": "-17.1%",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"min_above_avg_pct": "-5.25%",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"max_above_avg_pct": "42%",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"min_avg_up_slope_pct": "-0.095%",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"min_stock_price": "$30.00"},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E6FAD-4098-841D-85ED-92FBD6A2D197}"/>
              </a:ext>
            </a:extLst>
          </p:cNvPr>
          <p:cNvSpPr txBox="1"/>
          <p:nvPr/>
        </p:nvSpPr>
        <p:spPr>
          <a:xfrm>
            <a:off x="2976327" y="22909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This file defines all the simulation rules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2B290E8-60AC-0EA6-A69D-D4A50E3B9F31}"/>
              </a:ext>
            </a:extLst>
          </p:cNvPr>
          <p:cNvSpPr txBox="1">
            <a:spLocks/>
          </p:cNvSpPr>
          <p:nvPr/>
        </p:nvSpPr>
        <p:spPr>
          <a:xfrm>
            <a:off x="4327555" y="805759"/>
            <a:ext cx="368174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"entry_put_position":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"min_days_for_expiration": "50",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"max_days_for_expiration": "260",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"min_put_bid_price": "3.6",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"min_put_delta": "-25%",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"max_put_delta": "-1%",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"max_ask_above_bid_pct": 59.85%",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"min_avg_above_strike": "-3.791%",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"min_risk_reward_ratio": "-11.025",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"min_annual_risk_reward_ratio": "-15",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"min_expected_profit": "-100%",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"rank_by_risk_reward_ratio": false,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"rank_by_annual_risk": true,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"rank_by_expected_profit": false},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81C342-3C9D-C460-B468-957058588310}"/>
              </a:ext>
            </a:extLst>
          </p:cNvPr>
          <p:cNvSpPr txBox="1">
            <a:spLocks/>
          </p:cNvSpPr>
          <p:nvPr/>
        </p:nvSpPr>
        <p:spPr>
          <a:xfrm>
            <a:off x="8154154" y="805759"/>
            <a:ext cx="394127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"exit_put_position":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"position_stop_loss_pct": "9999%",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"stock_max_below_avg": "18.9%",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"stock_min_above_strike": "-9999%",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"stock_max_below_entry": "26.6%",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"min_gain_to_take_profit": "9999%"}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395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D375-A3BC-F1BC-04E8-BB6E1FC9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F036-F154-D157-7A92-EE002DF0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3A49FC-06B1-0189-4536-957DE2F13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 marL="0" indent="0">
              <a:buNone/>
              <a:tabLst>
                <a:tab pos="519113" algn="l"/>
              </a:tabLst>
            </a:pPr>
            <a:r>
              <a:rPr lang="en-US" dirty="0"/>
              <a:t>This file is modified by:</a:t>
            </a:r>
            <a:br>
              <a:rPr lang="en-US" dirty="0"/>
            </a:br>
            <a:r>
              <a:rPr lang="en-US" dirty="0"/>
              <a:t>	(1) The user may change the parameters</a:t>
            </a:r>
            <a:br>
              <a:rPr lang="en-US" dirty="0"/>
            </a:br>
            <a:r>
              <a:rPr lang="en-US" dirty="0"/>
              <a:t>	(2) sim_wraper.py may change any parameter to optimize score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05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663F-1992-BFF6-EC17-BEE6F0E0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222E5-2938-E755-6035-CEB89DD9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simulate_yuda.py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206990-2935-06C5-5D5F-4F5E9AA8F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5"/>
            <a:ext cx="10646790" cy="2092750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dirty="0"/>
              <a:t>This python code runs the simulation from start_date to end_date.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follows the user parameters of rules.json.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generates a log file “</a:t>
            </a:r>
            <a:r>
              <a:rPr lang="en-US" noProof="1"/>
              <a:t>yyyy-mm-dd</a:t>
            </a:r>
            <a:r>
              <a:rPr lang="en-US" dirty="0"/>
              <a:t> hh-mm.log” with the simulation results. The best results are at “logs/2025-11-14 00-55.log”.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24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869E-D9F0-D688-57A3-6565E06D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D0138-5517-6B9B-3D85-E9B50A8A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sim_wraper.py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C082FB-6FCE-CCE6-8D09-F3CB5BCD4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3440783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sz="2000" dirty="0"/>
              <a:t> This python code calls simulate_yuda.py 3 times for each rule. 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1</a:t>
            </a:r>
            <a:r>
              <a:rPr lang="en-US" sz="1600" baseline="30000" dirty="0"/>
              <a:t>st</a:t>
            </a:r>
            <a:r>
              <a:rPr lang="en-US" sz="1600" dirty="0"/>
              <a:t> run of each triplet uses the rule’s value from original rules.</a:t>
            </a:r>
            <a:r>
              <a:rPr lang="en-US" sz="1600" noProof="1"/>
              <a:t>json</a:t>
            </a:r>
            <a:r>
              <a:rPr lang="en-US" sz="1600" dirty="0"/>
              <a:t>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2</a:t>
            </a:r>
            <a:r>
              <a:rPr lang="en-US" sz="1600" baseline="30000" dirty="0"/>
              <a:t>nd</a:t>
            </a:r>
            <a:r>
              <a:rPr lang="en-US" sz="1600" dirty="0"/>
              <a:t> run is +5% above the original rule.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3</a:t>
            </a:r>
            <a:r>
              <a:rPr lang="en-US" sz="1600" baseline="30000" dirty="0"/>
              <a:t>rd</a:t>
            </a:r>
            <a:r>
              <a:rPr lang="en-US" sz="1600" dirty="0"/>
              <a:t> run is -5% below the original rule.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For each run, sim_wraper.py will calculate a </a:t>
            </a:r>
            <a:r>
              <a:rPr lang="en-US" sz="2000" b="1" dirty="0"/>
              <a:t>Score = Ann% / -Drawdown%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sim_wraper.py will select the best score of the triplet and will update the rule parameter in rules.</a:t>
            </a:r>
            <a:r>
              <a:rPr lang="en-US" sz="2000" noProof="1"/>
              <a:t>json.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noProof="1"/>
              <a:t>Then, it will repeat the same process for all the other rules.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At the end it will generate a log file “optimizer </a:t>
            </a:r>
            <a:r>
              <a:rPr lang="en-US" sz="2000" noProof="1"/>
              <a:t>yyyy-mm-dd</a:t>
            </a:r>
            <a:r>
              <a:rPr lang="en-US" sz="2000" dirty="0"/>
              <a:t> hh-mm.log” with the optimization results. The best results are at “optimize 2025_14_11 08_36.log”.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FE00E1-AF72-886B-C7CC-0630E91ED826}"/>
              </a:ext>
            </a:extLst>
          </p:cNvPr>
          <p:cNvSpPr txBox="1"/>
          <p:nvPr/>
        </p:nvSpPr>
        <p:spPr>
          <a:xfrm>
            <a:off x="770248" y="4469213"/>
            <a:ext cx="10520314" cy="116095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Simulation summary: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Run Id | max_puts_per_account | Run time          | $NAV           | $Gain          | Ann%   | Drawdown | Score | Log File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-------+----------------------+-------------------+----------------+----------------+--------+----------+-------+---------------------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1      | 35                   | 00:01:19 (79.47s) | $47,197,722.88 | $46,197,722.88 | 93.90% | -29.27%  | 3.208 | 2025-11-14 08-36.log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2      | 37 (best score)      | 00:01:20 (80.81s) | $44,870,200.95 | $43,870,200.95 | 92.22% | -28.56%  | 3.229 | 2025-11-14 08-37.log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3      | 33                   | 00:01:20 (80.35s) | $47,189,783.22 | $46,189,783.22 | 93.90% | -30.90%  | 3.039 | 2025-11-14 08-38.log</a:t>
            </a:r>
          </a:p>
        </p:txBody>
      </p:sp>
    </p:spTree>
    <p:extLst>
      <p:ext uri="{BB962C8B-B14F-4D97-AF65-F5344CB8AC3E}">
        <p14:creationId xmlns:p14="http://schemas.microsoft.com/office/powerpoint/2010/main" val="26765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F981-96F0-ACAA-4F3F-2BB2B4A1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FE5A50-CB93-98CB-50E9-9460CF4DA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825" y="2858866"/>
            <a:ext cx="5613289" cy="190882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C0FA6E-98D5-8ABF-1A74-D613A3228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37" y="2858866"/>
            <a:ext cx="5613289" cy="3736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885F0-A88C-2665-81E3-C1AE72F54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Summary.xlsm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52127-8EB5-3BE2-7A74-ECB7811F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87117"/>
            <a:ext cx="10887959" cy="1814681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excel file is a summary of all the manual and automatic optimizations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No-Yes-No” tab which is using </a:t>
            </a:r>
            <a:r>
              <a:rPr lang="en-US" sz="1600" b="1" dirty="0"/>
              <a:t>Rank by annual risk = True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Yes-No-No” tab which is using </a:t>
            </a:r>
            <a:r>
              <a:rPr lang="en-US" sz="1600" b="1" dirty="0"/>
              <a:t>Rank by risk reward = True</a:t>
            </a:r>
          </a:p>
          <a:p>
            <a:pPr>
              <a:tabLst>
                <a:tab pos="519113" algn="l"/>
              </a:tabLst>
            </a:pPr>
            <a:r>
              <a:rPr lang="en-US" sz="1600" b="1" dirty="0"/>
              <a:t> </a:t>
            </a:r>
            <a:r>
              <a:rPr lang="en-US" sz="1600" dirty="0"/>
              <a:t>It includes “Charts” tab which can load a log file of “simulate_yuda.py” and create a plot of the results:</a:t>
            </a:r>
            <a:br>
              <a:rPr lang="en-US" sz="1600" dirty="0"/>
            </a:br>
            <a:r>
              <a:rPr lang="en-US" sz="2000" dirty="0"/>
              <a:t>logs/2025-11-27 09-36.log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DB128-2614-52C7-98C1-2F53D0C6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691" y="1811286"/>
            <a:ext cx="1409524" cy="3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590BA2-BC98-E220-1E17-D952B3BBFF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825" y="4686205"/>
            <a:ext cx="5613289" cy="190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0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9EE3B-252E-2BFA-DE30-1FB81B1C5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5A90E-5EE0-4127-1E41-72789DF2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963" y="171245"/>
            <a:ext cx="8483417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Rules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8A408-83BF-7D6C-5B5C-00805C64F110}"/>
              </a:ext>
            </a:extLst>
          </p:cNvPr>
          <p:cNvSpPr txBox="1"/>
          <p:nvPr/>
        </p:nvSpPr>
        <p:spPr>
          <a:xfrm>
            <a:off x="216963" y="790121"/>
            <a:ext cx="3695161" cy="475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📊 Account Simulation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Start Date                 | 01/01/2020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End Date (Early Exit)      | 10/28/2025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Initial Cash               | $ 1,000,000.00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Puts/Account           |             36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Puts/Stock             |              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Puts/Day               |              5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Wrapper Sweep +/- Step %   |        3.0000%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🧩 Entry Underlying Stock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5-Day Rise             |        -19.75%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Above Avg              |         -4.39%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Above Avg              |         41.00%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10-Day Avg Slope       |       -0.1010%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Stock Price            | $        27.96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7BC771-2D1E-E493-B614-13DAE464065C}"/>
              </a:ext>
            </a:extLst>
          </p:cNvPr>
          <p:cNvSpPr txBox="1"/>
          <p:nvPr/>
        </p:nvSpPr>
        <p:spPr>
          <a:xfrm>
            <a:off x="4319121" y="790121"/>
            <a:ext cx="3695161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📈 Entry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DTE                    |             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DTE                    |            260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Bid Price          | $       3.2517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Delta              |      -25.0000%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 Delta              |       -1.0000%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Bid-Ask Spread         |       55.4300%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Avg Above Strike       |       -3.4000%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Risk/Reward Ratio      |       -11.0250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Annual Risk            |       -15.3000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Rev Annual Risk        |        -8.0000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Expected Profit        |     -100.0000%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Risk/Reward Ratio  |            Yes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Annual Risk    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Rev Annual Risk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Expected Profit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06A09B-37B4-660B-7A0D-7094531442A2}"/>
              </a:ext>
            </a:extLst>
          </p:cNvPr>
          <p:cNvSpPr txBox="1"/>
          <p:nvPr/>
        </p:nvSpPr>
        <p:spPr>
          <a:xfrm>
            <a:off x="8336438" y="790121"/>
            <a:ext cx="3695161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📉 Exit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Position Stop Loss         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Below SMA150         |       17.8560%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Min Above Strike     |    -9999.0000%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Max Below Entry      |       26.6000%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Gain to Take Profit    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💰 Trading Parameters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Commission/Contract        | $       0.6700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Premium/Trade          | $   27777.7778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</p:spTree>
    <p:extLst>
      <p:ext uri="{BB962C8B-B14F-4D97-AF65-F5344CB8AC3E}">
        <p14:creationId xmlns:p14="http://schemas.microsoft.com/office/powerpoint/2010/main" val="18714392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EB94B-5E33-7AAE-9BDE-63FFD20E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01C2C-F98E-80A6-DAB9-8FAE6AF8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Results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942352-759A-D1EE-2D3D-2997EADAA49C}"/>
              </a:ext>
            </a:extLst>
          </p:cNvPr>
          <p:cNvSpPr txBox="1"/>
          <p:nvPr/>
        </p:nvSpPr>
        <p:spPr>
          <a:xfrm>
            <a:off x="422243" y="871103"/>
            <a:ext cx="11191580" cy="5659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--- YEARLY PORTFOLIO GAIN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Year    | Total Value EOD    |     $ Total Gain     |  % Gain | % SPY Gain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2020    | $   1,966,294.73   | $         966,294.73 |  96.63% |     17.24%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2021    | $   6,009,637.25   | $       4,043,342.52 | 205.63% |     28.73%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2022    | $  10,758,445.11   | $       4,748,807.86 |  79.02% |    -18.18%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2023    | $  16,548,662.91   | $       5,790,217.80 |  53.82% |     26.18%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2024    | $  22,516,679.16   | $       5,968,016.25 |  36.06% |     24.89%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2025    | $  47,549,839.11   | $      25,033,159.95 | 111.18% |     18.26%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(Years)                | $      46,549,839.11 | </a:t>
            </a: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--- TRADE EXIT STATISTICS (by Trade Event Count)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Exit Reason                          | Exit Events  |  % of Total | Total Gain $      | Net Gain 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(ITM/Assigned)            |            0 |       0.00% | $            0.00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(OTM/Max Profit)          |          160 |      57.14% | $   24,457,686.35 |     99.89%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Last day liquidation                 |           35 |      12.50% | $   19,618,100.30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Entry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Thres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... |           22 |       7.86% | $   -1,338,885.94 |     -5.68%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SMA150         |           63 |      22.50% | $    3,812,938.40 |     16.18%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Exit Trades Closed             |          280 |     100.00% | $   46,549,839.11 |        N/A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Entry Events                   |          280 |</a:t>
            </a:r>
          </a:p>
        </p:txBody>
      </p:sp>
    </p:spTree>
    <p:extLst>
      <p:ext uri="{BB962C8B-B14F-4D97-AF65-F5344CB8AC3E}">
        <p14:creationId xmlns:p14="http://schemas.microsoft.com/office/powerpoint/2010/main" val="617332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3217</TotalTime>
  <Words>3893</Words>
  <Application>Microsoft Office PowerPoint</Application>
  <PresentationFormat>Widescreen</PresentationFormat>
  <Paragraphs>422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Aptos Narrow</vt:lpstr>
      <vt:lpstr>Arial</vt:lpstr>
      <vt:lpstr>Consolas</vt:lpstr>
      <vt:lpstr>Wingdings</vt:lpstr>
      <vt:lpstr>Office Theme</vt:lpstr>
      <vt:lpstr>Option Trading</vt:lpstr>
      <vt:lpstr>ORATS Data</vt:lpstr>
      <vt:lpstr>ORATS Data is downloaded as Zip:</vt:lpstr>
      <vt:lpstr>ORATS Data Header (1 of 3)</vt:lpstr>
      <vt:lpstr>ORATS Data Header (2 of 3)</vt:lpstr>
      <vt:lpstr>ORATS Data Header (3 of 3)</vt:lpstr>
      <vt:lpstr>Etay’s notes</vt:lpstr>
      <vt:lpstr>ORATS  json</vt:lpstr>
      <vt:lpstr>Yahoo.py</vt:lpstr>
      <vt:lpstr>Stock_history.json</vt:lpstr>
      <vt:lpstr>rules.json</vt:lpstr>
      <vt:lpstr>rules.json</vt:lpstr>
      <vt:lpstr>simulate_yuda.py</vt:lpstr>
      <vt:lpstr>sim_wraper.py</vt:lpstr>
      <vt:lpstr>Summary.xlsm</vt:lpstr>
      <vt:lpstr>Log file: Rules</vt:lpstr>
      <vt:lpstr>Log file: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 Luz</dc:creator>
  <cp:lastModifiedBy>Yuda Luz</cp:lastModifiedBy>
  <cp:revision>33</cp:revision>
  <dcterms:created xsi:type="dcterms:W3CDTF">2025-11-24T20:05:00Z</dcterms:created>
  <dcterms:modified xsi:type="dcterms:W3CDTF">2025-11-30T20:58:45Z</dcterms:modified>
</cp:coreProperties>
</file>